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IBM Plex Mono Regular" panose="020B0509050203000203" pitchFamily="49" charset="0"/>
      <p:regular r:id="rId13"/>
    </p:embeddedFont>
    <p:embeddedFont>
      <p:font typeface="Public Sans Bold" pitchFamily="2" charset="0"/>
      <p:bold r:id="rId14"/>
    </p:embeddedFont>
    <p:embeddedFont>
      <p:font typeface="Public Sans Regular" pitchFamily="2" charset="0"/>
      <p:regular r:id="rId15"/>
    </p:embeddedFont>
    <p:embeddedFont>
      <p:font typeface="Public Sans SemiBold" pitchFamily="2" charset="0"/>
      <p:bold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711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Every one of us has stood outside a cabin waiting for one signature. PaperLess Campus replaces that paper chase: a student submits once, the right people sign on their phone, and anyone outside the campus can check the result is genuine. We are team budYweisers from VIT Pune: Shruti Dwivedi, Siddhesh Chaudhari and Shankar Jadhav.</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Meet Riya, second-year CSE. She is organising her department's tech fest and needs one permission letter. Day one: she fills and prints the form, then waits outside the faculty coordinator's cabin. He spots a wrong date, so she reprints and queues again, and misses a lecture. Day two: the HoD is away, come tomorrow. Day three: another queue at the Dean Student Affairs office, then the Security stamp. Four signatures, three days, two lectures missed, and at no point could anyone tell her where the form was. Many students chase around fifteen signatures like this every month; the exact count varies from college to college.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multiply Riya by India. AISHE 2023-24 counts 4.5 crore students in higher education; at about fifteen forms a year each, that is roughly 67 crore paper approvals, our estimate. The cost lands on everyone: students queue in class hours, faculty are interrupted, the admin office keeps physical files with no audit trail, and a remote or differently-abled student must still walk to every cabin. Compliance is getting stricter too: the DPDP Rules' core duties on consent, retention and breach records apply from May 2027. India already has the digital rails; the everyday campus approval is the missing last mile.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same request on PaperLess Campus. Riya picks Event permission and fills it in herself; if she wants, an optional AI helper points out a missing detail. The system sends it to the right roles, not names. Each approver signs with one tap on their phone. The final PDF is sealed with a fingerprint on a blockchain, and anyone can verify it by scanning the code. Three days becomes the same day, and the paper never exists.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whole system on one page. Students, approvers, the admin office and verifiers all use one web app built in Lovable. Behind it, an n8n workflow engine resolves each role to a person, runs the SLA timers, escalates and delegates. Supabase holds the data, logins, files and the audit log. When the last approver signs, the sign-and-seal step produces the signed PDF and its SHA-256 fingerprint, and only that fingerprint, with roles and timestamps, goes to the blockchain. AI is an optional helper on the side: it can suggest missing details or summarise a request, but people fill the forms and people decide. Everything is no-code, so a college IT cell can add a form or change an approval chain in minutes. It complements DigiLocker and college ERPs such as Samarth; it does not replace them.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tools we will use. Every layer is no-code or AI-prompted, with free tiers that cover a pilot. Lovable builds the web app from plain-English prompts; n8n runs routing, SLA timers and escalation; Supabase gives us the database, login and file storage. AI is optional help: Gemini or Claude inside n8n for completeness checks and summaries, and Sarvam for Hindi and Marathi. Signing starts with OTP and moves to Aadhaar eSign through a licensed provider. The blockchain is the Polygon Amoy testnet for the MVP. n8n and Postgres are open source, so a college is never locked in.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Routing works on roles, not names, so when a HoD changes nothing breaks. An event permission goes faculty coordinator, HoD, Dean Student Affairs, with Security in parallel. Every step has a 48-hour SLA: a nudge, then escalation, and a delegate when someone is on leave. People fill the forms and people decide. AI is an optional helper: it can suggest a missing detail, flag a missing attachment, or give the HoD a two-line summary.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why a recruiter in Bengaluru can trust a NOC from Pune without a phone call. When the last approver signs, we compute a SHA-256 fingerprint of the PDF and write only that fingerprint, the signer roles and timestamps to the chain. No names, no roll numbers. To verify, we re-hash the PDF the verifier holds. Change one character, here the request number, and the hash no longer matches. Legally, the IT Act gives recognised e-signatures the same validity as wet ink, Aadhaar eSign is a notified method, and the Bharatiya Sakshya Adhiniyam treats electronic records as admissible documents.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one university of ten thousand students we estimate one and a half lakh approvals a year moved off paper, about four and a half lakh sheets, over a lakh student-hours and eight thousand faculty-hours returned. That is at least 5.7 tonnes of CO2e and about 54 trees. Across Indian higher education: at least 25,400 tonnes and 2.4 lakh trees every year. Every multiplier is an assumption the pilot will measure.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earn each step with a measured result: an MVP, then one department for a semester with a paper fallback, then university-wide once turnaround is halved, then a network of colleges verifying each other's documents. The same engine works anywhere a request climbs a ladder of signatures, from government offices to hospitals. At fifty rupees per student a year, it costs about what a campus already spends printing these forms, and NAAC already counts e-governance. PaperLess Campus: campus approvals, signed in one tap and verifiable by anyone.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1874519"/>
            <a:ext cx="10820095" cy="914400"/>
          </a:xfrm>
          <a:prstGeom prst="rect">
            <a:avLst/>
          </a:prstGeom>
          <a:noFill/>
        </p:spPr>
        <p:txBody>
          <a:bodyPr wrap="square" lIns="0" tIns="0" rIns="0" bIns="0" anchor="t"/>
          <a:lstStyle/>
          <a:p>
            <a:pPr algn="l">
              <a:lnSpc>
                <a:spcPct val="100000"/>
              </a:lnSpc>
              <a:spcAft>
                <a:spcPts val="0"/>
              </a:spcAft>
            </a:pPr>
            <a:r>
              <a:rPr sz="5600">
                <a:solidFill>
                  <a:srgbClr val="101418"/>
                </a:solidFill>
                <a:latin typeface="Public Sans Bold"/>
                <a:ea typeface="Public Sans Bold"/>
                <a:cs typeface="Public Sans Bold"/>
              </a:rPr>
              <a:t>PaperLess Campus</a:t>
            </a:r>
          </a:p>
        </p:txBody>
      </p:sp>
      <p:sp>
        <p:nvSpPr>
          <p:cNvPr id="3" name="TextBox 2"/>
          <p:cNvSpPr txBox="1"/>
          <p:nvPr/>
        </p:nvSpPr>
        <p:spPr>
          <a:xfrm>
            <a:off x="685800" y="2834640"/>
            <a:ext cx="10820095" cy="457200"/>
          </a:xfrm>
          <a:prstGeom prst="rect">
            <a:avLst/>
          </a:prstGeom>
          <a:noFill/>
        </p:spPr>
        <p:txBody>
          <a:bodyPr wrap="square" lIns="0" tIns="0" rIns="0" bIns="0" anchor="t"/>
          <a:lstStyle/>
          <a:p>
            <a:pPr algn="l">
              <a:lnSpc>
                <a:spcPct val="110000"/>
              </a:lnSpc>
              <a:spcAft>
                <a:spcPts val="0"/>
              </a:spcAft>
            </a:pPr>
            <a:r>
              <a:rPr sz="2200">
                <a:solidFill>
                  <a:srgbClr val="5A6370"/>
                </a:solidFill>
                <a:latin typeface="Public Sans Regular"/>
                <a:ea typeface="Public Sans Regular"/>
                <a:cs typeface="Public Sans Regular"/>
              </a:rPr>
              <a:t>Campus approvals, signed in one tap and verifiable by anyone.</a:t>
            </a:r>
          </a:p>
        </p:txBody>
      </p:sp>
      <p:cxnSp>
        <p:nvCxnSpPr>
          <p:cNvPr id="4" name="Connector 3"/>
          <p:cNvCxnSpPr/>
          <p:nvPr/>
        </p:nvCxnSpPr>
        <p:spPr>
          <a:xfrm>
            <a:off x="685800" y="4114800"/>
            <a:ext cx="10820095" cy="0"/>
          </a:xfrm>
          <a:prstGeom prst="line">
            <a:avLst/>
          </a:prstGeom>
          <a:ln w="12700">
            <a:solidFill>
              <a:srgbClr val="101418"/>
            </a:solidFill>
          </a:ln>
        </p:spPr>
      </p:cxnSp>
      <p:sp>
        <p:nvSpPr>
          <p:cNvPr id="5" name="TextBox 4"/>
          <p:cNvSpPr txBox="1"/>
          <p:nvPr/>
        </p:nvSpPr>
        <p:spPr>
          <a:xfrm>
            <a:off x="685800" y="4279392"/>
            <a:ext cx="3017520"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Team</a:t>
            </a:r>
          </a:p>
        </p:txBody>
      </p:sp>
      <p:sp>
        <p:nvSpPr>
          <p:cNvPr id="6" name="TextBox 5"/>
          <p:cNvSpPr txBox="1"/>
          <p:nvPr/>
        </p:nvSpPr>
        <p:spPr>
          <a:xfrm>
            <a:off x="3977639" y="4279392"/>
            <a:ext cx="2377440"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College</a:t>
            </a:r>
          </a:p>
        </p:txBody>
      </p:sp>
      <p:cxnSp>
        <p:nvCxnSpPr>
          <p:cNvPr id="7" name="Connector 6"/>
          <p:cNvCxnSpPr/>
          <p:nvPr/>
        </p:nvCxnSpPr>
        <p:spPr>
          <a:xfrm>
            <a:off x="3703320" y="4279392"/>
            <a:ext cx="0" cy="1435608"/>
          </a:xfrm>
          <a:prstGeom prst="line">
            <a:avLst/>
          </a:prstGeom>
          <a:ln w="9525">
            <a:solidFill>
              <a:srgbClr val="E1E4E8"/>
            </a:solidFill>
          </a:ln>
        </p:spPr>
      </p:cxnSp>
      <p:sp>
        <p:nvSpPr>
          <p:cNvPr id="8" name="TextBox 7"/>
          <p:cNvSpPr txBox="1"/>
          <p:nvPr/>
        </p:nvSpPr>
        <p:spPr>
          <a:xfrm>
            <a:off x="6629400" y="4279392"/>
            <a:ext cx="4876495"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Members</a:t>
            </a:r>
          </a:p>
        </p:txBody>
      </p:sp>
      <p:cxnSp>
        <p:nvCxnSpPr>
          <p:cNvPr id="9" name="Connector 8"/>
          <p:cNvCxnSpPr/>
          <p:nvPr/>
        </p:nvCxnSpPr>
        <p:spPr>
          <a:xfrm>
            <a:off x="6355080" y="4279392"/>
            <a:ext cx="0" cy="1435608"/>
          </a:xfrm>
          <a:prstGeom prst="line">
            <a:avLst/>
          </a:prstGeom>
          <a:ln w="9525">
            <a:solidFill>
              <a:srgbClr val="E1E4E8"/>
            </a:solidFill>
          </a:ln>
        </p:spPr>
      </p:cxnSp>
      <p:sp>
        <p:nvSpPr>
          <p:cNvPr id="10" name="TextBox 9"/>
          <p:cNvSpPr txBox="1"/>
          <p:nvPr/>
        </p:nvSpPr>
        <p:spPr>
          <a:xfrm>
            <a:off x="685800" y="4572000"/>
            <a:ext cx="3017520" cy="502920"/>
          </a:xfrm>
          <a:prstGeom prst="rect">
            <a:avLst/>
          </a:prstGeom>
          <a:noFill/>
        </p:spPr>
        <p:txBody>
          <a:bodyPr wrap="square" lIns="0" tIns="0" rIns="0" bIns="0" anchor="t"/>
          <a:lstStyle/>
          <a:p>
            <a:pPr algn="l">
              <a:lnSpc>
                <a:spcPct val="100000"/>
              </a:lnSpc>
              <a:spcAft>
                <a:spcPts val="0"/>
              </a:spcAft>
            </a:pPr>
            <a:r>
              <a:rPr sz="2800">
                <a:solidFill>
                  <a:srgbClr val="1D4F91"/>
                </a:solidFill>
                <a:latin typeface="Public Sans Bold"/>
                <a:ea typeface="Public Sans Bold"/>
                <a:cs typeface="Public Sans Bold"/>
              </a:rPr>
              <a:t>budYweisers</a:t>
            </a:r>
          </a:p>
        </p:txBody>
      </p:sp>
      <p:sp>
        <p:nvSpPr>
          <p:cNvPr id="11" name="TextBox 10"/>
          <p:cNvSpPr txBox="1"/>
          <p:nvPr/>
        </p:nvSpPr>
        <p:spPr>
          <a:xfrm>
            <a:off x="3977639" y="4572000"/>
            <a:ext cx="2377440" cy="502920"/>
          </a:xfrm>
          <a:prstGeom prst="rect">
            <a:avLst/>
          </a:prstGeom>
          <a:noFill/>
        </p:spPr>
        <p:txBody>
          <a:bodyPr wrap="square" lIns="0" tIns="0" rIns="0" bIns="0" anchor="t"/>
          <a:lstStyle/>
          <a:p>
            <a:pPr algn="l">
              <a:lnSpc>
                <a:spcPct val="100000"/>
              </a:lnSpc>
              <a:spcAft>
                <a:spcPts val="0"/>
              </a:spcAft>
            </a:pPr>
            <a:r>
              <a:rPr sz="2800">
                <a:solidFill>
                  <a:srgbClr val="101418"/>
                </a:solidFill>
                <a:latin typeface="Public Sans Bold"/>
                <a:ea typeface="Public Sans Bold"/>
                <a:cs typeface="Public Sans Bold"/>
              </a:rPr>
              <a:t>VIT Pune</a:t>
            </a:r>
          </a:p>
        </p:txBody>
      </p:sp>
      <p:sp>
        <p:nvSpPr>
          <p:cNvPr id="12" name="TextBox 11"/>
          <p:cNvSpPr txBox="1"/>
          <p:nvPr/>
        </p:nvSpPr>
        <p:spPr>
          <a:xfrm>
            <a:off x="6629400" y="4572000"/>
            <a:ext cx="4876495" cy="365760"/>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SemiBold"/>
                <a:ea typeface="Public Sans SemiBold"/>
                <a:cs typeface="Public Sans SemiBold"/>
              </a:rPr>
              <a:t>Shruti Dwivedi</a:t>
            </a:r>
          </a:p>
        </p:txBody>
      </p:sp>
      <p:cxnSp>
        <p:nvCxnSpPr>
          <p:cNvPr id="13" name="Connector 12"/>
          <p:cNvCxnSpPr/>
          <p:nvPr/>
        </p:nvCxnSpPr>
        <p:spPr>
          <a:xfrm>
            <a:off x="6629400" y="4956048"/>
            <a:ext cx="4876495" cy="0"/>
          </a:xfrm>
          <a:prstGeom prst="line">
            <a:avLst/>
          </a:prstGeom>
          <a:ln w="9525">
            <a:solidFill>
              <a:srgbClr val="E1E4E8"/>
            </a:solidFill>
          </a:ln>
        </p:spPr>
      </p:cxnSp>
      <p:sp>
        <p:nvSpPr>
          <p:cNvPr id="14" name="TextBox 13"/>
          <p:cNvSpPr txBox="1"/>
          <p:nvPr/>
        </p:nvSpPr>
        <p:spPr>
          <a:xfrm>
            <a:off x="6629400" y="4956048"/>
            <a:ext cx="4876495" cy="365760"/>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SemiBold"/>
                <a:ea typeface="Public Sans SemiBold"/>
                <a:cs typeface="Public Sans SemiBold"/>
              </a:rPr>
              <a:t>Siddhesh Chaudhari</a:t>
            </a:r>
          </a:p>
        </p:txBody>
      </p:sp>
      <p:cxnSp>
        <p:nvCxnSpPr>
          <p:cNvPr id="15" name="Connector 14"/>
          <p:cNvCxnSpPr/>
          <p:nvPr/>
        </p:nvCxnSpPr>
        <p:spPr>
          <a:xfrm>
            <a:off x="6629400" y="5340096"/>
            <a:ext cx="4876495" cy="0"/>
          </a:xfrm>
          <a:prstGeom prst="line">
            <a:avLst/>
          </a:prstGeom>
          <a:ln w="9525">
            <a:solidFill>
              <a:srgbClr val="E1E4E8"/>
            </a:solidFill>
          </a:ln>
        </p:spPr>
      </p:cxnSp>
      <p:sp>
        <p:nvSpPr>
          <p:cNvPr id="16" name="TextBox 15"/>
          <p:cNvSpPr txBox="1"/>
          <p:nvPr/>
        </p:nvSpPr>
        <p:spPr>
          <a:xfrm>
            <a:off x="6629400" y="5340096"/>
            <a:ext cx="4876495" cy="365760"/>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SemiBold"/>
                <a:ea typeface="Public Sans SemiBold"/>
                <a:cs typeface="Public Sans SemiBold"/>
              </a:rPr>
              <a:t>Shankar Jadhav</a:t>
            </a:r>
          </a:p>
        </p:txBody>
      </p:sp>
      <p:cxnSp>
        <p:nvCxnSpPr>
          <p:cNvPr id="17" name="Connector 16"/>
          <p:cNvCxnSpPr/>
          <p:nvPr/>
        </p:nvCxnSpPr>
        <p:spPr>
          <a:xfrm>
            <a:off x="685800" y="5852160"/>
            <a:ext cx="10820095" cy="0"/>
          </a:xfrm>
          <a:prstGeom prst="line">
            <a:avLst/>
          </a:prstGeom>
          <a:ln w="9525">
            <a:solidFill>
              <a:srgbClr val="E1E4E8"/>
            </a:solidFill>
          </a:ln>
        </p:spPr>
      </p:cxnSp>
      <p:sp>
        <p:nvSpPr>
          <p:cNvPr id="18" name="TextBox 17"/>
          <p:cNvSpPr txBox="1"/>
          <p:nvPr/>
        </p:nvSpPr>
        <p:spPr>
          <a:xfrm>
            <a:off x="685800" y="6400800"/>
            <a:ext cx="7315200" cy="274320"/>
          </a:xfrm>
          <a:prstGeom prst="rect">
            <a:avLst/>
          </a:prstGeom>
          <a:noFill/>
        </p:spPr>
        <p:txBody>
          <a:bodyPr wrap="square" lIns="0" tIns="0" rIns="0" bIns="0" anchor="t"/>
          <a:lstStyle/>
          <a:p>
            <a:pPr algn="l">
              <a:lnSpc>
                <a:spcPct val="110000"/>
              </a:lnSpc>
              <a:spcAft>
                <a:spcPts val="0"/>
              </a:spcAft>
            </a:pPr>
            <a:r>
              <a:rPr sz="900">
                <a:solidFill>
                  <a:srgbClr val="6B7480"/>
                </a:solidFill>
                <a:latin typeface="Public Sans Regular"/>
                <a:ea typeface="Public Sans Regular"/>
                <a:cs typeface="Public Sans Regular"/>
              </a:rPr>
              <a:t>Idea submission  ·  No-code and AI Hackathon, MIT-WPU Pune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dr"/>
          <p:cNvSpPr txBox="1"/>
          <p:nvPr/>
        </p:nvSpPr>
        <p:spPr>
          <a:xfrm>
            <a:off x="685800" y="502920"/>
            <a:ext cx="10820095" cy="457200"/>
          </a:xfrm>
          <a:prstGeom prst="rect">
            <a:avLst/>
          </a:prstGeom>
          <a:noFill/>
        </p:spPr>
        <p:txBody>
          <a:bodyPr wrap="square" lIns="0" tIns="0" rIns="0" bIns="0" anchor="t"/>
          <a:lstStyle/>
          <a:p>
            <a:pPr algn="l">
              <a:lnSpc>
                <a:spcPct val="100000"/>
              </a:lnSpc>
              <a:spcAft>
                <a:spcPts val="0"/>
              </a:spcAft>
            </a:pPr>
            <a:r>
              <a:rPr sz="2800">
                <a:solidFill>
                  <a:srgbClr val="101418"/>
                </a:solidFill>
                <a:latin typeface="Public Sans Bold"/>
                <a:ea typeface="Public Sans Bold"/>
                <a:cs typeface="Public Sans Bold"/>
              </a:rPr>
              <a:t>Problem Statement</a:t>
            </a:r>
          </a:p>
        </p:txBody>
      </p:sp>
      <p:sp>
        <p:nvSpPr>
          <p:cNvPr id="3" name="hdr"/>
          <p:cNvSpPr txBox="1"/>
          <p:nvPr/>
        </p:nvSpPr>
        <p:spPr>
          <a:xfrm>
            <a:off x="685800" y="987552"/>
            <a:ext cx="10820095" cy="320040"/>
          </a:xfrm>
          <a:prstGeom prst="rect">
            <a:avLst/>
          </a:prstGeom>
          <a:noFill/>
        </p:spPr>
        <p:txBody>
          <a:bodyPr wrap="square" lIns="0" tIns="0" rIns="0" bIns="0" anchor="t"/>
          <a:lstStyle/>
          <a:p>
            <a:pPr algn="l">
              <a:lnSpc>
                <a:spcPct val="110000"/>
              </a:lnSpc>
              <a:spcAft>
                <a:spcPts val="0"/>
              </a:spcAft>
            </a:pPr>
            <a:r>
              <a:rPr sz="1800">
                <a:solidFill>
                  <a:srgbClr val="5A6370"/>
                </a:solidFill>
                <a:latin typeface="Public Sans Regular"/>
                <a:ea typeface="Public Sans Regular"/>
                <a:cs typeface="Public Sans Regular"/>
              </a:rPr>
              <a:t>One approval, four cabins, three days: Riya's permission letter for her tech fest.</a:t>
            </a:r>
          </a:p>
        </p:txBody>
      </p:sp>
      <p:cxnSp>
        <p:nvCxnSpPr>
          <p:cNvPr id="4" name="Connector 3"/>
          <p:cNvCxnSpPr/>
          <p:nvPr/>
        </p:nvCxnSpPr>
        <p:spPr>
          <a:xfrm>
            <a:off x="685800" y="2057400"/>
            <a:ext cx="2514600" cy="0"/>
          </a:xfrm>
          <a:prstGeom prst="line">
            <a:avLst/>
          </a:prstGeom>
          <a:ln w="12700">
            <a:solidFill>
              <a:srgbClr val="E1E4E8"/>
            </a:solidFill>
          </a:ln>
        </p:spPr>
      </p:cxnSp>
      <p:sp>
        <p:nvSpPr>
          <p:cNvPr id="5" name="TextBox 4"/>
          <p:cNvSpPr txBox="1"/>
          <p:nvPr/>
        </p:nvSpPr>
        <p:spPr>
          <a:xfrm>
            <a:off x="685800" y="1783080"/>
            <a:ext cx="2514600"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Day 1</a:t>
            </a:r>
          </a:p>
        </p:txBody>
      </p:sp>
      <p:cxnSp>
        <p:nvCxnSpPr>
          <p:cNvPr id="6" name="Connector 5"/>
          <p:cNvCxnSpPr/>
          <p:nvPr/>
        </p:nvCxnSpPr>
        <p:spPr>
          <a:xfrm>
            <a:off x="3977640" y="2057400"/>
            <a:ext cx="1005840" cy="0"/>
          </a:xfrm>
          <a:prstGeom prst="line">
            <a:avLst/>
          </a:prstGeom>
          <a:ln w="12700">
            <a:solidFill>
              <a:srgbClr val="E1E4E8"/>
            </a:solidFill>
          </a:ln>
        </p:spPr>
      </p:cxnSp>
      <p:sp>
        <p:nvSpPr>
          <p:cNvPr id="7" name="TextBox 6"/>
          <p:cNvSpPr txBox="1"/>
          <p:nvPr/>
        </p:nvSpPr>
        <p:spPr>
          <a:xfrm>
            <a:off x="3977640" y="1783080"/>
            <a:ext cx="1005839"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Day 2</a:t>
            </a:r>
          </a:p>
        </p:txBody>
      </p:sp>
      <p:cxnSp>
        <p:nvCxnSpPr>
          <p:cNvPr id="8" name="Connector 7"/>
          <p:cNvCxnSpPr/>
          <p:nvPr/>
        </p:nvCxnSpPr>
        <p:spPr>
          <a:xfrm>
            <a:off x="5760720" y="2057400"/>
            <a:ext cx="2468880" cy="0"/>
          </a:xfrm>
          <a:prstGeom prst="line">
            <a:avLst/>
          </a:prstGeom>
          <a:ln w="12700">
            <a:solidFill>
              <a:srgbClr val="E1E4E8"/>
            </a:solidFill>
          </a:ln>
        </p:spPr>
      </p:cxnSp>
      <p:sp>
        <p:nvSpPr>
          <p:cNvPr id="9" name="TextBox 8"/>
          <p:cNvSpPr txBox="1"/>
          <p:nvPr/>
        </p:nvSpPr>
        <p:spPr>
          <a:xfrm>
            <a:off x="5760720" y="1783080"/>
            <a:ext cx="2468880"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Day 3</a:t>
            </a:r>
          </a:p>
        </p:txBody>
      </p:sp>
      <p:cxnSp>
        <p:nvCxnSpPr>
          <p:cNvPr id="10" name="Connector 9"/>
          <p:cNvCxnSpPr/>
          <p:nvPr/>
        </p:nvCxnSpPr>
        <p:spPr>
          <a:xfrm>
            <a:off x="914400" y="2514600"/>
            <a:ext cx="7086600" cy="0"/>
          </a:xfrm>
          <a:prstGeom prst="line">
            <a:avLst/>
          </a:prstGeom>
          <a:ln w="19050">
            <a:solidFill>
              <a:srgbClr val="E1E4E8"/>
            </a:solidFill>
          </a:ln>
        </p:spPr>
      </p:cxnSp>
      <p:sp>
        <p:nvSpPr>
          <p:cNvPr id="11" name="Oval 10"/>
          <p:cNvSpPr/>
          <p:nvPr/>
        </p:nvSpPr>
        <p:spPr>
          <a:xfrm>
            <a:off x="795528" y="2395728"/>
            <a:ext cx="237744" cy="237744"/>
          </a:xfrm>
          <a:prstGeom prst="ellipse">
            <a:avLst/>
          </a:prstGeom>
          <a:solidFill>
            <a:srgbClr val="FFFFFF"/>
          </a:solidFill>
          <a:ln w="19050">
            <a:solidFill>
              <a:srgbClr val="101418"/>
            </a:solidFill>
          </a:ln>
          <a:effectLst/>
        </p:spPr>
        <p:txBody>
          <a:bodyPr rtlCol="0" anchor="ctr"/>
          <a:lstStyle/>
          <a:p>
            <a:endParaRPr/>
          </a:p>
        </p:txBody>
      </p:sp>
      <p:sp>
        <p:nvSpPr>
          <p:cNvPr id="12" name="TextBox 11"/>
          <p:cNvSpPr txBox="1"/>
          <p:nvPr/>
        </p:nvSpPr>
        <p:spPr>
          <a:xfrm>
            <a:off x="795528" y="2770632"/>
            <a:ext cx="1828800" cy="274320"/>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Riya</a:t>
            </a:r>
          </a:p>
        </p:txBody>
      </p:sp>
      <p:sp>
        <p:nvSpPr>
          <p:cNvPr id="13" name="TextBox 12"/>
          <p:cNvSpPr txBox="1"/>
          <p:nvPr/>
        </p:nvSpPr>
        <p:spPr>
          <a:xfrm>
            <a:off x="795528" y="3026664"/>
            <a:ext cx="1828800" cy="27432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prints the form</a:t>
            </a:r>
          </a:p>
        </p:txBody>
      </p:sp>
      <p:sp>
        <p:nvSpPr>
          <p:cNvPr id="14" name="Oval 13"/>
          <p:cNvSpPr/>
          <p:nvPr/>
        </p:nvSpPr>
        <p:spPr>
          <a:xfrm>
            <a:off x="2578608" y="2395728"/>
            <a:ext cx="237744" cy="237744"/>
          </a:xfrm>
          <a:prstGeom prst="ellipse">
            <a:avLst/>
          </a:prstGeom>
          <a:solidFill>
            <a:srgbClr val="FFFFFF"/>
          </a:solidFill>
          <a:ln w="19050">
            <a:solidFill>
              <a:srgbClr val="101418"/>
            </a:solidFill>
          </a:ln>
          <a:effectLst/>
        </p:spPr>
        <p:txBody>
          <a:bodyPr rtlCol="0" anchor="ctr"/>
          <a:lstStyle/>
          <a:p>
            <a:endParaRPr/>
          </a:p>
        </p:txBody>
      </p:sp>
      <p:sp>
        <p:nvSpPr>
          <p:cNvPr id="15" name="TextBox 14"/>
          <p:cNvSpPr txBox="1"/>
          <p:nvPr/>
        </p:nvSpPr>
        <p:spPr>
          <a:xfrm>
            <a:off x="1828800" y="2770632"/>
            <a:ext cx="1737360" cy="274320"/>
          </a:xfrm>
          <a:prstGeom prst="rect">
            <a:avLst/>
          </a:prstGeom>
          <a:noFill/>
        </p:spPr>
        <p:txBody>
          <a:bodyPr wrap="square" lIns="0" tIns="0" rIns="0" bIns="0" anchor="t"/>
          <a:lstStyle/>
          <a:p>
            <a:pPr algn="ctr">
              <a:lnSpc>
                <a:spcPct val="110000"/>
              </a:lnSpc>
              <a:spcAft>
                <a:spcPts val="0"/>
              </a:spcAft>
            </a:pPr>
            <a:r>
              <a:rPr sz="1200">
                <a:solidFill>
                  <a:srgbClr val="101418"/>
                </a:solidFill>
                <a:latin typeface="Public Sans SemiBold"/>
                <a:ea typeface="Public Sans SemiBold"/>
                <a:cs typeface="Public Sans SemiBold"/>
              </a:rPr>
              <a:t>Faculty coordinator</a:t>
            </a:r>
          </a:p>
        </p:txBody>
      </p:sp>
      <p:sp>
        <p:nvSpPr>
          <p:cNvPr id="16" name="TextBox 15"/>
          <p:cNvSpPr txBox="1"/>
          <p:nvPr/>
        </p:nvSpPr>
        <p:spPr>
          <a:xfrm>
            <a:off x="1828800" y="3026664"/>
            <a:ext cx="1737360" cy="274320"/>
          </a:xfrm>
          <a:prstGeom prst="rect">
            <a:avLst/>
          </a:prstGeom>
          <a:noFill/>
        </p:spPr>
        <p:txBody>
          <a:bodyPr wrap="square" lIns="0" tIns="0" rIns="0" bIns="0" anchor="t"/>
          <a:lstStyle/>
          <a:p>
            <a:pPr algn="ctr">
              <a:lnSpc>
                <a:spcPct val="110000"/>
              </a:lnSpc>
              <a:spcAft>
                <a:spcPts val="0"/>
              </a:spcAft>
            </a:pPr>
            <a:r>
              <a:rPr sz="1100">
                <a:solidFill>
                  <a:srgbClr val="B42318"/>
                </a:solidFill>
                <a:latin typeface="Public Sans Regular"/>
                <a:ea typeface="Public Sans Regular"/>
                <a:cs typeface="Public Sans Regular"/>
              </a:rPr>
              <a:t>queue; wrong date</a:t>
            </a:r>
          </a:p>
        </p:txBody>
      </p:sp>
      <p:sp>
        <p:nvSpPr>
          <p:cNvPr id="17" name="Oval 16"/>
          <p:cNvSpPr/>
          <p:nvPr/>
        </p:nvSpPr>
        <p:spPr>
          <a:xfrm>
            <a:off x="4361688" y="2395728"/>
            <a:ext cx="237744" cy="237744"/>
          </a:xfrm>
          <a:prstGeom prst="ellipse">
            <a:avLst/>
          </a:prstGeom>
          <a:solidFill>
            <a:srgbClr val="FFFFFF"/>
          </a:solidFill>
          <a:ln w="19050">
            <a:solidFill>
              <a:srgbClr val="101418"/>
            </a:solidFill>
          </a:ln>
          <a:effectLst/>
        </p:spPr>
        <p:txBody>
          <a:bodyPr rtlCol="0" anchor="ctr"/>
          <a:lstStyle/>
          <a:p>
            <a:endParaRPr/>
          </a:p>
        </p:txBody>
      </p:sp>
      <p:sp>
        <p:nvSpPr>
          <p:cNvPr id="18" name="TextBox 17"/>
          <p:cNvSpPr txBox="1"/>
          <p:nvPr/>
        </p:nvSpPr>
        <p:spPr>
          <a:xfrm>
            <a:off x="3611880" y="2770632"/>
            <a:ext cx="1737360" cy="274320"/>
          </a:xfrm>
          <a:prstGeom prst="rect">
            <a:avLst/>
          </a:prstGeom>
          <a:noFill/>
        </p:spPr>
        <p:txBody>
          <a:bodyPr wrap="square" lIns="0" tIns="0" rIns="0" bIns="0" anchor="t"/>
          <a:lstStyle/>
          <a:p>
            <a:pPr algn="ctr">
              <a:lnSpc>
                <a:spcPct val="110000"/>
              </a:lnSpc>
              <a:spcAft>
                <a:spcPts val="0"/>
              </a:spcAft>
            </a:pPr>
            <a:r>
              <a:rPr sz="1200">
                <a:solidFill>
                  <a:srgbClr val="101418"/>
                </a:solidFill>
                <a:latin typeface="Public Sans SemiBold"/>
                <a:ea typeface="Public Sans SemiBold"/>
                <a:cs typeface="Public Sans SemiBold"/>
              </a:rPr>
              <a:t>HoD</a:t>
            </a:r>
          </a:p>
        </p:txBody>
      </p:sp>
      <p:sp>
        <p:nvSpPr>
          <p:cNvPr id="19" name="TextBox 18"/>
          <p:cNvSpPr txBox="1"/>
          <p:nvPr/>
        </p:nvSpPr>
        <p:spPr>
          <a:xfrm>
            <a:off x="3611880" y="3026664"/>
            <a:ext cx="1737360" cy="274320"/>
          </a:xfrm>
          <a:prstGeom prst="rect">
            <a:avLst/>
          </a:prstGeom>
          <a:noFill/>
        </p:spPr>
        <p:txBody>
          <a:bodyPr wrap="square" lIns="0" tIns="0" rIns="0" bIns="0" anchor="t"/>
          <a:lstStyle/>
          <a:p>
            <a:pPr algn="ctr">
              <a:lnSpc>
                <a:spcPct val="110000"/>
              </a:lnSpc>
              <a:spcAft>
                <a:spcPts val="0"/>
              </a:spcAft>
            </a:pPr>
            <a:r>
              <a:rPr sz="1100">
                <a:solidFill>
                  <a:srgbClr val="B42318"/>
                </a:solidFill>
                <a:latin typeface="Public Sans Regular"/>
                <a:ea typeface="Public Sans Regular"/>
                <a:cs typeface="Public Sans Regular"/>
              </a:rPr>
              <a:t>away: come tomorrow</a:t>
            </a:r>
          </a:p>
        </p:txBody>
      </p:sp>
      <p:sp>
        <p:nvSpPr>
          <p:cNvPr id="20" name="Oval 19"/>
          <p:cNvSpPr/>
          <p:nvPr/>
        </p:nvSpPr>
        <p:spPr>
          <a:xfrm>
            <a:off x="6144768" y="2395728"/>
            <a:ext cx="237744" cy="237744"/>
          </a:xfrm>
          <a:prstGeom prst="ellipse">
            <a:avLst/>
          </a:prstGeom>
          <a:solidFill>
            <a:srgbClr val="FFFFFF"/>
          </a:solidFill>
          <a:ln w="19050">
            <a:solidFill>
              <a:srgbClr val="101418"/>
            </a:solidFill>
          </a:ln>
          <a:effectLst/>
        </p:spPr>
        <p:txBody>
          <a:bodyPr rtlCol="0" anchor="ctr"/>
          <a:lstStyle/>
          <a:p>
            <a:endParaRPr/>
          </a:p>
        </p:txBody>
      </p:sp>
      <p:sp>
        <p:nvSpPr>
          <p:cNvPr id="21" name="TextBox 20"/>
          <p:cNvSpPr txBox="1"/>
          <p:nvPr/>
        </p:nvSpPr>
        <p:spPr>
          <a:xfrm>
            <a:off x="5394959" y="2770632"/>
            <a:ext cx="1737360" cy="274320"/>
          </a:xfrm>
          <a:prstGeom prst="rect">
            <a:avLst/>
          </a:prstGeom>
          <a:noFill/>
        </p:spPr>
        <p:txBody>
          <a:bodyPr wrap="square" lIns="0" tIns="0" rIns="0" bIns="0" anchor="t"/>
          <a:lstStyle/>
          <a:p>
            <a:pPr algn="ctr">
              <a:lnSpc>
                <a:spcPct val="110000"/>
              </a:lnSpc>
              <a:spcAft>
                <a:spcPts val="0"/>
              </a:spcAft>
            </a:pPr>
            <a:r>
              <a:rPr sz="1200">
                <a:solidFill>
                  <a:srgbClr val="101418"/>
                </a:solidFill>
                <a:latin typeface="Public Sans SemiBold"/>
                <a:ea typeface="Public Sans SemiBold"/>
                <a:cs typeface="Public Sans SemiBold"/>
              </a:rPr>
              <a:t>Dean Student Affairs</a:t>
            </a:r>
          </a:p>
        </p:txBody>
      </p:sp>
      <p:sp>
        <p:nvSpPr>
          <p:cNvPr id="22" name="TextBox 21"/>
          <p:cNvSpPr txBox="1"/>
          <p:nvPr/>
        </p:nvSpPr>
        <p:spPr>
          <a:xfrm>
            <a:off x="5394959" y="3026664"/>
            <a:ext cx="1737360" cy="274320"/>
          </a:xfrm>
          <a:prstGeom prst="rect">
            <a:avLst/>
          </a:prstGeom>
          <a:noFill/>
        </p:spPr>
        <p:txBody>
          <a:bodyPr wrap="square" lIns="0" tIns="0" rIns="0" bIns="0" anchor="t"/>
          <a:lstStyle/>
          <a:p>
            <a:pPr algn="ctr">
              <a:lnSpc>
                <a:spcPct val="110000"/>
              </a:lnSpc>
              <a:spcAft>
                <a:spcPts val="0"/>
              </a:spcAft>
            </a:pPr>
            <a:r>
              <a:rPr sz="1100">
                <a:solidFill>
                  <a:srgbClr val="B42318"/>
                </a:solidFill>
                <a:latin typeface="Public Sans Regular"/>
                <a:ea typeface="Public Sans Regular"/>
                <a:cs typeface="Public Sans Regular"/>
              </a:rPr>
              <a:t>another queue</a:t>
            </a:r>
          </a:p>
        </p:txBody>
      </p:sp>
      <p:sp>
        <p:nvSpPr>
          <p:cNvPr id="23" name="Oval 22"/>
          <p:cNvSpPr/>
          <p:nvPr/>
        </p:nvSpPr>
        <p:spPr>
          <a:xfrm>
            <a:off x="7882127" y="2395728"/>
            <a:ext cx="237744" cy="237744"/>
          </a:xfrm>
          <a:prstGeom prst="ellipse">
            <a:avLst/>
          </a:prstGeom>
          <a:solidFill>
            <a:srgbClr val="FFFFFF"/>
          </a:solidFill>
          <a:ln w="19050">
            <a:solidFill>
              <a:srgbClr val="101418"/>
            </a:solidFill>
          </a:ln>
          <a:effectLst/>
        </p:spPr>
        <p:txBody>
          <a:bodyPr rtlCol="0" anchor="ctr"/>
          <a:lstStyle/>
          <a:p>
            <a:endParaRPr/>
          </a:p>
        </p:txBody>
      </p:sp>
      <p:sp>
        <p:nvSpPr>
          <p:cNvPr id="24" name="TextBox 23"/>
          <p:cNvSpPr txBox="1"/>
          <p:nvPr/>
        </p:nvSpPr>
        <p:spPr>
          <a:xfrm>
            <a:off x="6291072" y="2770632"/>
            <a:ext cx="1828800" cy="274320"/>
          </a:xfrm>
          <a:prstGeom prst="rect">
            <a:avLst/>
          </a:prstGeom>
          <a:noFill/>
        </p:spPr>
        <p:txBody>
          <a:bodyPr wrap="square" lIns="0" tIns="0" rIns="0" bIns="0" anchor="t"/>
          <a:lstStyle/>
          <a:p>
            <a:pPr algn="r">
              <a:lnSpc>
                <a:spcPct val="110000"/>
              </a:lnSpc>
              <a:spcAft>
                <a:spcPts val="0"/>
              </a:spcAft>
            </a:pPr>
            <a:r>
              <a:rPr sz="1200">
                <a:solidFill>
                  <a:srgbClr val="101418"/>
                </a:solidFill>
                <a:latin typeface="Public Sans SemiBold"/>
                <a:ea typeface="Public Sans SemiBold"/>
                <a:cs typeface="Public Sans SemiBold"/>
              </a:rPr>
              <a:t>Security</a:t>
            </a:r>
          </a:p>
        </p:txBody>
      </p:sp>
      <p:sp>
        <p:nvSpPr>
          <p:cNvPr id="25" name="TextBox 24"/>
          <p:cNvSpPr txBox="1"/>
          <p:nvPr/>
        </p:nvSpPr>
        <p:spPr>
          <a:xfrm>
            <a:off x="6291072" y="3026664"/>
            <a:ext cx="1828800" cy="274320"/>
          </a:xfrm>
          <a:prstGeom prst="rect">
            <a:avLst/>
          </a:prstGeom>
          <a:noFill/>
        </p:spPr>
        <p:txBody>
          <a:bodyPr wrap="square" lIns="0" tIns="0" rIns="0" bIns="0" anchor="t"/>
          <a:lstStyle/>
          <a:p>
            <a:pPr algn="r">
              <a:lnSpc>
                <a:spcPct val="110000"/>
              </a:lnSpc>
              <a:spcAft>
                <a:spcPts val="0"/>
              </a:spcAft>
            </a:pPr>
            <a:r>
              <a:rPr sz="1100">
                <a:solidFill>
                  <a:srgbClr val="5A6370"/>
                </a:solidFill>
                <a:latin typeface="Public Sans Regular"/>
                <a:ea typeface="Public Sans Regular"/>
                <a:cs typeface="Public Sans Regular"/>
              </a:rPr>
              <a:t>final stamp</a:t>
            </a:r>
          </a:p>
        </p:txBody>
      </p:sp>
      <p:sp>
        <p:nvSpPr>
          <p:cNvPr id="26" name="Oval 25"/>
          <p:cNvSpPr/>
          <p:nvPr/>
        </p:nvSpPr>
        <p:spPr>
          <a:xfrm>
            <a:off x="1668780" y="2377440"/>
            <a:ext cx="274320" cy="274320"/>
          </a:xfrm>
          <a:prstGeom prst="ellipse">
            <a:avLst/>
          </a:prstGeom>
          <a:solidFill>
            <a:srgbClr val="FFFFFF"/>
          </a:solidFill>
          <a:ln w="15875">
            <a:solidFill>
              <a:srgbClr val="B42318"/>
            </a:solidFill>
          </a:ln>
          <a:effectLst/>
        </p:spPr>
        <p:txBody>
          <a:bodyPr rtlCol="0" anchor="ctr"/>
          <a:lstStyle/>
          <a:p>
            <a:endParaRPr/>
          </a:p>
        </p:txBody>
      </p:sp>
      <p:cxnSp>
        <p:nvCxnSpPr>
          <p:cNvPr id="27" name="Connector 26"/>
          <p:cNvCxnSpPr/>
          <p:nvPr/>
        </p:nvCxnSpPr>
        <p:spPr>
          <a:xfrm flipV="1">
            <a:off x="1805940" y="2432304"/>
            <a:ext cx="0" cy="82296"/>
          </a:xfrm>
          <a:prstGeom prst="line">
            <a:avLst/>
          </a:prstGeom>
          <a:ln w="15875">
            <a:solidFill>
              <a:srgbClr val="B42318"/>
            </a:solidFill>
          </a:ln>
        </p:spPr>
      </p:cxnSp>
      <p:cxnSp>
        <p:nvCxnSpPr>
          <p:cNvPr id="28" name="Connector 27"/>
          <p:cNvCxnSpPr/>
          <p:nvPr/>
        </p:nvCxnSpPr>
        <p:spPr>
          <a:xfrm>
            <a:off x="1805940" y="2514600"/>
            <a:ext cx="64008" cy="0"/>
          </a:xfrm>
          <a:prstGeom prst="line">
            <a:avLst/>
          </a:prstGeom>
          <a:ln w="15875">
            <a:solidFill>
              <a:srgbClr val="B42318"/>
            </a:solidFill>
          </a:ln>
        </p:spPr>
      </p:cxnSp>
      <p:sp>
        <p:nvSpPr>
          <p:cNvPr id="29" name="Oval 28"/>
          <p:cNvSpPr/>
          <p:nvPr/>
        </p:nvSpPr>
        <p:spPr>
          <a:xfrm>
            <a:off x="3451860" y="2377440"/>
            <a:ext cx="274320" cy="274320"/>
          </a:xfrm>
          <a:prstGeom prst="ellipse">
            <a:avLst/>
          </a:prstGeom>
          <a:solidFill>
            <a:srgbClr val="FFFFFF"/>
          </a:solidFill>
          <a:ln w="15875">
            <a:solidFill>
              <a:srgbClr val="B42318"/>
            </a:solidFill>
          </a:ln>
          <a:effectLst/>
        </p:spPr>
        <p:txBody>
          <a:bodyPr rtlCol="0" anchor="ctr"/>
          <a:lstStyle/>
          <a:p>
            <a:endParaRPr/>
          </a:p>
        </p:txBody>
      </p:sp>
      <p:cxnSp>
        <p:nvCxnSpPr>
          <p:cNvPr id="30" name="Connector 29"/>
          <p:cNvCxnSpPr/>
          <p:nvPr/>
        </p:nvCxnSpPr>
        <p:spPr>
          <a:xfrm flipV="1">
            <a:off x="3589020" y="2432304"/>
            <a:ext cx="0" cy="82296"/>
          </a:xfrm>
          <a:prstGeom prst="line">
            <a:avLst/>
          </a:prstGeom>
          <a:ln w="15875">
            <a:solidFill>
              <a:srgbClr val="B42318"/>
            </a:solidFill>
          </a:ln>
        </p:spPr>
      </p:cxnSp>
      <p:cxnSp>
        <p:nvCxnSpPr>
          <p:cNvPr id="31" name="Connector 30"/>
          <p:cNvCxnSpPr/>
          <p:nvPr/>
        </p:nvCxnSpPr>
        <p:spPr>
          <a:xfrm>
            <a:off x="3589020" y="2514600"/>
            <a:ext cx="64008" cy="0"/>
          </a:xfrm>
          <a:prstGeom prst="line">
            <a:avLst/>
          </a:prstGeom>
          <a:ln w="15875">
            <a:solidFill>
              <a:srgbClr val="B42318"/>
            </a:solidFill>
          </a:ln>
        </p:spPr>
      </p:cxnSp>
      <p:sp>
        <p:nvSpPr>
          <p:cNvPr id="32" name="Oval 31"/>
          <p:cNvSpPr/>
          <p:nvPr/>
        </p:nvSpPr>
        <p:spPr>
          <a:xfrm>
            <a:off x="5234940" y="2377440"/>
            <a:ext cx="274320" cy="274320"/>
          </a:xfrm>
          <a:prstGeom prst="ellipse">
            <a:avLst/>
          </a:prstGeom>
          <a:solidFill>
            <a:srgbClr val="FFFFFF"/>
          </a:solidFill>
          <a:ln w="15875">
            <a:solidFill>
              <a:srgbClr val="B42318"/>
            </a:solidFill>
          </a:ln>
          <a:effectLst/>
        </p:spPr>
        <p:txBody>
          <a:bodyPr rtlCol="0" anchor="ctr"/>
          <a:lstStyle/>
          <a:p>
            <a:endParaRPr/>
          </a:p>
        </p:txBody>
      </p:sp>
      <p:cxnSp>
        <p:nvCxnSpPr>
          <p:cNvPr id="33" name="Connector 32"/>
          <p:cNvCxnSpPr/>
          <p:nvPr/>
        </p:nvCxnSpPr>
        <p:spPr>
          <a:xfrm flipV="1">
            <a:off x="5372100" y="2432304"/>
            <a:ext cx="0" cy="82296"/>
          </a:xfrm>
          <a:prstGeom prst="line">
            <a:avLst/>
          </a:prstGeom>
          <a:ln w="15875">
            <a:solidFill>
              <a:srgbClr val="B42318"/>
            </a:solidFill>
          </a:ln>
        </p:spPr>
      </p:cxnSp>
      <p:cxnSp>
        <p:nvCxnSpPr>
          <p:cNvPr id="34" name="Connector 33"/>
          <p:cNvCxnSpPr/>
          <p:nvPr/>
        </p:nvCxnSpPr>
        <p:spPr>
          <a:xfrm>
            <a:off x="5372100" y="2514600"/>
            <a:ext cx="64008" cy="0"/>
          </a:xfrm>
          <a:prstGeom prst="line">
            <a:avLst/>
          </a:prstGeom>
          <a:ln w="15875">
            <a:solidFill>
              <a:srgbClr val="B42318"/>
            </a:solidFill>
          </a:ln>
        </p:spPr>
      </p:cxnSp>
      <p:sp>
        <p:nvSpPr>
          <p:cNvPr id="35" name="Oval 34"/>
          <p:cNvSpPr/>
          <p:nvPr/>
        </p:nvSpPr>
        <p:spPr>
          <a:xfrm>
            <a:off x="6995159" y="2377440"/>
            <a:ext cx="274320" cy="274320"/>
          </a:xfrm>
          <a:prstGeom prst="ellipse">
            <a:avLst/>
          </a:prstGeom>
          <a:solidFill>
            <a:srgbClr val="FFFFFF"/>
          </a:solidFill>
          <a:ln w="15875">
            <a:solidFill>
              <a:srgbClr val="B42318"/>
            </a:solidFill>
          </a:ln>
          <a:effectLst/>
        </p:spPr>
        <p:txBody>
          <a:bodyPr rtlCol="0" anchor="ctr"/>
          <a:lstStyle/>
          <a:p>
            <a:endParaRPr/>
          </a:p>
        </p:txBody>
      </p:sp>
      <p:cxnSp>
        <p:nvCxnSpPr>
          <p:cNvPr id="36" name="Connector 35"/>
          <p:cNvCxnSpPr/>
          <p:nvPr/>
        </p:nvCxnSpPr>
        <p:spPr>
          <a:xfrm flipV="1">
            <a:off x="7132320" y="2432304"/>
            <a:ext cx="0" cy="82296"/>
          </a:xfrm>
          <a:prstGeom prst="line">
            <a:avLst/>
          </a:prstGeom>
          <a:ln w="15875">
            <a:solidFill>
              <a:srgbClr val="B42318"/>
            </a:solidFill>
          </a:ln>
        </p:spPr>
      </p:cxnSp>
      <p:cxnSp>
        <p:nvCxnSpPr>
          <p:cNvPr id="37" name="Connector 36"/>
          <p:cNvCxnSpPr/>
          <p:nvPr/>
        </p:nvCxnSpPr>
        <p:spPr>
          <a:xfrm>
            <a:off x="7132320" y="2514600"/>
            <a:ext cx="64008" cy="0"/>
          </a:xfrm>
          <a:prstGeom prst="line">
            <a:avLst/>
          </a:prstGeom>
          <a:ln w="15875">
            <a:solidFill>
              <a:srgbClr val="B42318"/>
            </a:solidFill>
          </a:ln>
        </p:spPr>
      </p:cxnSp>
      <p:sp>
        <p:nvSpPr>
          <p:cNvPr id="38" name="Freeform 37"/>
          <p:cNvSpPr/>
          <p:nvPr/>
        </p:nvSpPr>
        <p:spPr>
          <a:xfrm>
            <a:off x="914400" y="3383280"/>
            <a:ext cx="1783080" cy="246888"/>
          </a:xfrm>
          <a:custGeom>
            <a:avLst/>
            <a:gdLst/>
            <a:ahLst/>
            <a:cxnLst/>
            <a:rect l="l" t="t" r="r" b="b"/>
            <a:pathLst>
              <a:path w="1783080" h="246888">
                <a:moveTo>
                  <a:pt x="1783080" y="0"/>
                </a:moveTo>
                <a:lnTo>
                  <a:pt x="1783080" y="246888"/>
                </a:lnTo>
                <a:lnTo>
                  <a:pt x="0" y="246888"/>
                </a:lnTo>
                <a:lnTo>
                  <a:pt x="0" y="0"/>
                </a:lnTo>
              </a:path>
            </a:pathLst>
          </a:custGeom>
          <a:noFill/>
          <a:ln w="15875" cap="rnd">
            <a:solidFill>
              <a:srgbClr val="B42318"/>
            </a:solidFill>
            <a:prstDash val="dash"/>
            <a:round/>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51560" y="3694176"/>
            <a:ext cx="3291840" cy="274320"/>
          </a:xfrm>
          <a:prstGeom prst="rect">
            <a:avLst/>
          </a:prstGeom>
          <a:noFill/>
        </p:spPr>
        <p:txBody>
          <a:bodyPr wrap="square" lIns="0" tIns="0" rIns="0" bIns="0" anchor="t"/>
          <a:lstStyle/>
          <a:p>
            <a:pPr algn="l">
              <a:lnSpc>
                <a:spcPct val="110000"/>
              </a:lnSpc>
              <a:spcAft>
                <a:spcPts val="0"/>
              </a:spcAft>
            </a:pPr>
            <a:r>
              <a:rPr sz="1100">
                <a:solidFill>
                  <a:srgbClr val="B42318"/>
                </a:solidFill>
                <a:latin typeface="Public Sans Regular"/>
                <a:ea typeface="Public Sans Regular"/>
                <a:cs typeface="Public Sans Regular"/>
              </a:rPr>
              <a:t>Reprint, queue again, miss a lecture</a:t>
            </a:r>
          </a:p>
        </p:txBody>
      </p:sp>
      <p:cxnSp>
        <p:nvCxnSpPr>
          <p:cNvPr id="40" name="Connector 39"/>
          <p:cNvCxnSpPr/>
          <p:nvPr/>
        </p:nvCxnSpPr>
        <p:spPr>
          <a:xfrm>
            <a:off x="685800" y="4023359"/>
            <a:ext cx="7589520" cy="0"/>
          </a:xfrm>
          <a:prstGeom prst="line">
            <a:avLst/>
          </a:prstGeom>
          <a:ln w="9525">
            <a:solidFill>
              <a:srgbClr val="E1E4E8"/>
            </a:solidFill>
          </a:ln>
        </p:spPr>
      </p:cxnSp>
      <p:sp>
        <p:nvSpPr>
          <p:cNvPr id="41" name="TextBox 40"/>
          <p:cNvSpPr txBox="1"/>
          <p:nvPr/>
        </p:nvSpPr>
        <p:spPr>
          <a:xfrm>
            <a:off x="685800" y="4160520"/>
            <a:ext cx="1828800" cy="320040"/>
          </a:xfrm>
          <a:prstGeom prst="rect">
            <a:avLst/>
          </a:prstGeom>
          <a:noFill/>
        </p:spPr>
        <p:txBody>
          <a:bodyPr wrap="square" lIns="0" tIns="0" rIns="0" bIns="0" anchor="ctr"/>
          <a:lstStyle/>
          <a:p>
            <a:pPr algn="l">
              <a:lnSpc>
                <a:spcPct val="110000"/>
              </a:lnSpc>
              <a:spcAft>
                <a:spcPts val="0"/>
              </a:spcAft>
            </a:pPr>
            <a:r>
              <a:rPr sz="1800">
                <a:solidFill>
                  <a:srgbClr val="B42318"/>
                </a:solidFill>
                <a:latin typeface="Public Sans Bold"/>
                <a:ea typeface="Public Sans Bold"/>
                <a:cs typeface="Public Sans Bold"/>
              </a:rPr>
              <a:t>4</a:t>
            </a:r>
            <a:r>
              <a:rPr sz="1200">
                <a:solidFill>
                  <a:srgbClr val="5A6370"/>
                </a:solidFill>
                <a:latin typeface="Public Sans Regular"/>
                <a:ea typeface="Public Sans Regular"/>
                <a:cs typeface="Public Sans Regular"/>
              </a:rPr>
              <a:t>  signatures chased</a:t>
            </a:r>
          </a:p>
        </p:txBody>
      </p:sp>
      <p:sp>
        <p:nvSpPr>
          <p:cNvPr id="42" name="TextBox 41"/>
          <p:cNvSpPr txBox="1"/>
          <p:nvPr/>
        </p:nvSpPr>
        <p:spPr>
          <a:xfrm>
            <a:off x="2606040" y="4160520"/>
            <a:ext cx="1828800" cy="320040"/>
          </a:xfrm>
          <a:prstGeom prst="rect">
            <a:avLst/>
          </a:prstGeom>
          <a:noFill/>
        </p:spPr>
        <p:txBody>
          <a:bodyPr wrap="square" lIns="0" tIns="0" rIns="0" bIns="0" anchor="ctr"/>
          <a:lstStyle/>
          <a:p>
            <a:pPr algn="l">
              <a:lnSpc>
                <a:spcPct val="110000"/>
              </a:lnSpc>
              <a:spcAft>
                <a:spcPts val="0"/>
              </a:spcAft>
            </a:pPr>
            <a:r>
              <a:rPr sz="1800">
                <a:solidFill>
                  <a:srgbClr val="B42318"/>
                </a:solidFill>
                <a:latin typeface="Public Sans Bold"/>
                <a:ea typeface="Public Sans Bold"/>
                <a:cs typeface="Public Sans Bold"/>
              </a:rPr>
              <a:t>3</a:t>
            </a:r>
            <a:r>
              <a:rPr sz="1200">
                <a:solidFill>
                  <a:srgbClr val="5A6370"/>
                </a:solidFill>
                <a:latin typeface="Public Sans Regular"/>
                <a:ea typeface="Public Sans Regular"/>
                <a:cs typeface="Public Sans Regular"/>
              </a:rPr>
              <a:t>  days</a:t>
            </a:r>
          </a:p>
        </p:txBody>
      </p:sp>
      <p:sp>
        <p:nvSpPr>
          <p:cNvPr id="43" name="TextBox 42"/>
          <p:cNvSpPr txBox="1"/>
          <p:nvPr/>
        </p:nvSpPr>
        <p:spPr>
          <a:xfrm>
            <a:off x="4526280" y="4160520"/>
            <a:ext cx="1828800" cy="320040"/>
          </a:xfrm>
          <a:prstGeom prst="rect">
            <a:avLst/>
          </a:prstGeom>
          <a:noFill/>
        </p:spPr>
        <p:txBody>
          <a:bodyPr wrap="square" lIns="0" tIns="0" rIns="0" bIns="0" anchor="ctr"/>
          <a:lstStyle/>
          <a:p>
            <a:pPr algn="l">
              <a:lnSpc>
                <a:spcPct val="110000"/>
              </a:lnSpc>
              <a:spcAft>
                <a:spcPts val="0"/>
              </a:spcAft>
            </a:pPr>
            <a:r>
              <a:rPr sz="1800">
                <a:solidFill>
                  <a:srgbClr val="B42318"/>
                </a:solidFill>
                <a:latin typeface="Public Sans Bold"/>
                <a:ea typeface="Public Sans Bold"/>
                <a:cs typeface="Public Sans Bold"/>
              </a:rPr>
              <a:t>2</a:t>
            </a:r>
            <a:r>
              <a:rPr sz="1200">
                <a:solidFill>
                  <a:srgbClr val="5A6370"/>
                </a:solidFill>
                <a:latin typeface="Public Sans Regular"/>
                <a:ea typeface="Public Sans Regular"/>
                <a:cs typeface="Public Sans Regular"/>
              </a:rPr>
              <a:t>  lectures missed</a:t>
            </a:r>
          </a:p>
        </p:txBody>
      </p:sp>
      <p:sp>
        <p:nvSpPr>
          <p:cNvPr id="44" name="TextBox 43"/>
          <p:cNvSpPr txBox="1"/>
          <p:nvPr/>
        </p:nvSpPr>
        <p:spPr>
          <a:xfrm>
            <a:off x="6446520" y="4160520"/>
            <a:ext cx="1828800" cy="320040"/>
          </a:xfrm>
          <a:prstGeom prst="rect">
            <a:avLst/>
          </a:prstGeom>
          <a:noFill/>
        </p:spPr>
        <p:txBody>
          <a:bodyPr wrap="square" lIns="0" tIns="0" rIns="0" bIns="0" anchor="ctr"/>
          <a:lstStyle/>
          <a:p>
            <a:pPr algn="l">
              <a:lnSpc>
                <a:spcPct val="110000"/>
              </a:lnSpc>
              <a:spcAft>
                <a:spcPts val="0"/>
              </a:spcAft>
            </a:pPr>
            <a:r>
              <a:rPr sz="1800">
                <a:solidFill>
                  <a:srgbClr val="101418"/>
                </a:solidFill>
                <a:latin typeface="Public Sans Bold"/>
                <a:ea typeface="Public Sans Bold"/>
                <a:cs typeface="Public Sans Bold"/>
              </a:rPr>
              <a:t>0</a:t>
            </a:r>
            <a:r>
              <a:rPr sz="1200">
                <a:solidFill>
                  <a:srgbClr val="5A6370"/>
                </a:solidFill>
                <a:latin typeface="Public Sans Regular"/>
                <a:ea typeface="Public Sans Regular"/>
                <a:cs typeface="Public Sans Regular"/>
              </a:rPr>
              <a:t>  status updates</a:t>
            </a:r>
          </a:p>
        </p:txBody>
      </p:sp>
      <p:sp>
        <p:nvSpPr>
          <p:cNvPr id="45" name="TextBox 44"/>
          <p:cNvSpPr txBox="1"/>
          <p:nvPr/>
        </p:nvSpPr>
        <p:spPr>
          <a:xfrm>
            <a:off x="685800" y="4846320"/>
            <a:ext cx="7680960" cy="32004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Regular"/>
                <a:ea typeface="Public Sans Regular"/>
                <a:cs typeface="Public Sans Regular"/>
              </a:rPr>
              <a:t>Many students chase </a:t>
            </a:r>
            <a:r>
              <a:rPr sz="1400">
                <a:solidFill>
                  <a:srgbClr val="101418"/>
                </a:solidFill>
                <a:latin typeface="Public Sans SemiBold"/>
                <a:ea typeface="Public Sans SemiBold"/>
                <a:cs typeface="Public Sans SemiBold"/>
              </a:rPr>
              <a:t>~15 signatures a month</a:t>
            </a:r>
            <a:r>
              <a:rPr sz="1400">
                <a:solidFill>
                  <a:srgbClr val="101418"/>
                </a:solidFill>
                <a:latin typeface="Public Sans Regular"/>
                <a:ea typeface="Public Sans Regular"/>
                <a:cs typeface="Public Sans Regular"/>
              </a:rPr>
              <a:t>; it varies from college to college.</a:t>
            </a:r>
          </a:p>
        </p:txBody>
      </p:sp>
      <p:sp>
        <p:nvSpPr>
          <p:cNvPr id="46" name="Rectangle 45"/>
          <p:cNvSpPr/>
          <p:nvPr/>
        </p:nvSpPr>
        <p:spPr>
          <a:xfrm>
            <a:off x="8778240" y="1783080"/>
            <a:ext cx="2724912" cy="4069080"/>
          </a:xfrm>
          <a:prstGeom prst="rect">
            <a:avLst/>
          </a:prstGeom>
          <a:solidFill>
            <a:srgbClr val="F4F6F8"/>
          </a:solidFill>
          <a:ln>
            <a:noFill/>
          </a:ln>
          <a:effectLst/>
        </p:spPr>
        <p:txBody>
          <a:bodyPr rtlCol="0" anchor="ctr"/>
          <a:lstStyle/>
          <a:p>
            <a:endParaRPr/>
          </a:p>
        </p:txBody>
      </p:sp>
      <p:sp>
        <p:nvSpPr>
          <p:cNvPr id="47" name="Rectangle 46"/>
          <p:cNvSpPr/>
          <p:nvPr/>
        </p:nvSpPr>
        <p:spPr>
          <a:xfrm>
            <a:off x="8942832" y="1947672"/>
            <a:ext cx="2395728" cy="3739896"/>
          </a:xfrm>
          <a:prstGeom prst="rect">
            <a:avLst/>
          </a:prstGeom>
          <a:solidFill>
            <a:srgbClr val="FFFFFF"/>
          </a:solidFill>
          <a:ln w="12700">
            <a:solidFill>
              <a:srgbClr val="E1E4E8"/>
            </a:solidFill>
          </a:ln>
          <a:effectLst/>
        </p:spPr>
        <p:txBody>
          <a:bodyPr rtlCol="0" anchor="ctr"/>
          <a:lstStyle/>
          <a:p>
            <a:endParaRPr/>
          </a:p>
        </p:txBody>
      </p:sp>
      <p:sp>
        <p:nvSpPr>
          <p:cNvPr id="48" name="TextBox 47"/>
          <p:cNvSpPr txBox="1"/>
          <p:nvPr/>
        </p:nvSpPr>
        <p:spPr>
          <a:xfrm>
            <a:off x="9144000" y="2103120"/>
            <a:ext cx="1993391" cy="201168"/>
          </a:xfrm>
          <a:prstGeom prst="rect">
            <a:avLst/>
          </a:prstGeom>
          <a:noFill/>
        </p:spPr>
        <p:txBody>
          <a:bodyPr wrap="square" lIns="0" tIns="0" rIns="0" bIns="0" anchor="t"/>
          <a:lstStyle/>
          <a:p>
            <a:pPr algn="l">
              <a:lnSpc>
                <a:spcPct val="110000"/>
              </a:lnSpc>
              <a:spcAft>
                <a:spcPts val="0"/>
              </a:spcAft>
            </a:pPr>
            <a:r>
              <a:rPr sz="900">
                <a:solidFill>
                  <a:srgbClr val="6B7480"/>
                </a:solidFill>
                <a:latin typeface="IBM Plex Mono Regular"/>
                <a:ea typeface="IBM Plex Mono Regular"/>
                <a:cs typeface="IBM Plex Mono Regular"/>
              </a:rPr>
              <a:t>EVENT PERMISSION FORM</a:t>
            </a:r>
          </a:p>
        </p:txBody>
      </p:sp>
      <p:sp>
        <p:nvSpPr>
          <p:cNvPr id="49" name="Rectangle 48"/>
          <p:cNvSpPr/>
          <p:nvPr/>
        </p:nvSpPr>
        <p:spPr>
          <a:xfrm>
            <a:off x="9144000" y="2350008"/>
            <a:ext cx="1188720" cy="54864"/>
          </a:xfrm>
          <a:prstGeom prst="rect">
            <a:avLst/>
          </a:prstGeom>
          <a:solidFill>
            <a:srgbClr val="101418"/>
          </a:solidFill>
          <a:ln>
            <a:noFill/>
          </a:ln>
          <a:effectLst/>
        </p:spPr>
        <p:txBody>
          <a:bodyPr rtlCol="0" anchor="ctr"/>
          <a:lstStyle/>
          <a:p>
            <a:endParaRPr/>
          </a:p>
        </p:txBody>
      </p:sp>
      <p:sp>
        <p:nvSpPr>
          <p:cNvPr id="50" name="TextBox 49"/>
          <p:cNvSpPr txBox="1"/>
          <p:nvPr/>
        </p:nvSpPr>
        <p:spPr>
          <a:xfrm>
            <a:off x="9144000" y="2606040"/>
            <a:ext cx="640080" cy="228600"/>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Regular"/>
                <a:ea typeface="Public Sans Regular"/>
                <a:cs typeface="Public Sans Regular"/>
              </a:rPr>
              <a:t>Event</a:t>
            </a:r>
          </a:p>
        </p:txBody>
      </p:sp>
      <p:cxnSp>
        <p:nvCxnSpPr>
          <p:cNvPr id="51" name="Connector 50"/>
          <p:cNvCxnSpPr/>
          <p:nvPr/>
        </p:nvCxnSpPr>
        <p:spPr>
          <a:xfrm>
            <a:off x="9802368" y="2825496"/>
            <a:ext cx="1335024" cy="0"/>
          </a:xfrm>
          <a:prstGeom prst="line">
            <a:avLst/>
          </a:prstGeom>
          <a:ln w="9525">
            <a:solidFill>
              <a:srgbClr val="E1E4E8"/>
            </a:solidFill>
          </a:ln>
        </p:spPr>
      </p:cxnSp>
      <p:sp>
        <p:nvSpPr>
          <p:cNvPr id="52" name="TextBox 51"/>
          <p:cNvSpPr txBox="1"/>
          <p:nvPr/>
        </p:nvSpPr>
        <p:spPr>
          <a:xfrm>
            <a:off x="9857232" y="2596896"/>
            <a:ext cx="822960" cy="228600"/>
          </a:xfrm>
          <a:prstGeom prst="rect">
            <a:avLst/>
          </a:prstGeom>
          <a:noFill/>
        </p:spPr>
        <p:txBody>
          <a:bodyPr wrap="square" lIns="0" tIns="0" rIns="0" bIns="0" anchor="t"/>
          <a:lstStyle/>
          <a:p>
            <a:pPr algn="l">
              <a:lnSpc>
                <a:spcPct val="110000"/>
              </a:lnSpc>
              <a:spcAft>
                <a:spcPts val="0"/>
              </a:spcAft>
            </a:pPr>
            <a:r>
              <a:rPr sz="900">
                <a:solidFill>
                  <a:srgbClr val="101418"/>
                </a:solidFill>
                <a:latin typeface="Public Sans SemiBold"/>
                <a:ea typeface="Public Sans SemiBold"/>
                <a:cs typeface="Public Sans SemiBold"/>
              </a:rPr>
              <a:t>Tech fest</a:t>
            </a:r>
          </a:p>
        </p:txBody>
      </p:sp>
      <p:sp>
        <p:nvSpPr>
          <p:cNvPr id="53" name="TextBox 52"/>
          <p:cNvSpPr txBox="1"/>
          <p:nvPr/>
        </p:nvSpPr>
        <p:spPr>
          <a:xfrm>
            <a:off x="9144000" y="2953512"/>
            <a:ext cx="640080" cy="228600"/>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Regular"/>
                <a:ea typeface="Public Sans Regular"/>
                <a:cs typeface="Public Sans Regular"/>
              </a:rPr>
              <a:t>Date</a:t>
            </a:r>
          </a:p>
        </p:txBody>
      </p:sp>
      <p:cxnSp>
        <p:nvCxnSpPr>
          <p:cNvPr id="54" name="Connector 53"/>
          <p:cNvCxnSpPr/>
          <p:nvPr/>
        </p:nvCxnSpPr>
        <p:spPr>
          <a:xfrm>
            <a:off x="9802368" y="3172968"/>
            <a:ext cx="1335024" cy="0"/>
          </a:xfrm>
          <a:prstGeom prst="line">
            <a:avLst/>
          </a:prstGeom>
          <a:ln w="9525">
            <a:solidFill>
              <a:srgbClr val="E1E4E8"/>
            </a:solidFill>
          </a:ln>
        </p:spPr>
      </p:cxnSp>
      <p:sp>
        <p:nvSpPr>
          <p:cNvPr id="55" name="TextBox 54"/>
          <p:cNvSpPr txBox="1"/>
          <p:nvPr/>
        </p:nvSpPr>
        <p:spPr>
          <a:xfrm>
            <a:off x="9857232" y="2944368"/>
            <a:ext cx="822960" cy="228600"/>
          </a:xfrm>
          <a:prstGeom prst="rect">
            <a:avLst/>
          </a:prstGeom>
          <a:noFill/>
        </p:spPr>
        <p:txBody>
          <a:bodyPr wrap="square" lIns="0" tIns="0" rIns="0" bIns="0" anchor="t"/>
          <a:lstStyle/>
          <a:p>
            <a:pPr algn="l">
              <a:lnSpc>
                <a:spcPct val="110000"/>
              </a:lnSpc>
              <a:spcAft>
                <a:spcPts val="0"/>
              </a:spcAft>
            </a:pPr>
            <a:r>
              <a:rPr sz="900">
                <a:solidFill>
                  <a:srgbClr val="101418"/>
                </a:solidFill>
                <a:latin typeface="Public Sans SemiBold"/>
                <a:ea typeface="Public Sans SemiBold"/>
                <a:cs typeface="Public Sans SemiBold"/>
              </a:rPr>
              <a:t>4 Nov</a:t>
            </a:r>
          </a:p>
        </p:txBody>
      </p:sp>
      <p:cxnSp>
        <p:nvCxnSpPr>
          <p:cNvPr id="56" name="Connector 55"/>
          <p:cNvCxnSpPr/>
          <p:nvPr/>
        </p:nvCxnSpPr>
        <p:spPr>
          <a:xfrm>
            <a:off x="9838944" y="3017520"/>
            <a:ext cx="420624" cy="0"/>
          </a:xfrm>
          <a:prstGeom prst="line">
            <a:avLst/>
          </a:prstGeom>
          <a:ln w="15875">
            <a:solidFill>
              <a:srgbClr val="B42318"/>
            </a:solidFill>
          </a:ln>
        </p:spPr>
      </p:cxnSp>
      <p:sp>
        <p:nvSpPr>
          <p:cNvPr id="57" name="TextBox 56"/>
          <p:cNvSpPr txBox="1"/>
          <p:nvPr/>
        </p:nvSpPr>
        <p:spPr>
          <a:xfrm>
            <a:off x="10332720" y="2953512"/>
            <a:ext cx="804671" cy="228600"/>
          </a:xfrm>
          <a:prstGeom prst="rect">
            <a:avLst/>
          </a:prstGeom>
          <a:noFill/>
        </p:spPr>
        <p:txBody>
          <a:bodyPr wrap="square" lIns="0" tIns="0" rIns="0" bIns="0" anchor="t"/>
          <a:lstStyle/>
          <a:p>
            <a:pPr algn="l">
              <a:lnSpc>
                <a:spcPct val="110000"/>
              </a:lnSpc>
              <a:spcAft>
                <a:spcPts val="0"/>
              </a:spcAft>
            </a:pPr>
            <a:r>
              <a:rPr sz="900">
                <a:solidFill>
                  <a:srgbClr val="B42318"/>
                </a:solidFill>
                <a:latin typeface="Public Sans SemiBold"/>
                <a:ea typeface="Public Sans SemiBold"/>
                <a:cs typeface="Public Sans SemiBold"/>
              </a:rPr>
              <a:t>wrong date</a:t>
            </a:r>
          </a:p>
        </p:txBody>
      </p:sp>
      <p:sp>
        <p:nvSpPr>
          <p:cNvPr id="58" name="TextBox 57"/>
          <p:cNvSpPr txBox="1"/>
          <p:nvPr/>
        </p:nvSpPr>
        <p:spPr>
          <a:xfrm>
            <a:off x="9144000" y="3300984"/>
            <a:ext cx="640080" cy="228600"/>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Regular"/>
                <a:ea typeface="Public Sans Regular"/>
                <a:cs typeface="Public Sans Regular"/>
              </a:rPr>
              <a:t>Venue</a:t>
            </a:r>
          </a:p>
        </p:txBody>
      </p:sp>
      <p:cxnSp>
        <p:nvCxnSpPr>
          <p:cNvPr id="59" name="Connector 58"/>
          <p:cNvCxnSpPr/>
          <p:nvPr/>
        </p:nvCxnSpPr>
        <p:spPr>
          <a:xfrm>
            <a:off x="9802368" y="3520440"/>
            <a:ext cx="1335024" cy="0"/>
          </a:xfrm>
          <a:prstGeom prst="line">
            <a:avLst/>
          </a:prstGeom>
          <a:ln w="9525">
            <a:solidFill>
              <a:srgbClr val="E1E4E8"/>
            </a:solidFill>
          </a:ln>
        </p:spPr>
      </p:cxnSp>
      <p:sp>
        <p:nvSpPr>
          <p:cNvPr id="60" name="TextBox 59"/>
          <p:cNvSpPr txBox="1"/>
          <p:nvPr/>
        </p:nvSpPr>
        <p:spPr>
          <a:xfrm>
            <a:off x="9857232" y="3291840"/>
            <a:ext cx="822960" cy="228600"/>
          </a:xfrm>
          <a:prstGeom prst="rect">
            <a:avLst/>
          </a:prstGeom>
          <a:noFill/>
        </p:spPr>
        <p:txBody>
          <a:bodyPr wrap="square" lIns="0" tIns="0" rIns="0" bIns="0" anchor="t"/>
          <a:lstStyle/>
          <a:p>
            <a:pPr algn="l">
              <a:lnSpc>
                <a:spcPct val="110000"/>
              </a:lnSpc>
              <a:spcAft>
                <a:spcPts val="0"/>
              </a:spcAft>
            </a:pPr>
            <a:r>
              <a:rPr sz="900">
                <a:solidFill>
                  <a:srgbClr val="101418"/>
                </a:solidFill>
                <a:latin typeface="Public Sans SemiBold"/>
                <a:ea typeface="Public Sans SemiBold"/>
                <a:cs typeface="Public Sans SemiBold"/>
              </a:rPr>
              <a:t>Hall B</a:t>
            </a:r>
          </a:p>
        </p:txBody>
      </p:sp>
      <p:sp>
        <p:nvSpPr>
          <p:cNvPr id="61" name="TextBox 60"/>
          <p:cNvSpPr txBox="1"/>
          <p:nvPr/>
        </p:nvSpPr>
        <p:spPr>
          <a:xfrm>
            <a:off x="9144000" y="3648456"/>
            <a:ext cx="640080" cy="228600"/>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Regular"/>
                <a:ea typeface="Public Sans Regular"/>
                <a:cs typeface="Public Sans Regular"/>
              </a:rPr>
              <a:t>Purpose</a:t>
            </a:r>
          </a:p>
        </p:txBody>
      </p:sp>
      <p:cxnSp>
        <p:nvCxnSpPr>
          <p:cNvPr id="62" name="Connector 61"/>
          <p:cNvCxnSpPr/>
          <p:nvPr/>
        </p:nvCxnSpPr>
        <p:spPr>
          <a:xfrm>
            <a:off x="9802368" y="3867912"/>
            <a:ext cx="1335024" cy="0"/>
          </a:xfrm>
          <a:prstGeom prst="line">
            <a:avLst/>
          </a:prstGeom>
          <a:ln w="9525">
            <a:solidFill>
              <a:srgbClr val="E1E4E8"/>
            </a:solidFill>
          </a:ln>
        </p:spPr>
      </p:cxnSp>
      <p:sp>
        <p:nvSpPr>
          <p:cNvPr id="63" name="TextBox 62"/>
          <p:cNvSpPr txBox="1"/>
          <p:nvPr/>
        </p:nvSpPr>
        <p:spPr>
          <a:xfrm>
            <a:off x="9144000" y="4069080"/>
            <a:ext cx="1993391" cy="201168"/>
          </a:xfrm>
          <a:prstGeom prst="rect">
            <a:avLst/>
          </a:prstGeom>
          <a:noFill/>
        </p:spPr>
        <p:txBody>
          <a:bodyPr wrap="square" lIns="0" tIns="0" rIns="0" bIns="0" anchor="t"/>
          <a:lstStyle/>
          <a:p>
            <a:pPr algn="l">
              <a:lnSpc>
                <a:spcPct val="110000"/>
              </a:lnSpc>
              <a:spcAft>
                <a:spcPts val="0"/>
              </a:spcAft>
            </a:pPr>
            <a:r>
              <a:rPr sz="900">
                <a:solidFill>
                  <a:srgbClr val="6B7480"/>
                </a:solidFill>
                <a:latin typeface="IBM Plex Mono Regular"/>
                <a:ea typeface="IBM Plex Mono Regular"/>
                <a:cs typeface="IBM Plex Mono Regular"/>
              </a:rPr>
              <a:t>SIGNATURES</a:t>
            </a:r>
          </a:p>
        </p:txBody>
      </p:sp>
      <p:sp>
        <p:nvSpPr>
          <p:cNvPr id="64" name="Rectangle 63"/>
          <p:cNvSpPr/>
          <p:nvPr/>
        </p:nvSpPr>
        <p:spPr>
          <a:xfrm>
            <a:off x="9144000" y="4315968"/>
            <a:ext cx="941831" cy="603504"/>
          </a:xfrm>
          <a:prstGeom prst="rect">
            <a:avLst/>
          </a:prstGeom>
          <a:solidFill>
            <a:srgbClr val="FFFFFF"/>
          </a:solidFill>
          <a:ln w="9525">
            <a:solidFill>
              <a:srgbClr val="E1E4E8"/>
            </a:solidFill>
          </a:ln>
          <a:effectLst/>
        </p:spPr>
        <p:txBody>
          <a:bodyPr rtlCol="0" anchor="ctr"/>
          <a:lstStyle/>
          <a:p>
            <a:endParaRPr/>
          </a:p>
        </p:txBody>
      </p:sp>
      <p:sp>
        <p:nvSpPr>
          <p:cNvPr id="65" name="TextBox 64"/>
          <p:cNvSpPr txBox="1"/>
          <p:nvPr/>
        </p:nvSpPr>
        <p:spPr>
          <a:xfrm>
            <a:off x="9208008" y="4700016"/>
            <a:ext cx="850391" cy="201168"/>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Regular"/>
                <a:ea typeface="Public Sans Regular"/>
                <a:cs typeface="Public Sans Regular"/>
              </a:rPr>
              <a:t>Faculty coord.</a:t>
            </a:r>
          </a:p>
        </p:txBody>
      </p:sp>
      <p:sp>
        <p:nvSpPr>
          <p:cNvPr id="66" name="Freeform 65"/>
          <p:cNvSpPr/>
          <p:nvPr/>
        </p:nvSpPr>
        <p:spPr>
          <a:xfrm>
            <a:off x="9253728" y="4443984"/>
            <a:ext cx="621792" cy="201168"/>
          </a:xfrm>
          <a:custGeom>
            <a:avLst/>
            <a:gdLst/>
            <a:ahLst/>
            <a:cxnLst/>
            <a:rect l="l" t="t" r="r" b="b"/>
            <a:pathLst>
              <a:path w="621792" h="201168">
                <a:moveTo>
                  <a:pt x="0" y="201168"/>
                </a:moveTo>
                <a:lnTo>
                  <a:pt x="137160" y="18288"/>
                </a:lnTo>
                <a:lnTo>
                  <a:pt x="219456" y="201168"/>
                </a:lnTo>
                <a:lnTo>
                  <a:pt x="347472" y="0"/>
                </a:lnTo>
                <a:lnTo>
                  <a:pt x="438912" y="182880"/>
                </a:lnTo>
                <a:lnTo>
                  <a:pt x="621792" y="73152"/>
                </a:lnTo>
              </a:path>
            </a:pathLst>
          </a:custGeom>
          <a:noFill/>
          <a:ln w="15875" cap="rnd">
            <a:solidFill>
              <a:srgbClr val="101418"/>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0195560" y="4315968"/>
            <a:ext cx="941831" cy="603504"/>
          </a:xfrm>
          <a:prstGeom prst="rect">
            <a:avLst/>
          </a:prstGeom>
          <a:solidFill>
            <a:srgbClr val="FFFFFF"/>
          </a:solidFill>
          <a:ln w="9525">
            <a:solidFill>
              <a:srgbClr val="E1E4E8"/>
            </a:solidFill>
          </a:ln>
          <a:effectLst/>
        </p:spPr>
        <p:txBody>
          <a:bodyPr rtlCol="0" anchor="ctr"/>
          <a:lstStyle/>
          <a:p>
            <a:endParaRPr/>
          </a:p>
        </p:txBody>
      </p:sp>
      <p:sp>
        <p:nvSpPr>
          <p:cNvPr id="68" name="TextBox 67"/>
          <p:cNvSpPr txBox="1"/>
          <p:nvPr/>
        </p:nvSpPr>
        <p:spPr>
          <a:xfrm>
            <a:off x="10259568" y="4700016"/>
            <a:ext cx="850391" cy="201168"/>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Regular"/>
                <a:ea typeface="Public Sans Regular"/>
                <a:cs typeface="Public Sans Regular"/>
              </a:rPr>
              <a:t>HoD</a:t>
            </a:r>
          </a:p>
        </p:txBody>
      </p:sp>
      <p:sp>
        <p:nvSpPr>
          <p:cNvPr id="69" name="TextBox 68"/>
          <p:cNvSpPr txBox="1"/>
          <p:nvPr/>
        </p:nvSpPr>
        <p:spPr>
          <a:xfrm>
            <a:off x="10259568" y="4425696"/>
            <a:ext cx="850391" cy="228600"/>
          </a:xfrm>
          <a:prstGeom prst="rect">
            <a:avLst/>
          </a:prstGeom>
          <a:noFill/>
        </p:spPr>
        <p:txBody>
          <a:bodyPr wrap="square" lIns="0" tIns="0" rIns="0" bIns="0" anchor="t"/>
          <a:lstStyle/>
          <a:p>
            <a:pPr algn="l">
              <a:lnSpc>
                <a:spcPct val="110000"/>
              </a:lnSpc>
              <a:spcAft>
                <a:spcPts val="0"/>
              </a:spcAft>
            </a:pPr>
            <a:r>
              <a:rPr sz="900">
                <a:solidFill>
                  <a:srgbClr val="B42318"/>
                </a:solidFill>
                <a:latin typeface="Public Sans SemiBold"/>
                <a:ea typeface="Public Sans SemiBold"/>
                <a:cs typeface="Public Sans SemiBold"/>
              </a:rPr>
              <a:t>come tomorrow</a:t>
            </a:r>
          </a:p>
        </p:txBody>
      </p:sp>
      <p:sp>
        <p:nvSpPr>
          <p:cNvPr id="70" name="Rectangle 69"/>
          <p:cNvSpPr/>
          <p:nvPr/>
        </p:nvSpPr>
        <p:spPr>
          <a:xfrm>
            <a:off x="9144000" y="5010912"/>
            <a:ext cx="941831" cy="603504"/>
          </a:xfrm>
          <a:prstGeom prst="rect">
            <a:avLst/>
          </a:prstGeom>
          <a:solidFill>
            <a:srgbClr val="FFFFFF"/>
          </a:solidFill>
          <a:ln w="9525">
            <a:solidFill>
              <a:srgbClr val="E1E4E8"/>
            </a:solidFill>
          </a:ln>
          <a:effectLst/>
        </p:spPr>
        <p:txBody>
          <a:bodyPr rtlCol="0" anchor="ctr"/>
          <a:lstStyle/>
          <a:p>
            <a:endParaRPr/>
          </a:p>
        </p:txBody>
      </p:sp>
      <p:sp>
        <p:nvSpPr>
          <p:cNvPr id="71" name="TextBox 70"/>
          <p:cNvSpPr txBox="1"/>
          <p:nvPr/>
        </p:nvSpPr>
        <p:spPr>
          <a:xfrm>
            <a:off x="9208008" y="5394960"/>
            <a:ext cx="850391" cy="201168"/>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Regular"/>
                <a:ea typeface="Public Sans Regular"/>
                <a:cs typeface="Public Sans Regular"/>
              </a:rPr>
              <a:t>Dean SA</a:t>
            </a:r>
          </a:p>
        </p:txBody>
      </p:sp>
      <p:sp>
        <p:nvSpPr>
          <p:cNvPr id="72" name="Rectangle 71"/>
          <p:cNvSpPr/>
          <p:nvPr/>
        </p:nvSpPr>
        <p:spPr>
          <a:xfrm>
            <a:off x="10195560" y="5010912"/>
            <a:ext cx="941831" cy="603504"/>
          </a:xfrm>
          <a:prstGeom prst="rect">
            <a:avLst/>
          </a:prstGeom>
          <a:solidFill>
            <a:srgbClr val="FFFFFF"/>
          </a:solidFill>
          <a:ln w="9525">
            <a:solidFill>
              <a:srgbClr val="E1E4E8"/>
            </a:solidFill>
          </a:ln>
          <a:effectLst/>
        </p:spPr>
        <p:txBody>
          <a:bodyPr rtlCol="0" anchor="ctr"/>
          <a:lstStyle/>
          <a:p>
            <a:endParaRPr/>
          </a:p>
        </p:txBody>
      </p:sp>
      <p:sp>
        <p:nvSpPr>
          <p:cNvPr id="73" name="TextBox 72"/>
          <p:cNvSpPr txBox="1"/>
          <p:nvPr/>
        </p:nvSpPr>
        <p:spPr>
          <a:xfrm>
            <a:off x="10259568" y="5394960"/>
            <a:ext cx="850391" cy="201168"/>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Regular"/>
                <a:ea typeface="Public Sans Regular"/>
                <a:cs typeface="Public Sans Regular"/>
              </a:rPr>
              <a:t>Security</a:t>
            </a:r>
          </a:p>
        </p:txBody>
      </p:sp>
      <p:sp>
        <p:nvSpPr>
          <p:cNvPr id="74" name="Rectangle 73"/>
          <p:cNvSpPr/>
          <p:nvPr/>
        </p:nvSpPr>
        <p:spPr>
          <a:xfrm rot="21120000">
            <a:off x="10085832" y="3584448"/>
            <a:ext cx="960120" cy="310896"/>
          </a:xfrm>
          <a:prstGeom prst="rect">
            <a:avLst/>
          </a:prstGeom>
          <a:solidFill>
            <a:srgbClr val="FFFFFF"/>
          </a:solidFill>
          <a:ln w="19050">
            <a:solidFill>
              <a:srgbClr val="B42318"/>
            </a:solidFill>
          </a:ln>
          <a:effectLst/>
        </p:spPr>
        <p:txBody>
          <a:bodyPr lIns="0" tIns="0" rIns="0" bIns="0" rtlCol="0" anchor="ctr"/>
          <a:lstStyle/>
          <a:p>
            <a:pPr algn="ctr"/>
            <a:r>
              <a:rPr sz="1100">
                <a:solidFill>
                  <a:srgbClr val="B42318"/>
                </a:solidFill>
                <a:latin typeface="IBM Plex Mono Regular"/>
              </a:rPr>
              <a:t>REPRINT</a:t>
            </a:r>
          </a:p>
        </p:txBody>
      </p:sp>
      <p:sp>
        <p:nvSpPr>
          <p:cNvPr id="75" name="TextBox 74"/>
          <p:cNvSpPr txBox="1"/>
          <p:nvPr/>
        </p:nvSpPr>
        <p:spPr>
          <a:xfrm>
            <a:off x="8778240" y="5925312"/>
            <a:ext cx="2724912" cy="228600"/>
          </a:xfrm>
          <a:prstGeom prst="rect">
            <a:avLst/>
          </a:prstGeom>
          <a:noFill/>
        </p:spPr>
        <p:txBody>
          <a:bodyPr wrap="square" lIns="0" tIns="0" rIns="0" bIns="0" anchor="t"/>
          <a:lstStyle/>
          <a:p>
            <a:pPr algn="ctr">
              <a:lnSpc>
                <a:spcPct val="110000"/>
              </a:lnSpc>
              <a:spcAft>
                <a:spcPts val="0"/>
              </a:spcAft>
            </a:pPr>
            <a:r>
              <a:rPr sz="1100">
                <a:solidFill>
                  <a:srgbClr val="6B7480"/>
                </a:solidFill>
                <a:latin typeface="Public Sans Regular"/>
                <a:ea typeface="Public Sans Regular"/>
                <a:cs typeface="Public Sans Regular"/>
              </a:rPr>
              <a:t>The paper form Riya carries</a:t>
            </a:r>
          </a:p>
        </p:txBody>
      </p:sp>
      <p:sp>
        <p:nvSpPr>
          <p:cNvPr id="76" name="ftr"/>
          <p:cNvSpPr txBox="1"/>
          <p:nvPr/>
        </p:nvSpPr>
        <p:spPr>
          <a:xfrm>
            <a:off x="685800" y="6400800"/>
            <a:ext cx="9722815" cy="274320"/>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SemiBold"/>
                <a:ea typeface="Public Sans SemiBold"/>
                <a:cs typeface="Public Sans SemiBold"/>
              </a:rPr>
              <a:t>Research references: </a:t>
            </a:r>
            <a:r>
              <a:rPr sz="900">
                <a:solidFill>
                  <a:srgbClr val="6B7480"/>
                </a:solidFill>
                <a:latin typeface="Public Sans Regular"/>
                <a:ea typeface="Public Sans Regular"/>
                <a:cs typeface="Public Sans Regular"/>
              </a:rPr>
              <a:t>Riya's journey: a typical event-permission chain on our campus. ~15 signatures a month: team estimate that varies by college, to be measured in a 50-student survey.</a:t>
            </a:r>
          </a:p>
        </p:txBody>
      </p:sp>
      <p:sp>
        <p:nvSpPr>
          <p:cNvPr id="77" name="ftr"/>
          <p:cNvSpPr txBox="1"/>
          <p:nvPr/>
        </p:nvSpPr>
        <p:spPr>
          <a:xfrm>
            <a:off x="10591495" y="6400800"/>
            <a:ext cx="914400" cy="274320"/>
          </a:xfrm>
          <a:prstGeom prst="rect">
            <a:avLst/>
          </a:prstGeom>
          <a:noFill/>
        </p:spPr>
        <p:txBody>
          <a:bodyPr wrap="square" lIns="0" tIns="0" rIns="0" bIns="0" anchor="t"/>
          <a:lstStyle/>
          <a:p>
            <a:pPr algn="r">
              <a:lnSpc>
                <a:spcPct val="110000"/>
              </a:lnSpc>
              <a:spcAft>
                <a:spcPts val="0"/>
              </a:spcAft>
            </a:pPr>
            <a:r>
              <a:rPr sz="900">
                <a:solidFill>
                  <a:srgbClr val="6B7480"/>
                </a:solidFill>
                <a:latin typeface="Public Sans Regular"/>
                <a:ea typeface="Public Sans Regular"/>
                <a:cs typeface="Public Sans Regular"/>
              </a:rP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dr"/>
          <p:cNvSpPr txBox="1"/>
          <p:nvPr/>
        </p:nvSpPr>
        <p:spPr>
          <a:xfrm>
            <a:off x="685800" y="502920"/>
            <a:ext cx="10820095" cy="457200"/>
          </a:xfrm>
          <a:prstGeom prst="rect">
            <a:avLst/>
          </a:prstGeom>
          <a:noFill/>
        </p:spPr>
        <p:txBody>
          <a:bodyPr wrap="square" lIns="0" tIns="0" rIns="0" bIns="0" anchor="t"/>
          <a:lstStyle/>
          <a:p>
            <a:pPr algn="l">
              <a:lnSpc>
                <a:spcPct val="100000"/>
              </a:lnSpc>
              <a:spcAft>
                <a:spcPts val="0"/>
              </a:spcAft>
            </a:pPr>
            <a:r>
              <a:rPr sz="2800">
                <a:solidFill>
                  <a:srgbClr val="101418"/>
                </a:solidFill>
                <a:latin typeface="Public Sans Bold"/>
                <a:ea typeface="Public Sans Bold"/>
                <a:cs typeface="Public Sans Bold"/>
              </a:rPr>
              <a:t>Scale of the Problem</a:t>
            </a:r>
          </a:p>
        </p:txBody>
      </p:sp>
      <p:sp>
        <p:nvSpPr>
          <p:cNvPr id="3" name="hdr"/>
          <p:cNvSpPr txBox="1"/>
          <p:nvPr/>
        </p:nvSpPr>
        <p:spPr>
          <a:xfrm>
            <a:off x="685800" y="987552"/>
            <a:ext cx="10820095" cy="320040"/>
          </a:xfrm>
          <a:prstGeom prst="rect">
            <a:avLst/>
          </a:prstGeom>
          <a:noFill/>
        </p:spPr>
        <p:txBody>
          <a:bodyPr wrap="square" lIns="0" tIns="0" rIns="0" bIns="0" anchor="t"/>
          <a:lstStyle/>
          <a:p>
            <a:pPr algn="l">
              <a:lnSpc>
                <a:spcPct val="110000"/>
              </a:lnSpc>
              <a:spcAft>
                <a:spcPts val="0"/>
              </a:spcAft>
            </a:pPr>
            <a:r>
              <a:rPr sz="1800">
                <a:solidFill>
                  <a:srgbClr val="5A6370"/>
                </a:solidFill>
                <a:latin typeface="Public Sans Regular"/>
                <a:ea typeface="Public Sans Regular"/>
                <a:cs typeface="Public Sans Regular"/>
              </a:rPr>
              <a:t>Manual approvals cost everyone time and leave institutions without an audit trail.</a:t>
            </a:r>
          </a:p>
        </p:txBody>
      </p:sp>
      <p:sp>
        <p:nvSpPr>
          <p:cNvPr id="4" name="TextBox 3"/>
          <p:cNvSpPr txBox="1"/>
          <p:nvPr/>
        </p:nvSpPr>
        <p:spPr>
          <a:xfrm>
            <a:off x="685800" y="1783080"/>
            <a:ext cx="3240938" cy="891540"/>
          </a:xfrm>
          <a:prstGeom prst="rect">
            <a:avLst/>
          </a:prstGeom>
          <a:noFill/>
        </p:spPr>
        <p:txBody>
          <a:bodyPr wrap="square" lIns="0" tIns="0" rIns="0" bIns="0" anchor="t"/>
          <a:lstStyle/>
          <a:p>
            <a:pPr algn="l">
              <a:lnSpc>
                <a:spcPct val="100000"/>
              </a:lnSpc>
              <a:spcAft>
                <a:spcPts val="0"/>
              </a:spcAft>
            </a:pPr>
            <a:r>
              <a:rPr sz="4000">
                <a:solidFill>
                  <a:srgbClr val="101418"/>
                </a:solidFill>
                <a:latin typeface="Public Sans Bold"/>
                <a:ea typeface="Public Sans Bold"/>
                <a:cs typeface="Public Sans Bold"/>
              </a:rPr>
              <a:t>4.50</a:t>
            </a:r>
            <a:r>
              <a:rPr sz="2200">
                <a:solidFill>
                  <a:srgbClr val="101418"/>
                </a:solidFill>
                <a:latin typeface="Public Sans SemiBold"/>
                <a:ea typeface="Public Sans SemiBold"/>
                <a:cs typeface="Public Sans SemiBold"/>
              </a:rPr>
              <a:t> crore</a:t>
            </a:r>
          </a:p>
        </p:txBody>
      </p:sp>
      <p:sp>
        <p:nvSpPr>
          <p:cNvPr id="5" name="TextBox 4"/>
          <p:cNvSpPr txBox="1"/>
          <p:nvPr/>
        </p:nvSpPr>
        <p:spPr>
          <a:xfrm>
            <a:off x="685800" y="2496312"/>
            <a:ext cx="3240938"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students in Indian higher education</a:t>
            </a:r>
          </a:p>
        </p:txBody>
      </p:sp>
      <p:sp>
        <p:nvSpPr>
          <p:cNvPr id="6" name="TextBox 5"/>
          <p:cNvSpPr txBox="1"/>
          <p:nvPr/>
        </p:nvSpPr>
        <p:spPr>
          <a:xfrm>
            <a:off x="685800" y="2770632"/>
            <a:ext cx="3240938" cy="27432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1,289 universities · 48,246 colleges</a:t>
            </a:r>
          </a:p>
        </p:txBody>
      </p:sp>
      <p:cxnSp>
        <p:nvCxnSpPr>
          <p:cNvPr id="7" name="Connector 6"/>
          <p:cNvCxnSpPr/>
          <p:nvPr/>
        </p:nvCxnSpPr>
        <p:spPr>
          <a:xfrm>
            <a:off x="4292498" y="1874520"/>
            <a:ext cx="0" cy="1234440"/>
          </a:xfrm>
          <a:prstGeom prst="line">
            <a:avLst/>
          </a:prstGeom>
          <a:ln w="9525">
            <a:solidFill>
              <a:srgbClr val="E1E4E8"/>
            </a:solidFill>
          </a:ln>
        </p:spPr>
      </p:cxnSp>
      <p:sp>
        <p:nvSpPr>
          <p:cNvPr id="8" name="TextBox 7"/>
          <p:cNvSpPr txBox="1"/>
          <p:nvPr/>
        </p:nvSpPr>
        <p:spPr>
          <a:xfrm>
            <a:off x="4612538" y="1783080"/>
            <a:ext cx="3240938" cy="891540"/>
          </a:xfrm>
          <a:prstGeom prst="rect">
            <a:avLst/>
          </a:prstGeom>
          <a:noFill/>
        </p:spPr>
        <p:txBody>
          <a:bodyPr wrap="square" lIns="0" tIns="0" rIns="0" bIns="0" anchor="t"/>
          <a:lstStyle/>
          <a:p>
            <a:pPr algn="l">
              <a:lnSpc>
                <a:spcPct val="100000"/>
              </a:lnSpc>
              <a:spcAft>
                <a:spcPts val="0"/>
              </a:spcAft>
            </a:pPr>
            <a:r>
              <a:rPr sz="4000">
                <a:solidFill>
                  <a:srgbClr val="101418"/>
                </a:solidFill>
                <a:latin typeface="Public Sans Bold"/>
                <a:ea typeface="Public Sans Bold"/>
                <a:cs typeface="Public Sans Bold"/>
              </a:rPr>
              <a:t>~67</a:t>
            </a:r>
            <a:r>
              <a:rPr sz="2200">
                <a:solidFill>
                  <a:srgbClr val="101418"/>
                </a:solidFill>
                <a:latin typeface="Public Sans SemiBold"/>
                <a:ea typeface="Public Sans SemiBold"/>
                <a:cs typeface="Public Sans SemiBold"/>
              </a:rPr>
              <a:t> crore</a:t>
            </a:r>
          </a:p>
        </p:txBody>
      </p:sp>
      <p:sp>
        <p:nvSpPr>
          <p:cNvPr id="9" name="TextBox 8"/>
          <p:cNvSpPr txBox="1"/>
          <p:nvPr/>
        </p:nvSpPr>
        <p:spPr>
          <a:xfrm>
            <a:off x="4612538" y="2496312"/>
            <a:ext cx="3240938"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paper approvals a year (est.)</a:t>
            </a:r>
          </a:p>
        </p:txBody>
      </p:sp>
      <p:sp>
        <p:nvSpPr>
          <p:cNvPr id="10" name="TextBox 9"/>
          <p:cNvSpPr txBox="1"/>
          <p:nvPr/>
        </p:nvSpPr>
        <p:spPr>
          <a:xfrm>
            <a:off x="4612538" y="2770632"/>
            <a:ext cx="3240938" cy="27432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~15 forms per student; ~200 crore sheets</a:t>
            </a:r>
          </a:p>
        </p:txBody>
      </p:sp>
      <p:cxnSp>
        <p:nvCxnSpPr>
          <p:cNvPr id="11" name="Connector 10"/>
          <p:cNvCxnSpPr/>
          <p:nvPr/>
        </p:nvCxnSpPr>
        <p:spPr>
          <a:xfrm>
            <a:off x="7899196" y="1874520"/>
            <a:ext cx="0" cy="1234440"/>
          </a:xfrm>
          <a:prstGeom prst="line">
            <a:avLst/>
          </a:prstGeom>
          <a:ln w="9525">
            <a:solidFill>
              <a:srgbClr val="E1E4E8"/>
            </a:solidFill>
          </a:ln>
        </p:spPr>
      </p:cxnSp>
      <p:sp>
        <p:nvSpPr>
          <p:cNvPr id="12" name="TextBox 11"/>
          <p:cNvSpPr txBox="1"/>
          <p:nvPr/>
        </p:nvSpPr>
        <p:spPr>
          <a:xfrm>
            <a:off x="8219236" y="1783080"/>
            <a:ext cx="3240938" cy="891540"/>
          </a:xfrm>
          <a:prstGeom prst="rect">
            <a:avLst/>
          </a:prstGeom>
          <a:noFill/>
        </p:spPr>
        <p:txBody>
          <a:bodyPr wrap="square" lIns="0" tIns="0" rIns="0" bIns="0" anchor="t"/>
          <a:lstStyle/>
          <a:p>
            <a:pPr algn="l">
              <a:lnSpc>
                <a:spcPct val="100000"/>
              </a:lnSpc>
              <a:spcAft>
                <a:spcPts val="0"/>
              </a:spcAft>
            </a:pPr>
            <a:r>
              <a:rPr sz="4000">
                <a:solidFill>
                  <a:srgbClr val="1D4F91"/>
                </a:solidFill>
                <a:latin typeface="Public Sans Bold"/>
                <a:ea typeface="Public Sans Bold"/>
                <a:cs typeface="Public Sans Bold"/>
              </a:rPr>
              <a:t>May</a:t>
            </a:r>
            <a:r>
              <a:rPr sz="2200">
                <a:solidFill>
                  <a:srgbClr val="1D4F91"/>
                </a:solidFill>
                <a:latin typeface="Public Sans SemiBold"/>
                <a:ea typeface="Public Sans SemiBold"/>
                <a:cs typeface="Public Sans SemiBold"/>
              </a:rPr>
              <a:t> 2027</a:t>
            </a:r>
          </a:p>
        </p:txBody>
      </p:sp>
      <p:sp>
        <p:nvSpPr>
          <p:cNvPr id="13" name="TextBox 12"/>
          <p:cNvSpPr txBox="1"/>
          <p:nvPr/>
        </p:nvSpPr>
        <p:spPr>
          <a:xfrm>
            <a:off x="8219236" y="2496312"/>
            <a:ext cx="3240938"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DPDP Rules' core duties apply</a:t>
            </a:r>
          </a:p>
        </p:txBody>
      </p:sp>
      <p:sp>
        <p:nvSpPr>
          <p:cNvPr id="14" name="TextBox 13"/>
          <p:cNvSpPr txBox="1"/>
          <p:nvPr/>
        </p:nvSpPr>
        <p:spPr>
          <a:xfrm>
            <a:off x="8219236" y="2770632"/>
            <a:ext cx="3240938" cy="27432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consent, retention and breach records</a:t>
            </a:r>
          </a:p>
        </p:txBody>
      </p:sp>
      <p:sp>
        <p:nvSpPr>
          <p:cNvPr id="15" name="TextBox 14"/>
          <p:cNvSpPr txBox="1"/>
          <p:nvPr/>
        </p:nvSpPr>
        <p:spPr>
          <a:xfrm>
            <a:off x="685800" y="3383280"/>
            <a:ext cx="7315200"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Who carries the manual load today</a:t>
            </a:r>
          </a:p>
        </p:txBody>
      </p:sp>
      <p:cxnSp>
        <p:nvCxnSpPr>
          <p:cNvPr id="16" name="Connector 15"/>
          <p:cNvCxnSpPr/>
          <p:nvPr/>
        </p:nvCxnSpPr>
        <p:spPr>
          <a:xfrm>
            <a:off x="685800" y="3730752"/>
            <a:ext cx="10820095" cy="0"/>
          </a:xfrm>
          <a:prstGeom prst="line">
            <a:avLst/>
          </a:prstGeom>
          <a:ln w="9525">
            <a:solidFill>
              <a:srgbClr val="E1E4E8"/>
            </a:solidFill>
          </a:ln>
        </p:spPr>
      </p:cxnSp>
      <p:sp>
        <p:nvSpPr>
          <p:cNvPr id="17" name="TextBox 16"/>
          <p:cNvSpPr txBox="1"/>
          <p:nvPr/>
        </p:nvSpPr>
        <p:spPr>
          <a:xfrm>
            <a:off x="685800" y="3840480"/>
            <a:ext cx="2430703"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Students</a:t>
            </a:r>
          </a:p>
        </p:txBody>
      </p:sp>
      <p:sp>
        <p:nvSpPr>
          <p:cNvPr id="18" name="TextBox 17"/>
          <p:cNvSpPr txBox="1"/>
          <p:nvPr/>
        </p:nvSpPr>
        <p:spPr>
          <a:xfrm>
            <a:off x="685800" y="4114800"/>
            <a:ext cx="2430703" cy="50292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Queue in class hours, with no live status</a:t>
            </a:r>
          </a:p>
        </p:txBody>
      </p:sp>
      <p:sp>
        <p:nvSpPr>
          <p:cNvPr id="19" name="TextBox 18"/>
          <p:cNvSpPr txBox="1"/>
          <p:nvPr/>
        </p:nvSpPr>
        <p:spPr>
          <a:xfrm>
            <a:off x="3390823" y="3840480"/>
            <a:ext cx="2430703"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Faculty and HoDs</a:t>
            </a:r>
          </a:p>
        </p:txBody>
      </p:sp>
      <p:sp>
        <p:nvSpPr>
          <p:cNvPr id="20" name="TextBox 19"/>
          <p:cNvSpPr txBox="1"/>
          <p:nvPr/>
        </p:nvSpPr>
        <p:spPr>
          <a:xfrm>
            <a:off x="3390823" y="4114800"/>
            <a:ext cx="2430703" cy="50292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Interrupted to sign near-identical slips</a:t>
            </a:r>
          </a:p>
        </p:txBody>
      </p:sp>
      <p:sp>
        <p:nvSpPr>
          <p:cNvPr id="21" name="TextBox 20"/>
          <p:cNvSpPr txBox="1"/>
          <p:nvPr/>
        </p:nvSpPr>
        <p:spPr>
          <a:xfrm>
            <a:off x="6095847" y="3840480"/>
            <a:ext cx="2430703"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Admin office</a:t>
            </a:r>
          </a:p>
        </p:txBody>
      </p:sp>
      <p:sp>
        <p:nvSpPr>
          <p:cNvPr id="22" name="TextBox 21"/>
          <p:cNvSpPr txBox="1"/>
          <p:nvPr/>
        </p:nvSpPr>
        <p:spPr>
          <a:xfrm>
            <a:off x="6095847" y="4114800"/>
            <a:ext cx="2430703" cy="50292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Physical files; no audit trail for NAAC or DPDP</a:t>
            </a:r>
          </a:p>
        </p:txBody>
      </p:sp>
      <p:sp>
        <p:nvSpPr>
          <p:cNvPr id="23" name="TextBox 22"/>
          <p:cNvSpPr txBox="1"/>
          <p:nvPr/>
        </p:nvSpPr>
        <p:spPr>
          <a:xfrm>
            <a:off x="8800871" y="3840480"/>
            <a:ext cx="2430703"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Accessibility</a:t>
            </a:r>
          </a:p>
        </p:txBody>
      </p:sp>
      <p:sp>
        <p:nvSpPr>
          <p:cNvPr id="24" name="TextBox 23"/>
          <p:cNvSpPr txBox="1"/>
          <p:nvPr/>
        </p:nvSpPr>
        <p:spPr>
          <a:xfrm>
            <a:off x="8800871" y="4114800"/>
            <a:ext cx="2430703" cy="50292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Remote and differently-abled students must reach every cabin</a:t>
            </a:r>
          </a:p>
        </p:txBody>
      </p:sp>
      <p:sp>
        <p:nvSpPr>
          <p:cNvPr id="25" name="TextBox 24"/>
          <p:cNvSpPr txBox="1"/>
          <p:nvPr/>
        </p:nvSpPr>
        <p:spPr>
          <a:xfrm>
            <a:off x="685800" y="4846320"/>
            <a:ext cx="10820095" cy="365760"/>
          </a:xfrm>
          <a:prstGeom prst="rect">
            <a:avLst/>
          </a:prstGeom>
          <a:noFill/>
        </p:spPr>
        <p:txBody>
          <a:bodyPr wrap="square" lIns="0" tIns="0" rIns="0" bIns="0" anchor="t"/>
          <a:lstStyle/>
          <a:p>
            <a:pPr algn="l">
              <a:lnSpc>
                <a:spcPct val="110000"/>
              </a:lnSpc>
              <a:spcAft>
                <a:spcPts val="0"/>
              </a:spcAft>
            </a:pPr>
            <a:r>
              <a:rPr sz="1800">
                <a:solidFill>
                  <a:srgbClr val="101418"/>
                </a:solidFill>
                <a:latin typeface="Public Sans SemiBold"/>
                <a:ea typeface="Public Sans SemiBold"/>
                <a:cs typeface="Public Sans SemiBold"/>
              </a:rPr>
              <a:t>India already has the digital rails. </a:t>
            </a:r>
            <a:r>
              <a:rPr sz="1800">
                <a:solidFill>
                  <a:srgbClr val="1D4F91"/>
                </a:solidFill>
                <a:latin typeface="Public Sans SemiBold"/>
                <a:ea typeface="Public Sans SemiBold"/>
                <a:cs typeface="Public Sans SemiBold"/>
              </a:rPr>
              <a:t>The everyday campus approval is the missing last mile.</a:t>
            </a:r>
          </a:p>
        </p:txBody>
      </p:sp>
      <p:sp>
        <p:nvSpPr>
          <p:cNvPr id="26" name="ftr"/>
          <p:cNvSpPr txBox="1"/>
          <p:nvPr/>
        </p:nvSpPr>
        <p:spPr>
          <a:xfrm>
            <a:off x="685800" y="6400800"/>
            <a:ext cx="9722815" cy="274320"/>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SemiBold"/>
                <a:ea typeface="Public Sans SemiBold"/>
                <a:cs typeface="Public Sans SemiBold"/>
              </a:rPr>
              <a:t>Research references: </a:t>
            </a:r>
            <a:r>
              <a:rPr sz="900">
                <a:solidFill>
                  <a:srgbClr val="6B7480"/>
                </a:solidFill>
                <a:latin typeface="Public Sans Regular"/>
                <a:ea typeface="Public Sans Regular"/>
                <a:cs typeface="Public Sans Regular"/>
              </a:rPr>
              <a:t>AISHE 2023-24, Ministry of Education (released Jul 2026). DPDP Rules 2025 (MeitY, notified Nov 2025; core duties from May 2027). Est.: 15 forms × 3 sheets per student a year.</a:t>
            </a:r>
          </a:p>
        </p:txBody>
      </p:sp>
      <p:sp>
        <p:nvSpPr>
          <p:cNvPr id="27" name="ftr"/>
          <p:cNvSpPr txBox="1"/>
          <p:nvPr/>
        </p:nvSpPr>
        <p:spPr>
          <a:xfrm>
            <a:off x="10591495" y="6400800"/>
            <a:ext cx="914400" cy="274320"/>
          </a:xfrm>
          <a:prstGeom prst="rect">
            <a:avLst/>
          </a:prstGeom>
          <a:noFill/>
        </p:spPr>
        <p:txBody>
          <a:bodyPr wrap="square" lIns="0" tIns="0" rIns="0" bIns="0" anchor="t"/>
          <a:lstStyle/>
          <a:p>
            <a:pPr algn="r">
              <a:lnSpc>
                <a:spcPct val="110000"/>
              </a:lnSpc>
              <a:spcAft>
                <a:spcPts val="0"/>
              </a:spcAft>
            </a:pPr>
            <a:r>
              <a:rPr sz="900">
                <a:solidFill>
                  <a:srgbClr val="6B7480"/>
                </a:solidFill>
                <a:latin typeface="Public Sans Regular"/>
                <a:ea typeface="Public Sans Regular"/>
                <a:cs typeface="Public Sans Regular"/>
              </a:rP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dr"/>
          <p:cNvSpPr txBox="1"/>
          <p:nvPr/>
        </p:nvSpPr>
        <p:spPr>
          <a:xfrm>
            <a:off x="685800" y="502920"/>
            <a:ext cx="10820095" cy="457200"/>
          </a:xfrm>
          <a:prstGeom prst="rect">
            <a:avLst/>
          </a:prstGeom>
          <a:noFill/>
        </p:spPr>
        <p:txBody>
          <a:bodyPr wrap="square" lIns="0" tIns="0" rIns="0" bIns="0" anchor="t"/>
          <a:lstStyle/>
          <a:p>
            <a:pPr algn="l">
              <a:lnSpc>
                <a:spcPct val="100000"/>
              </a:lnSpc>
              <a:spcAft>
                <a:spcPts val="0"/>
              </a:spcAft>
            </a:pPr>
            <a:r>
              <a:rPr sz="2800">
                <a:solidFill>
                  <a:srgbClr val="101418"/>
                </a:solidFill>
                <a:latin typeface="Public Sans Bold"/>
                <a:ea typeface="Public Sans Bold"/>
                <a:cs typeface="Public Sans Bold"/>
              </a:rPr>
              <a:t>Proposed Solution</a:t>
            </a:r>
          </a:p>
        </p:txBody>
      </p:sp>
      <p:sp>
        <p:nvSpPr>
          <p:cNvPr id="3" name="hdr"/>
          <p:cNvSpPr txBox="1"/>
          <p:nvPr/>
        </p:nvSpPr>
        <p:spPr>
          <a:xfrm>
            <a:off x="685800" y="987552"/>
            <a:ext cx="10820095" cy="320040"/>
          </a:xfrm>
          <a:prstGeom prst="rect">
            <a:avLst/>
          </a:prstGeom>
          <a:noFill/>
        </p:spPr>
        <p:txBody>
          <a:bodyPr wrap="square" lIns="0" tIns="0" rIns="0" bIns="0" anchor="t"/>
          <a:lstStyle/>
          <a:p>
            <a:pPr algn="l">
              <a:lnSpc>
                <a:spcPct val="110000"/>
              </a:lnSpc>
              <a:spcAft>
                <a:spcPts val="0"/>
              </a:spcAft>
            </a:pPr>
            <a:r>
              <a:rPr sz="1800">
                <a:solidFill>
                  <a:srgbClr val="5A6370"/>
                </a:solidFill>
                <a:latin typeface="Public Sans Regular"/>
                <a:ea typeface="Public Sans Regular"/>
                <a:cs typeface="Public Sans Regular"/>
              </a:rPr>
              <a:t>A student submits once; the system routes it by role, collects signatures and seals the result.</a:t>
            </a:r>
          </a:p>
        </p:txBody>
      </p:sp>
      <p:cxnSp>
        <p:nvCxnSpPr>
          <p:cNvPr id="4" name="Connector 3"/>
          <p:cNvCxnSpPr/>
          <p:nvPr/>
        </p:nvCxnSpPr>
        <p:spPr>
          <a:xfrm>
            <a:off x="868680" y="1938528"/>
            <a:ext cx="10454335" cy="0"/>
          </a:xfrm>
          <a:prstGeom prst="line">
            <a:avLst/>
          </a:prstGeom>
          <a:ln w="19050">
            <a:solidFill>
              <a:srgbClr val="E1E4E8"/>
            </a:solidFill>
          </a:ln>
        </p:spPr>
      </p:cxnSp>
      <p:sp>
        <p:nvSpPr>
          <p:cNvPr id="5" name="Oval 4"/>
          <p:cNvSpPr/>
          <p:nvPr/>
        </p:nvSpPr>
        <p:spPr>
          <a:xfrm>
            <a:off x="749808" y="1819656"/>
            <a:ext cx="237744" cy="237744"/>
          </a:xfrm>
          <a:prstGeom prst="ellipse">
            <a:avLst/>
          </a:prstGeom>
          <a:solidFill>
            <a:srgbClr val="FFFFFF"/>
          </a:solidFill>
          <a:ln w="19050">
            <a:solidFill>
              <a:srgbClr val="1D4F91"/>
            </a:solidFill>
          </a:ln>
          <a:effectLst/>
        </p:spPr>
        <p:txBody>
          <a:bodyPr rtlCol="0" anchor="ctr"/>
          <a:lstStyle/>
          <a:p>
            <a:endParaRPr/>
          </a:p>
        </p:txBody>
      </p:sp>
      <p:sp>
        <p:nvSpPr>
          <p:cNvPr id="6" name="TextBox 5"/>
          <p:cNvSpPr txBox="1"/>
          <p:nvPr/>
        </p:nvSpPr>
        <p:spPr>
          <a:xfrm>
            <a:off x="749808" y="2304287"/>
            <a:ext cx="2286000" cy="320040"/>
          </a:xfrm>
          <a:prstGeom prst="rect">
            <a:avLst/>
          </a:prstGeom>
          <a:noFill/>
        </p:spPr>
        <p:txBody>
          <a:bodyPr wrap="square" lIns="0" tIns="0" rIns="0" bIns="0" anchor="t"/>
          <a:lstStyle/>
          <a:p>
            <a:pPr algn="l">
              <a:lnSpc>
                <a:spcPct val="110000"/>
              </a:lnSpc>
              <a:spcAft>
                <a:spcPts val="0"/>
              </a:spcAft>
            </a:pPr>
            <a:r>
              <a:rPr sz="1800">
                <a:solidFill>
                  <a:srgbClr val="101418"/>
                </a:solidFill>
                <a:latin typeface="Public Sans Bold"/>
                <a:ea typeface="Public Sans Bold"/>
                <a:cs typeface="Public Sans Bold"/>
              </a:rPr>
              <a:t>Request</a:t>
            </a:r>
          </a:p>
        </p:txBody>
      </p:sp>
      <p:sp>
        <p:nvSpPr>
          <p:cNvPr id="7" name="TextBox 6"/>
          <p:cNvSpPr txBox="1"/>
          <p:nvPr/>
        </p:nvSpPr>
        <p:spPr>
          <a:xfrm>
            <a:off x="749808" y="2651760"/>
            <a:ext cx="2286000" cy="27432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You fill the form</a:t>
            </a:r>
          </a:p>
        </p:txBody>
      </p:sp>
      <p:sp>
        <p:nvSpPr>
          <p:cNvPr id="8" name="Oval 7"/>
          <p:cNvSpPr/>
          <p:nvPr/>
        </p:nvSpPr>
        <p:spPr>
          <a:xfrm>
            <a:off x="3363391" y="1819656"/>
            <a:ext cx="237744" cy="237744"/>
          </a:xfrm>
          <a:prstGeom prst="ellipse">
            <a:avLst/>
          </a:prstGeom>
          <a:solidFill>
            <a:srgbClr val="FFFFFF"/>
          </a:solidFill>
          <a:ln w="19050">
            <a:solidFill>
              <a:srgbClr val="1D4F91"/>
            </a:solidFill>
          </a:ln>
          <a:effectLst/>
        </p:spPr>
        <p:txBody>
          <a:bodyPr rtlCol="0" anchor="ctr"/>
          <a:lstStyle/>
          <a:p>
            <a:endParaRPr/>
          </a:p>
        </p:txBody>
      </p:sp>
      <p:sp>
        <p:nvSpPr>
          <p:cNvPr id="9" name="TextBox 8"/>
          <p:cNvSpPr txBox="1"/>
          <p:nvPr/>
        </p:nvSpPr>
        <p:spPr>
          <a:xfrm>
            <a:off x="2339263" y="2304287"/>
            <a:ext cx="2286000" cy="320040"/>
          </a:xfrm>
          <a:prstGeom prst="rect">
            <a:avLst/>
          </a:prstGeom>
          <a:noFill/>
        </p:spPr>
        <p:txBody>
          <a:bodyPr wrap="square" lIns="0" tIns="0" rIns="0" bIns="0" anchor="t"/>
          <a:lstStyle/>
          <a:p>
            <a:pPr algn="ctr">
              <a:lnSpc>
                <a:spcPct val="110000"/>
              </a:lnSpc>
              <a:spcAft>
                <a:spcPts val="0"/>
              </a:spcAft>
            </a:pPr>
            <a:r>
              <a:rPr sz="1800">
                <a:solidFill>
                  <a:srgbClr val="101418"/>
                </a:solidFill>
                <a:latin typeface="Public Sans Bold"/>
                <a:ea typeface="Public Sans Bold"/>
                <a:cs typeface="Public Sans Bold"/>
              </a:rPr>
              <a:t>Route</a:t>
            </a:r>
          </a:p>
        </p:txBody>
      </p:sp>
      <p:sp>
        <p:nvSpPr>
          <p:cNvPr id="10" name="TextBox 9"/>
          <p:cNvSpPr txBox="1"/>
          <p:nvPr/>
        </p:nvSpPr>
        <p:spPr>
          <a:xfrm>
            <a:off x="2339263" y="2651760"/>
            <a:ext cx="2286000" cy="274320"/>
          </a:xfrm>
          <a:prstGeom prst="rect">
            <a:avLst/>
          </a:prstGeom>
          <a:noFill/>
        </p:spPr>
        <p:txBody>
          <a:bodyPr wrap="square" lIns="0" tIns="0" rIns="0" bIns="0" anchor="t"/>
          <a:lstStyle/>
          <a:p>
            <a:pPr algn="ctr">
              <a:lnSpc>
                <a:spcPct val="110000"/>
              </a:lnSpc>
              <a:spcAft>
                <a:spcPts val="0"/>
              </a:spcAft>
            </a:pPr>
            <a:r>
              <a:rPr sz="1200">
                <a:solidFill>
                  <a:srgbClr val="5A6370"/>
                </a:solidFill>
                <a:latin typeface="Public Sans Regular"/>
                <a:ea typeface="Public Sans Regular"/>
                <a:cs typeface="Public Sans Regular"/>
              </a:rPr>
              <a:t>By role, not by name</a:t>
            </a:r>
          </a:p>
        </p:txBody>
      </p:sp>
      <p:sp>
        <p:nvSpPr>
          <p:cNvPr id="11" name="Oval 10"/>
          <p:cNvSpPr/>
          <p:nvPr/>
        </p:nvSpPr>
        <p:spPr>
          <a:xfrm>
            <a:off x="5976975" y="1819656"/>
            <a:ext cx="237744" cy="237744"/>
          </a:xfrm>
          <a:prstGeom prst="ellipse">
            <a:avLst/>
          </a:prstGeom>
          <a:solidFill>
            <a:srgbClr val="FFFFFF"/>
          </a:solidFill>
          <a:ln w="19050">
            <a:solidFill>
              <a:srgbClr val="1D4F91"/>
            </a:solidFill>
          </a:ln>
          <a:effectLst/>
        </p:spPr>
        <p:txBody>
          <a:bodyPr rtlCol="0" anchor="ctr"/>
          <a:lstStyle/>
          <a:p>
            <a:endParaRPr/>
          </a:p>
        </p:txBody>
      </p:sp>
      <p:sp>
        <p:nvSpPr>
          <p:cNvPr id="12" name="TextBox 11"/>
          <p:cNvSpPr txBox="1"/>
          <p:nvPr/>
        </p:nvSpPr>
        <p:spPr>
          <a:xfrm>
            <a:off x="4952847" y="2304287"/>
            <a:ext cx="2286000" cy="320040"/>
          </a:xfrm>
          <a:prstGeom prst="rect">
            <a:avLst/>
          </a:prstGeom>
          <a:noFill/>
        </p:spPr>
        <p:txBody>
          <a:bodyPr wrap="square" lIns="0" tIns="0" rIns="0" bIns="0" anchor="t"/>
          <a:lstStyle/>
          <a:p>
            <a:pPr algn="ctr">
              <a:lnSpc>
                <a:spcPct val="110000"/>
              </a:lnSpc>
              <a:spcAft>
                <a:spcPts val="0"/>
              </a:spcAft>
            </a:pPr>
            <a:r>
              <a:rPr sz="1800">
                <a:solidFill>
                  <a:srgbClr val="101418"/>
                </a:solidFill>
                <a:latin typeface="Public Sans Bold"/>
                <a:ea typeface="Public Sans Bold"/>
                <a:cs typeface="Public Sans Bold"/>
              </a:rPr>
              <a:t>Sign</a:t>
            </a:r>
          </a:p>
        </p:txBody>
      </p:sp>
      <p:sp>
        <p:nvSpPr>
          <p:cNvPr id="13" name="TextBox 12"/>
          <p:cNvSpPr txBox="1"/>
          <p:nvPr/>
        </p:nvSpPr>
        <p:spPr>
          <a:xfrm>
            <a:off x="4952847" y="2651760"/>
            <a:ext cx="2286000" cy="274320"/>
          </a:xfrm>
          <a:prstGeom prst="rect">
            <a:avLst/>
          </a:prstGeom>
          <a:noFill/>
        </p:spPr>
        <p:txBody>
          <a:bodyPr wrap="square" lIns="0" tIns="0" rIns="0" bIns="0" anchor="t"/>
          <a:lstStyle/>
          <a:p>
            <a:pPr algn="ctr">
              <a:lnSpc>
                <a:spcPct val="110000"/>
              </a:lnSpc>
              <a:spcAft>
                <a:spcPts val="0"/>
              </a:spcAft>
            </a:pPr>
            <a:r>
              <a:rPr sz="1200">
                <a:solidFill>
                  <a:srgbClr val="5A6370"/>
                </a:solidFill>
                <a:latin typeface="Public Sans Regular"/>
                <a:ea typeface="Public Sans Regular"/>
                <a:cs typeface="Public Sans Regular"/>
              </a:rPr>
              <a:t>One tap, OTP or eSign</a:t>
            </a:r>
          </a:p>
        </p:txBody>
      </p:sp>
      <p:sp>
        <p:nvSpPr>
          <p:cNvPr id="14" name="Oval 13"/>
          <p:cNvSpPr/>
          <p:nvPr/>
        </p:nvSpPr>
        <p:spPr>
          <a:xfrm>
            <a:off x="8590559" y="1819656"/>
            <a:ext cx="237744" cy="237744"/>
          </a:xfrm>
          <a:prstGeom prst="ellipse">
            <a:avLst/>
          </a:prstGeom>
          <a:solidFill>
            <a:srgbClr val="FFFFFF"/>
          </a:solidFill>
          <a:ln w="19050">
            <a:solidFill>
              <a:srgbClr val="1D4F91"/>
            </a:solidFill>
          </a:ln>
          <a:effectLst/>
        </p:spPr>
        <p:txBody>
          <a:bodyPr rtlCol="0" anchor="ctr"/>
          <a:lstStyle/>
          <a:p>
            <a:endParaRPr/>
          </a:p>
        </p:txBody>
      </p:sp>
      <p:sp>
        <p:nvSpPr>
          <p:cNvPr id="15" name="TextBox 14"/>
          <p:cNvSpPr txBox="1"/>
          <p:nvPr/>
        </p:nvSpPr>
        <p:spPr>
          <a:xfrm>
            <a:off x="7566431" y="2304287"/>
            <a:ext cx="2286000" cy="320040"/>
          </a:xfrm>
          <a:prstGeom prst="rect">
            <a:avLst/>
          </a:prstGeom>
          <a:noFill/>
        </p:spPr>
        <p:txBody>
          <a:bodyPr wrap="square" lIns="0" tIns="0" rIns="0" bIns="0" anchor="t"/>
          <a:lstStyle/>
          <a:p>
            <a:pPr algn="ctr">
              <a:lnSpc>
                <a:spcPct val="110000"/>
              </a:lnSpc>
              <a:spcAft>
                <a:spcPts val="0"/>
              </a:spcAft>
            </a:pPr>
            <a:r>
              <a:rPr sz="1800">
                <a:solidFill>
                  <a:srgbClr val="101418"/>
                </a:solidFill>
                <a:latin typeface="Public Sans Bold"/>
                <a:ea typeface="Public Sans Bold"/>
                <a:cs typeface="Public Sans Bold"/>
              </a:rPr>
              <a:t>Seal</a:t>
            </a:r>
          </a:p>
        </p:txBody>
      </p:sp>
      <p:sp>
        <p:nvSpPr>
          <p:cNvPr id="16" name="TextBox 15"/>
          <p:cNvSpPr txBox="1"/>
          <p:nvPr/>
        </p:nvSpPr>
        <p:spPr>
          <a:xfrm>
            <a:off x="7566431" y="2651760"/>
            <a:ext cx="2286000" cy="274320"/>
          </a:xfrm>
          <a:prstGeom prst="rect">
            <a:avLst/>
          </a:prstGeom>
          <a:noFill/>
        </p:spPr>
        <p:txBody>
          <a:bodyPr wrap="square" lIns="0" tIns="0" rIns="0" bIns="0" anchor="t"/>
          <a:lstStyle/>
          <a:p>
            <a:pPr algn="ctr">
              <a:lnSpc>
                <a:spcPct val="110000"/>
              </a:lnSpc>
              <a:spcAft>
                <a:spcPts val="0"/>
              </a:spcAft>
            </a:pPr>
            <a:r>
              <a:rPr sz="1200">
                <a:solidFill>
                  <a:srgbClr val="5A6370"/>
                </a:solidFill>
                <a:latin typeface="Public Sans Regular"/>
                <a:ea typeface="Public Sans Regular"/>
                <a:cs typeface="Public Sans Regular"/>
              </a:rPr>
              <a:t>Hash on chain</a:t>
            </a:r>
          </a:p>
        </p:txBody>
      </p:sp>
      <p:sp>
        <p:nvSpPr>
          <p:cNvPr id="17" name="Oval 16"/>
          <p:cNvSpPr/>
          <p:nvPr/>
        </p:nvSpPr>
        <p:spPr>
          <a:xfrm>
            <a:off x="11167567" y="1783080"/>
            <a:ext cx="310896" cy="310896"/>
          </a:xfrm>
          <a:prstGeom prst="ellipse">
            <a:avLst/>
          </a:prstGeom>
          <a:solidFill>
            <a:srgbClr val="1E7A4C"/>
          </a:solidFill>
          <a:ln>
            <a:noFill/>
          </a:ln>
          <a:effectLst/>
        </p:spPr>
        <p:txBody>
          <a:bodyPr rtlCol="0" anchor="ctr"/>
          <a:lstStyle/>
          <a:p>
            <a:endParaRPr/>
          </a:p>
        </p:txBody>
      </p:sp>
      <p:sp>
        <p:nvSpPr>
          <p:cNvPr id="18" name="Freeform 17"/>
          <p:cNvSpPr/>
          <p:nvPr/>
        </p:nvSpPr>
        <p:spPr>
          <a:xfrm>
            <a:off x="11250731" y="1890339"/>
            <a:ext cx="149386" cy="101196"/>
          </a:xfrm>
          <a:custGeom>
            <a:avLst/>
            <a:gdLst/>
            <a:ahLst/>
            <a:cxnLst/>
            <a:rect l="l" t="t" r="r" b="b"/>
            <a:pathLst>
              <a:path w="149386" h="101196">
                <a:moveTo>
                  <a:pt x="0" y="50116"/>
                </a:moveTo>
                <a:lnTo>
                  <a:pt x="53008" y="101196"/>
                </a:lnTo>
                <a:lnTo>
                  <a:pt x="149386" y="0"/>
                </a:lnTo>
              </a:path>
            </a:pathLst>
          </a:custGeom>
          <a:noFill/>
          <a:ln w="19050"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55887" y="2304287"/>
            <a:ext cx="2286000" cy="320040"/>
          </a:xfrm>
          <a:prstGeom prst="rect">
            <a:avLst/>
          </a:prstGeom>
          <a:noFill/>
        </p:spPr>
        <p:txBody>
          <a:bodyPr wrap="square" lIns="0" tIns="0" rIns="0" bIns="0" anchor="t"/>
          <a:lstStyle/>
          <a:p>
            <a:pPr algn="r">
              <a:lnSpc>
                <a:spcPct val="110000"/>
              </a:lnSpc>
              <a:spcAft>
                <a:spcPts val="0"/>
              </a:spcAft>
            </a:pPr>
            <a:r>
              <a:rPr sz="1800">
                <a:solidFill>
                  <a:srgbClr val="1E7A4C"/>
                </a:solidFill>
                <a:latin typeface="Public Sans Bold"/>
                <a:ea typeface="Public Sans Bold"/>
                <a:cs typeface="Public Sans Bold"/>
              </a:rPr>
              <a:t>Verify</a:t>
            </a:r>
          </a:p>
        </p:txBody>
      </p:sp>
      <p:sp>
        <p:nvSpPr>
          <p:cNvPr id="20" name="TextBox 19"/>
          <p:cNvSpPr txBox="1"/>
          <p:nvPr/>
        </p:nvSpPr>
        <p:spPr>
          <a:xfrm>
            <a:off x="9155887" y="2651760"/>
            <a:ext cx="2286000" cy="274320"/>
          </a:xfrm>
          <a:prstGeom prst="rect">
            <a:avLst/>
          </a:prstGeom>
          <a:noFill/>
        </p:spPr>
        <p:txBody>
          <a:bodyPr wrap="square" lIns="0" tIns="0" rIns="0" bIns="0" anchor="t"/>
          <a:lstStyle/>
          <a:p>
            <a:pPr algn="r">
              <a:lnSpc>
                <a:spcPct val="110000"/>
              </a:lnSpc>
              <a:spcAft>
                <a:spcPts val="0"/>
              </a:spcAft>
            </a:pPr>
            <a:r>
              <a:rPr sz="1200">
                <a:solidFill>
                  <a:srgbClr val="5A6370"/>
                </a:solidFill>
                <a:latin typeface="Public Sans Regular"/>
                <a:ea typeface="Public Sans Regular"/>
                <a:cs typeface="Public Sans Regular"/>
              </a:rPr>
              <a:t>Scan code on the PDF</a:t>
            </a:r>
          </a:p>
        </p:txBody>
      </p:sp>
      <p:sp>
        <p:nvSpPr>
          <p:cNvPr id="21" name="TextBox 20"/>
          <p:cNvSpPr txBox="1"/>
          <p:nvPr/>
        </p:nvSpPr>
        <p:spPr>
          <a:xfrm>
            <a:off x="685800" y="3310128"/>
            <a:ext cx="2743200"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Works for</a:t>
            </a:r>
          </a:p>
        </p:txBody>
      </p:sp>
      <p:sp>
        <p:nvSpPr>
          <p:cNvPr id="22" name="TextBox 21"/>
          <p:cNvSpPr txBox="1"/>
          <p:nvPr/>
        </p:nvSpPr>
        <p:spPr>
          <a:xfrm>
            <a:off x="685800" y="3566160"/>
            <a:ext cx="10820095" cy="32004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Regular"/>
                <a:ea typeface="Public Sans Regular"/>
                <a:cs typeface="Public Sans Regular"/>
              </a:rPr>
              <a:t>Event permission   ·   On-duty   ·   Bonafide   ·   Internship NOC   ·   No-dues   ·   LOR   ·   Scholarship</a:t>
            </a:r>
          </a:p>
        </p:txBody>
      </p:sp>
      <p:cxnSp>
        <p:nvCxnSpPr>
          <p:cNvPr id="23" name="Connector 22"/>
          <p:cNvCxnSpPr/>
          <p:nvPr/>
        </p:nvCxnSpPr>
        <p:spPr>
          <a:xfrm>
            <a:off x="685800" y="4087367"/>
            <a:ext cx="10820095" cy="0"/>
          </a:xfrm>
          <a:prstGeom prst="line">
            <a:avLst/>
          </a:prstGeom>
          <a:ln w="9525">
            <a:solidFill>
              <a:srgbClr val="E1E4E8"/>
            </a:solidFill>
          </a:ln>
        </p:spPr>
      </p:cxnSp>
      <p:sp>
        <p:nvSpPr>
          <p:cNvPr id="24" name="TextBox 23"/>
          <p:cNvSpPr txBox="1"/>
          <p:nvPr/>
        </p:nvSpPr>
        <p:spPr>
          <a:xfrm>
            <a:off x="685800" y="4224528"/>
            <a:ext cx="3657600"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Time to a signed approval</a:t>
            </a:r>
          </a:p>
        </p:txBody>
      </p:sp>
      <p:sp>
        <p:nvSpPr>
          <p:cNvPr id="25" name="TextBox 24"/>
          <p:cNvSpPr txBox="1"/>
          <p:nvPr/>
        </p:nvSpPr>
        <p:spPr>
          <a:xfrm>
            <a:off x="685800" y="4590288"/>
            <a:ext cx="219456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Regular"/>
                <a:ea typeface="Public Sans Regular"/>
                <a:cs typeface="Public Sans Regular"/>
              </a:rPr>
              <a:t>Paper today</a:t>
            </a:r>
          </a:p>
        </p:txBody>
      </p:sp>
      <p:sp>
        <p:nvSpPr>
          <p:cNvPr id="26" name="Rectangle 25"/>
          <p:cNvSpPr/>
          <p:nvPr/>
        </p:nvSpPr>
        <p:spPr>
          <a:xfrm>
            <a:off x="2971800" y="4608576"/>
            <a:ext cx="7315200" cy="219456"/>
          </a:xfrm>
          <a:prstGeom prst="rect">
            <a:avLst/>
          </a:prstGeom>
          <a:solidFill>
            <a:srgbClr val="E1E4E8"/>
          </a:solidFill>
          <a:ln>
            <a:noFill/>
          </a:ln>
          <a:effectLst/>
        </p:spPr>
        <p:txBody>
          <a:bodyPr rtlCol="0" anchor="ctr"/>
          <a:lstStyle/>
          <a:p>
            <a:endParaRPr/>
          </a:p>
        </p:txBody>
      </p:sp>
      <p:sp>
        <p:nvSpPr>
          <p:cNvPr id="27" name="TextBox 26"/>
          <p:cNvSpPr txBox="1"/>
          <p:nvPr/>
        </p:nvSpPr>
        <p:spPr>
          <a:xfrm>
            <a:off x="10451592" y="4590288"/>
            <a:ext cx="2377440" cy="274320"/>
          </a:xfrm>
          <a:prstGeom prst="rect">
            <a:avLst/>
          </a:prstGeom>
          <a:noFill/>
        </p:spPr>
        <p:txBody>
          <a:bodyPr wrap="square" lIns="0" tIns="0" rIns="0" bIns="0" anchor="t"/>
          <a:lstStyle/>
          <a:p>
            <a:pPr algn="l">
              <a:lnSpc>
                <a:spcPct val="110000"/>
              </a:lnSpc>
              <a:spcAft>
                <a:spcPts val="0"/>
              </a:spcAft>
            </a:pPr>
            <a:r>
              <a:rPr sz="1400">
                <a:solidFill>
                  <a:srgbClr val="5A6370"/>
                </a:solidFill>
                <a:latin typeface="Public Sans SemiBold"/>
                <a:ea typeface="Public Sans SemiBold"/>
                <a:cs typeface="Public Sans SemiBold"/>
              </a:rPr>
              <a:t>2 to 4 days</a:t>
            </a:r>
          </a:p>
        </p:txBody>
      </p:sp>
      <p:sp>
        <p:nvSpPr>
          <p:cNvPr id="28" name="TextBox 27"/>
          <p:cNvSpPr txBox="1"/>
          <p:nvPr/>
        </p:nvSpPr>
        <p:spPr>
          <a:xfrm>
            <a:off x="685800" y="5093208"/>
            <a:ext cx="219456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PaperLess Campus</a:t>
            </a:r>
          </a:p>
        </p:txBody>
      </p:sp>
      <p:sp>
        <p:nvSpPr>
          <p:cNvPr id="29" name="Rectangle 28"/>
          <p:cNvSpPr/>
          <p:nvPr/>
        </p:nvSpPr>
        <p:spPr>
          <a:xfrm>
            <a:off x="2971800" y="5111496"/>
            <a:ext cx="502920" cy="219456"/>
          </a:xfrm>
          <a:prstGeom prst="rect">
            <a:avLst/>
          </a:prstGeom>
          <a:solidFill>
            <a:srgbClr val="1E7A4C"/>
          </a:solidFill>
          <a:ln>
            <a:noFill/>
          </a:ln>
          <a:effectLst/>
        </p:spPr>
        <p:txBody>
          <a:bodyPr rtlCol="0" anchor="ctr"/>
          <a:lstStyle/>
          <a:p>
            <a:endParaRPr/>
          </a:p>
        </p:txBody>
      </p:sp>
      <p:sp>
        <p:nvSpPr>
          <p:cNvPr id="30" name="TextBox 29"/>
          <p:cNvSpPr txBox="1"/>
          <p:nvPr/>
        </p:nvSpPr>
        <p:spPr>
          <a:xfrm>
            <a:off x="3639312" y="5093208"/>
            <a:ext cx="2377440" cy="274320"/>
          </a:xfrm>
          <a:prstGeom prst="rect">
            <a:avLst/>
          </a:prstGeom>
          <a:noFill/>
        </p:spPr>
        <p:txBody>
          <a:bodyPr wrap="square" lIns="0" tIns="0" rIns="0" bIns="0" anchor="t"/>
          <a:lstStyle/>
          <a:p>
            <a:pPr algn="l">
              <a:lnSpc>
                <a:spcPct val="110000"/>
              </a:lnSpc>
              <a:spcAft>
                <a:spcPts val="0"/>
              </a:spcAft>
            </a:pPr>
            <a:r>
              <a:rPr sz="1400">
                <a:solidFill>
                  <a:srgbClr val="1E7A4C"/>
                </a:solidFill>
                <a:latin typeface="Public Sans SemiBold"/>
                <a:ea typeface="Public Sans SemiBold"/>
                <a:cs typeface="Public Sans SemiBold"/>
              </a:rPr>
              <a:t>same day (target)</a:t>
            </a:r>
          </a:p>
        </p:txBody>
      </p:sp>
      <p:sp>
        <p:nvSpPr>
          <p:cNvPr id="31" name="ftr"/>
          <p:cNvSpPr txBox="1"/>
          <p:nvPr/>
        </p:nvSpPr>
        <p:spPr>
          <a:xfrm>
            <a:off x="685800" y="6400800"/>
            <a:ext cx="9722815" cy="274320"/>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SemiBold"/>
                <a:ea typeface="Public Sans SemiBold"/>
                <a:cs typeface="Public Sans SemiBold"/>
              </a:rPr>
              <a:t>Research references: </a:t>
            </a:r>
            <a:r>
              <a:rPr sz="900">
                <a:solidFill>
                  <a:srgbClr val="6B7480"/>
                </a:solidFill>
                <a:latin typeface="Public Sans Regular"/>
                <a:ea typeface="Public Sans Regular"/>
                <a:cs typeface="Public Sans Regular"/>
              </a:rPr>
              <a:t>Paper turnaround is a typical range on our campus, to be measured in the pilot; same day is the pilot target.</a:t>
            </a:r>
          </a:p>
        </p:txBody>
      </p:sp>
      <p:sp>
        <p:nvSpPr>
          <p:cNvPr id="32" name="ftr"/>
          <p:cNvSpPr txBox="1"/>
          <p:nvPr/>
        </p:nvSpPr>
        <p:spPr>
          <a:xfrm>
            <a:off x="10591495" y="6400800"/>
            <a:ext cx="914400" cy="274320"/>
          </a:xfrm>
          <a:prstGeom prst="rect">
            <a:avLst/>
          </a:prstGeom>
          <a:noFill/>
        </p:spPr>
        <p:txBody>
          <a:bodyPr wrap="square" lIns="0" tIns="0" rIns="0" bIns="0" anchor="t"/>
          <a:lstStyle/>
          <a:p>
            <a:pPr algn="r">
              <a:lnSpc>
                <a:spcPct val="110000"/>
              </a:lnSpc>
              <a:spcAft>
                <a:spcPts val="0"/>
              </a:spcAft>
            </a:pPr>
            <a:r>
              <a:rPr sz="900">
                <a:solidFill>
                  <a:srgbClr val="6B7480"/>
                </a:solidFill>
                <a:latin typeface="Public Sans Regular"/>
                <a:ea typeface="Public Sans Regular"/>
                <a:cs typeface="Public Sans Regular"/>
              </a:rPr>
              <a:t>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dr"/>
          <p:cNvSpPr txBox="1"/>
          <p:nvPr/>
        </p:nvSpPr>
        <p:spPr>
          <a:xfrm>
            <a:off x="685800" y="502920"/>
            <a:ext cx="10820095" cy="457200"/>
          </a:xfrm>
          <a:prstGeom prst="rect">
            <a:avLst/>
          </a:prstGeom>
          <a:noFill/>
        </p:spPr>
        <p:txBody>
          <a:bodyPr wrap="square" lIns="0" tIns="0" rIns="0" bIns="0" anchor="t"/>
          <a:lstStyle/>
          <a:p>
            <a:pPr algn="l">
              <a:lnSpc>
                <a:spcPct val="100000"/>
              </a:lnSpc>
              <a:spcAft>
                <a:spcPts val="0"/>
              </a:spcAft>
            </a:pPr>
            <a:r>
              <a:rPr sz="2800">
                <a:solidFill>
                  <a:srgbClr val="101418"/>
                </a:solidFill>
                <a:latin typeface="Public Sans Bold"/>
                <a:ea typeface="Public Sans Bold"/>
                <a:cs typeface="Public Sans Bold"/>
              </a:rPr>
              <a:t>System Architecture</a:t>
            </a:r>
          </a:p>
        </p:txBody>
      </p:sp>
      <p:sp>
        <p:nvSpPr>
          <p:cNvPr id="3" name="hdr"/>
          <p:cNvSpPr txBox="1"/>
          <p:nvPr/>
        </p:nvSpPr>
        <p:spPr>
          <a:xfrm>
            <a:off x="685800" y="987552"/>
            <a:ext cx="10820095" cy="320040"/>
          </a:xfrm>
          <a:prstGeom prst="rect">
            <a:avLst/>
          </a:prstGeom>
          <a:noFill/>
        </p:spPr>
        <p:txBody>
          <a:bodyPr wrap="square" lIns="0" tIns="0" rIns="0" bIns="0" anchor="t"/>
          <a:lstStyle/>
          <a:p>
            <a:pPr algn="l">
              <a:lnSpc>
                <a:spcPct val="110000"/>
              </a:lnSpc>
              <a:spcAft>
                <a:spcPts val="0"/>
              </a:spcAft>
            </a:pPr>
            <a:r>
              <a:rPr sz="1800">
                <a:solidFill>
                  <a:srgbClr val="5A6370"/>
                </a:solidFill>
                <a:latin typeface="Public Sans Regular"/>
                <a:ea typeface="Public Sans Regular"/>
                <a:cs typeface="Public Sans Regular"/>
              </a:rPr>
              <a:t>Every request flows through one no-code platform; only its fingerprint goes on chain.</a:t>
            </a:r>
          </a:p>
        </p:txBody>
      </p:sp>
      <p:sp>
        <p:nvSpPr>
          <p:cNvPr id="4" name="Rectangle 3"/>
          <p:cNvSpPr/>
          <p:nvPr/>
        </p:nvSpPr>
        <p:spPr>
          <a:xfrm>
            <a:off x="685800" y="2011681"/>
            <a:ext cx="1691640" cy="640080"/>
          </a:xfrm>
          <a:prstGeom prst="rect">
            <a:avLst/>
          </a:prstGeom>
          <a:solidFill>
            <a:srgbClr val="F4F6F8"/>
          </a:solidFill>
          <a:ln>
            <a:noFill/>
          </a:ln>
          <a:effectLst/>
        </p:spPr>
        <p:txBody>
          <a:bodyPr rtlCol="0" anchor="ctr"/>
          <a:lstStyle/>
          <a:p>
            <a:endParaRPr/>
          </a:p>
        </p:txBody>
      </p:sp>
      <p:sp>
        <p:nvSpPr>
          <p:cNvPr id="5" name="TextBox 4"/>
          <p:cNvSpPr txBox="1"/>
          <p:nvPr/>
        </p:nvSpPr>
        <p:spPr>
          <a:xfrm>
            <a:off x="822960" y="2103121"/>
            <a:ext cx="1554480"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Students</a:t>
            </a:r>
          </a:p>
        </p:txBody>
      </p:sp>
      <p:sp>
        <p:nvSpPr>
          <p:cNvPr id="6" name="TextBox 5"/>
          <p:cNvSpPr txBox="1"/>
          <p:nvPr/>
        </p:nvSpPr>
        <p:spPr>
          <a:xfrm>
            <a:off x="822960" y="2350009"/>
            <a:ext cx="1554480"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fill, submit, track</a:t>
            </a:r>
          </a:p>
        </p:txBody>
      </p:sp>
      <p:cxnSp>
        <p:nvCxnSpPr>
          <p:cNvPr id="7" name="Connector 6"/>
          <p:cNvCxnSpPr/>
          <p:nvPr/>
        </p:nvCxnSpPr>
        <p:spPr>
          <a:xfrm>
            <a:off x="2377440" y="2331721"/>
            <a:ext cx="228600" cy="0"/>
          </a:xfrm>
          <a:prstGeom prst="line">
            <a:avLst/>
          </a:prstGeom>
          <a:ln w="12700">
            <a:solidFill>
              <a:srgbClr val="6B7480"/>
            </a:solidFill>
          </a:ln>
        </p:spPr>
      </p:cxnSp>
      <p:sp>
        <p:nvSpPr>
          <p:cNvPr id="8" name="Rectangle 7"/>
          <p:cNvSpPr/>
          <p:nvPr/>
        </p:nvSpPr>
        <p:spPr>
          <a:xfrm>
            <a:off x="685800" y="2788921"/>
            <a:ext cx="1691640" cy="640080"/>
          </a:xfrm>
          <a:prstGeom prst="rect">
            <a:avLst/>
          </a:prstGeom>
          <a:solidFill>
            <a:srgbClr val="F4F6F8"/>
          </a:solidFill>
          <a:ln>
            <a:noFill/>
          </a:ln>
          <a:effectLst/>
        </p:spPr>
        <p:txBody>
          <a:bodyPr rtlCol="0" anchor="ctr"/>
          <a:lstStyle/>
          <a:p>
            <a:endParaRPr/>
          </a:p>
        </p:txBody>
      </p:sp>
      <p:sp>
        <p:nvSpPr>
          <p:cNvPr id="9" name="TextBox 8"/>
          <p:cNvSpPr txBox="1"/>
          <p:nvPr/>
        </p:nvSpPr>
        <p:spPr>
          <a:xfrm>
            <a:off x="822960" y="2880361"/>
            <a:ext cx="1554480"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Approvers</a:t>
            </a:r>
          </a:p>
        </p:txBody>
      </p:sp>
      <p:sp>
        <p:nvSpPr>
          <p:cNvPr id="10" name="TextBox 9"/>
          <p:cNvSpPr txBox="1"/>
          <p:nvPr/>
        </p:nvSpPr>
        <p:spPr>
          <a:xfrm>
            <a:off x="822960" y="3127249"/>
            <a:ext cx="1554480"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faculty, HoD, Dean</a:t>
            </a:r>
          </a:p>
        </p:txBody>
      </p:sp>
      <p:cxnSp>
        <p:nvCxnSpPr>
          <p:cNvPr id="11" name="Connector 10"/>
          <p:cNvCxnSpPr/>
          <p:nvPr/>
        </p:nvCxnSpPr>
        <p:spPr>
          <a:xfrm>
            <a:off x="2377440" y="3108961"/>
            <a:ext cx="228600" cy="0"/>
          </a:xfrm>
          <a:prstGeom prst="line">
            <a:avLst/>
          </a:prstGeom>
          <a:ln w="12700">
            <a:solidFill>
              <a:srgbClr val="6B7480"/>
            </a:solidFill>
          </a:ln>
        </p:spPr>
      </p:cxnSp>
      <p:sp>
        <p:nvSpPr>
          <p:cNvPr id="12" name="Rectangle 11"/>
          <p:cNvSpPr/>
          <p:nvPr/>
        </p:nvSpPr>
        <p:spPr>
          <a:xfrm>
            <a:off x="685800" y="3566161"/>
            <a:ext cx="1691640" cy="640080"/>
          </a:xfrm>
          <a:prstGeom prst="rect">
            <a:avLst/>
          </a:prstGeom>
          <a:solidFill>
            <a:srgbClr val="F4F6F8"/>
          </a:solidFill>
          <a:ln>
            <a:noFill/>
          </a:ln>
          <a:effectLst/>
        </p:spPr>
        <p:txBody>
          <a:bodyPr rtlCol="0" anchor="ctr"/>
          <a:lstStyle/>
          <a:p>
            <a:endParaRPr/>
          </a:p>
        </p:txBody>
      </p:sp>
      <p:sp>
        <p:nvSpPr>
          <p:cNvPr id="13" name="TextBox 12"/>
          <p:cNvSpPr txBox="1"/>
          <p:nvPr/>
        </p:nvSpPr>
        <p:spPr>
          <a:xfrm>
            <a:off x="822960" y="3657600"/>
            <a:ext cx="1554480"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Admin office</a:t>
            </a:r>
          </a:p>
        </p:txBody>
      </p:sp>
      <p:sp>
        <p:nvSpPr>
          <p:cNvPr id="14" name="TextBox 13"/>
          <p:cNvSpPr txBox="1"/>
          <p:nvPr/>
        </p:nvSpPr>
        <p:spPr>
          <a:xfrm>
            <a:off x="822960" y="3904489"/>
            <a:ext cx="1554480"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forms, roles, reports</a:t>
            </a:r>
          </a:p>
        </p:txBody>
      </p:sp>
      <p:cxnSp>
        <p:nvCxnSpPr>
          <p:cNvPr id="15" name="Connector 14"/>
          <p:cNvCxnSpPr/>
          <p:nvPr/>
        </p:nvCxnSpPr>
        <p:spPr>
          <a:xfrm>
            <a:off x="2377440" y="3886200"/>
            <a:ext cx="228600" cy="0"/>
          </a:xfrm>
          <a:prstGeom prst="line">
            <a:avLst/>
          </a:prstGeom>
          <a:ln w="12700">
            <a:solidFill>
              <a:srgbClr val="6B7480"/>
            </a:solidFill>
          </a:ln>
        </p:spPr>
      </p:cxnSp>
      <p:sp>
        <p:nvSpPr>
          <p:cNvPr id="16" name="Rectangle 15"/>
          <p:cNvSpPr/>
          <p:nvPr/>
        </p:nvSpPr>
        <p:spPr>
          <a:xfrm>
            <a:off x="685800" y="4343401"/>
            <a:ext cx="1691640" cy="640080"/>
          </a:xfrm>
          <a:prstGeom prst="rect">
            <a:avLst/>
          </a:prstGeom>
          <a:solidFill>
            <a:srgbClr val="F4F6F8"/>
          </a:solidFill>
          <a:ln>
            <a:noFill/>
          </a:ln>
          <a:effectLst/>
        </p:spPr>
        <p:txBody>
          <a:bodyPr rtlCol="0" anchor="ctr"/>
          <a:lstStyle/>
          <a:p>
            <a:endParaRPr/>
          </a:p>
        </p:txBody>
      </p:sp>
      <p:sp>
        <p:nvSpPr>
          <p:cNvPr id="17" name="TextBox 16"/>
          <p:cNvSpPr txBox="1"/>
          <p:nvPr/>
        </p:nvSpPr>
        <p:spPr>
          <a:xfrm>
            <a:off x="822960" y="4434840"/>
            <a:ext cx="1554480"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Verifiers</a:t>
            </a:r>
          </a:p>
        </p:txBody>
      </p:sp>
      <p:sp>
        <p:nvSpPr>
          <p:cNvPr id="18" name="TextBox 17"/>
          <p:cNvSpPr txBox="1"/>
          <p:nvPr/>
        </p:nvSpPr>
        <p:spPr>
          <a:xfrm>
            <a:off x="822960" y="4681729"/>
            <a:ext cx="1554480"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scan the code on a PDF</a:t>
            </a:r>
          </a:p>
        </p:txBody>
      </p:sp>
      <p:cxnSp>
        <p:nvCxnSpPr>
          <p:cNvPr id="19" name="Connector 18"/>
          <p:cNvCxnSpPr/>
          <p:nvPr/>
        </p:nvCxnSpPr>
        <p:spPr>
          <a:xfrm>
            <a:off x="2377440" y="4663440"/>
            <a:ext cx="228600" cy="0"/>
          </a:xfrm>
          <a:prstGeom prst="line">
            <a:avLst/>
          </a:prstGeom>
          <a:ln w="12700">
            <a:solidFill>
              <a:srgbClr val="6B7480"/>
            </a:solidFill>
          </a:ln>
        </p:spPr>
      </p:cxnSp>
      <p:cxnSp>
        <p:nvCxnSpPr>
          <p:cNvPr id="20" name="Connector 19"/>
          <p:cNvCxnSpPr/>
          <p:nvPr/>
        </p:nvCxnSpPr>
        <p:spPr>
          <a:xfrm>
            <a:off x="2606040" y="2331721"/>
            <a:ext cx="0" cy="2331719"/>
          </a:xfrm>
          <a:prstGeom prst="line">
            <a:avLst/>
          </a:prstGeom>
          <a:ln w="12700">
            <a:solidFill>
              <a:srgbClr val="6B7480"/>
            </a:solidFill>
          </a:ln>
        </p:spPr>
      </p:cxnSp>
      <p:sp>
        <p:nvSpPr>
          <p:cNvPr id="21" name="Rectangle 20"/>
          <p:cNvSpPr/>
          <p:nvPr/>
        </p:nvSpPr>
        <p:spPr>
          <a:xfrm>
            <a:off x="2880360" y="1783080"/>
            <a:ext cx="6217919" cy="3566160"/>
          </a:xfrm>
          <a:prstGeom prst="rect">
            <a:avLst/>
          </a:prstGeom>
          <a:noFill/>
          <a:ln w="15875">
            <a:solidFill>
              <a:srgbClr val="E1E4E8"/>
            </a:solidFill>
          </a:ln>
          <a:effectLst/>
        </p:spPr>
        <p:txBody>
          <a:bodyPr rtlCol="0" anchor="ctr"/>
          <a:lstStyle/>
          <a:p>
            <a:endParaRPr/>
          </a:p>
        </p:txBody>
      </p:sp>
      <p:sp>
        <p:nvSpPr>
          <p:cNvPr id="22" name="TextBox 21"/>
          <p:cNvSpPr txBox="1"/>
          <p:nvPr/>
        </p:nvSpPr>
        <p:spPr>
          <a:xfrm>
            <a:off x="3063240" y="1856233"/>
            <a:ext cx="5486400" cy="22860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SemiBold"/>
                <a:ea typeface="Public Sans SemiBold"/>
                <a:cs typeface="Public Sans SemiBold"/>
              </a:rPr>
              <a:t>PaperLess Campus  ·  built with no-code tools</a:t>
            </a:r>
          </a:p>
        </p:txBody>
      </p:sp>
      <p:sp>
        <p:nvSpPr>
          <p:cNvPr id="23" name="Rectangle 22"/>
          <p:cNvSpPr/>
          <p:nvPr/>
        </p:nvSpPr>
        <p:spPr>
          <a:xfrm>
            <a:off x="3108960" y="2121409"/>
            <a:ext cx="5760720" cy="658368"/>
          </a:xfrm>
          <a:prstGeom prst="rect">
            <a:avLst/>
          </a:prstGeom>
          <a:solidFill>
            <a:srgbClr val="FFFFFF"/>
          </a:solidFill>
          <a:ln w="15875">
            <a:solidFill>
              <a:srgbClr val="1D4F91"/>
            </a:solidFill>
          </a:ln>
          <a:effectLst/>
        </p:spPr>
        <p:txBody>
          <a:bodyPr rtlCol="0" anchor="ctr"/>
          <a:lstStyle/>
          <a:p>
            <a:endParaRPr/>
          </a:p>
        </p:txBody>
      </p:sp>
      <p:sp>
        <p:nvSpPr>
          <p:cNvPr id="24" name="TextBox 23"/>
          <p:cNvSpPr txBox="1"/>
          <p:nvPr/>
        </p:nvSpPr>
        <p:spPr>
          <a:xfrm>
            <a:off x="3273552" y="2231137"/>
            <a:ext cx="5486400"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Web app  ·  Lovable</a:t>
            </a:r>
          </a:p>
        </p:txBody>
      </p:sp>
      <p:sp>
        <p:nvSpPr>
          <p:cNvPr id="25" name="TextBox 24"/>
          <p:cNvSpPr txBox="1"/>
          <p:nvPr/>
        </p:nvSpPr>
        <p:spPr>
          <a:xfrm>
            <a:off x="3273552" y="2505457"/>
            <a:ext cx="5486400" cy="246887"/>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Forms  ·  approver inbox  ·  live tracking  ·  no-code form builder  ·  verify page</a:t>
            </a:r>
          </a:p>
        </p:txBody>
      </p:sp>
      <p:cxnSp>
        <p:nvCxnSpPr>
          <p:cNvPr id="26" name="Connector 25"/>
          <p:cNvCxnSpPr/>
          <p:nvPr/>
        </p:nvCxnSpPr>
        <p:spPr>
          <a:xfrm>
            <a:off x="2606040" y="2450593"/>
            <a:ext cx="502920" cy="0"/>
          </a:xfrm>
          <a:prstGeom prst="line">
            <a:avLst/>
          </a:prstGeom>
          <a:ln w="12700">
            <a:solidFill>
              <a:srgbClr val="6B7480"/>
            </a:solidFill>
            <a:tailEnd type="triangle" w="sm" len="sm"/>
          </a:ln>
        </p:spPr>
      </p:cxnSp>
      <p:sp>
        <p:nvSpPr>
          <p:cNvPr id="27" name="Rectangle 26"/>
          <p:cNvSpPr/>
          <p:nvPr/>
        </p:nvSpPr>
        <p:spPr>
          <a:xfrm>
            <a:off x="3108960" y="3154681"/>
            <a:ext cx="2788920" cy="1005840"/>
          </a:xfrm>
          <a:prstGeom prst="rect">
            <a:avLst/>
          </a:prstGeom>
          <a:solidFill>
            <a:srgbClr val="FFFFFF"/>
          </a:solidFill>
          <a:ln w="15875">
            <a:solidFill>
              <a:srgbClr val="1D4F91"/>
            </a:solidFill>
          </a:ln>
          <a:effectLst/>
        </p:spPr>
        <p:txBody>
          <a:bodyPr rtlCol="0" anchor="ctr"/>
          <a:lstStyle/>
          <a:p>
            <a:endParaRPr/>
          </a:p>
        </p:txBody>
      </p:sp>
      <p:sp>
        <p:nvSpPr>
          <p:cNvPr id="28" name="TextBox 27"/>
          <p:cNvSpPr txBox="1"/>
          <p:nvPr/>
        </p:nvSpPr>
        <p:spPr>
          <a:xfrm>
            <a:off x="3273552" y="3264409"/>
            <a:ext cx="2514600"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Workflow engine  ·  n8n</a:t>
            </a:r>
          </a:p>
        </p:txBody>
      </p:sp>
      <p:sp>
        <p:nvSpPr>
          <p:cNvPr id="29" name="TextBox 28"/>
          <p:cNvSpPr txBox="1"/>
          <p:nvPr/>
        </p:nvSpPr>
        <p:spPr>
          <a:xfrm>
            <a:off x="3273552" y="3538729"/>
            <a:ext cx="2514600" cy="59436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Role resolver, SLA timers, escalation, delegation, notifications</a:t>
            </a:r>
          </a:p>
        </p:txBody>
      </p:sp>
      <p:sp>
        <p:nvSpPr>
          <p:cNvPr id="30" name="Rectangle 29"/>
          <p:cNvSpPr/>
          <p:nvPr/>
        </p:nvSpPr>
        <p:spPr>
          <a:xfrm>
            <a:off x="6080760" y="3154681"/>
            <a:ext cx="2788920" cy="1005840"/>
          </a:xfrm>
          <a:prstGeom prst="rect">
            <a:avLst/>
          </a:prstGeom>
          <a:solidFill>
            <a:srgbClr val="FFFFFF"/>
          </a:solidFill>
          <a:ln w="15875">
            <a:solidFill>
              <a:srgbClr val="1D4F91"/>
            </a:solidFill>
          </a:ln>
          <a:effectLst/>
        </p:spPr>
        <p:txBody>
          <a:bodyPr rtlCol="0" anchor="ctr"/>
          <a:lstStyle/>
          <a:p>
            <a:endParaRPr/>
          </a:p>
        </p:txBody>
      </p:sp>
      <p:sp>
        <p:nvSpPr>
          <p:cNvPr id="31" name="TextBox 30"/>
          <p:cNvSpPr txBox="1"/>
          <p:nvPr/>
        </p:nvSpPr>
        <p:spPr>
          <a:xfrm>
            <a:off x="6245352" y="3264409"/>
            <a:ext cx="2514600"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Sign and seal</a:t>
            </a:r>
          </a:p>
        </p:txBody>
      </p:sp>
      <p:sp>
        <p:nvSpPr>
          <p:cNvPr id="32" name="TextBox 31"/>
          <p:cNvSpPr txBox="1"/>
          <p:nvPr/>
        </p:nvSpPr>
        <p:spPr>
          <a:xfrm>
            <a:off x="6245352" y="3538729"/>
            <a:ext cx="2514600" cy="59436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OTP or Aadhaar eSign, signed PDF, SHA-256 fingerprint</a:t>
            </a:r>
          </a:p>
        </p:txBody>
      </p:sp>
      <p:sp>
        <p:nvSpPr>
          <p:cNvPr id="33" name="Rectangle 32"/>
          <p:cNvSpPr/>
          <p:nvPr/>
        </p:nvSpPr>
        <p:spPr>
          <a:xfrm>
            <a:off x="3108960" y="4434841"/>
            <a:ext cx="2423160" cy="731520"/>
          </a:xfrm>
          <a:prstGeom prst="rect">
            <a:avLst/>
          </a:prstGeom>
          <a:solidFill>
            <a:srgbClr val="FFFFFF"/>
          </a:solidFill>
          <a:ln w="15875">
            <a:solidFill>
              <a:srgbClr val="1D4F91"/>
            </a:solidFill>
          </a:ln>
          <a:effectLst/>
        </p:spPr>
        <p:txBody>
          <a:bodyPr rtlCol="0" anchor="ctr"/>
          <a:lstStyle/>
          <a:p>
            <a:endParaRPr/>
          </a:p>
        </p:txBody>
      </p:sp>
      <p:sp>
        <p:nvSpPr>
          <p:cNvPr id="34" name="TextBox 33"/>
          <p:cNvSpPr txBox="1"/>
          <p:nvPr/>
        </p:nvSpPr>
        <p:spPr>
          <a:xfrm>
            <a:off x="3273552" y="4544569"/>
            <a:ext cx="2148840"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Data  ·  Supabase</a:t>
            </a:r>
          </a:p>
        </p:txBody>
      </p:sp>
      <p:sp>
        <p:nvSpPr>
          <p:cNvPr id="35" name="TextBox 34"/>
          <p:cNvSpPr txBox="1"/>
          <p:nvPr/>
        </p:nvSpPr>
        <p:spPr>
          <a:xfrm>
            <a:off x="3273552" y="4818889"/>
            <a:ext cx="2148840" cy="32004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Postgres, Auth, audit log</a:t>
            </a:r>
          </a:p>
        </p:txBody>
      </p:sp>
      <p:sp>
        <p:nvSpPr>
          <p:cNvPr id="36" name="Rectangle 35"/>
          <p:cNvSpPr/>
          <p:nvPr/>
        </p:nvSpPr>
        <p:spPr>
          <a:xfrm>
            <a:off x="6080760" y="4434841"/>
            <a:ext cx="2788920" cy="731520"/>
          </a:xfrm>
          <a:prstGeom prst="rect">
            <a:avLst/>
          </a:prstGeom>
          <a:solidFill>
            <a:srgbClr val="FFFFFF"/>
          </a:solidFill>
          <a:ln w="15875">
            <a:solidFill>
              <a:srgbClr val="6B7480"/>
            </a:solidFill>
            <a:prstDash val="dash"/>
          </a:ln>
          <a:effectLst/>
        </p:spPr>
        <p:txBody>
          <a:bodyPr rtlCol="0" anchor="ctr"/>
          <a:lstStyle/>
          <a:p>
            <a:endParaRPr/>
          </a:p>
        </p:txBody>
      </p:sp>
      <p:sp>
        <p:nvSpPr>
          <p:cNvPr id="37" name="TextBox 36"/>
          <p:cNvSpPr txBox="1"/>
          <p:nvPr/>
        </p:nvSpPr>
        <p:spPr>
          <a:xfrm>
            <a:off x="6245352" y="4544569"/>
            <a:ext cx="2514600"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AI assist  ·  optional</a:t>
            </a:r>
          </a:p>
        </p:txBody>
      </p:sp>
      <p:sp>
        <p:nvSpPr>
          <p:cNvPr id="38" name="TextBox 37"/>
          <p:cNvSpPr txBox="1"/>
          <p:nvPr/>
        </p:nvSpPr>
        <p:spPr>
          <a:xfrm>
            <a:off x="6245352" y="4818889"/>
            <a:ext cx="2514600" cy="32004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Suggestions and summaries</a:t>
            </a:r>
          </a:p>
        </p:txBody>
      </p:sp>
      <p:cxnSp>
        <p:nvCxnSpPr>
          <p:cNvPr id="39" name="Connector 38"/>
          <p:cNvCxnSpPr/>
          <p:nvPr/>
        </p:nvCxnSpPr>
        <p:spPr>
          <a:xfrm>
            <a:off x="4206240" y="2779777"/>
            <a:ext cx="0" cy="374904"/>
          </a:xfrm>
          <a:prstGeom prst="line">
            <a:avLst/>
          </a:prstGeom>
          <a:ln w="15875">
            <a:solidFill>
              <a:srgbClr val="1D4F91"/>
            </a:solidFill>
            <a:tailEnd type="triangle" w="sm" len="sm"/>
          </a:ln>
        </p:spPr>
      </p:cxnSp>
      <p:sp>
        <p:nvSpPr>
          <p:cNvPr id="40" name="TextBox 39"/>
          <p:cNvSpPr txBox="1"/>
          <p:nvPr/>
        </p:nvSpPr>
        <p:spPr>
          <a:xfrm>
            <a:off x="4315968" y="2852929"/>
            <a:ext cx="1463040" cy="228600"/>
          </a:xfrm>
          <a:prstGeom prst="rect">
            <a:avLst/>
          </a:prstGeom>
          <a:noFill/>
        </p:spPr>
        <p:txBody>
          <a:bodyPr wrap="square" lIns="0" tIns="0" rIns="0" bIns="0" anchor="t"/>
          <a:lstStyle/>
          <a:p>
            <a:pPr algn="l">
              <a:lnSpc>
                <a:spcPct val="110000"/>
              </a:lnSpc>
              <a:spcAft>
                <a:spcPts val="0"/>
              </a:spcAft>
            </a:pPr>
            <a:r>
              <a:rPr sz="900">
                <a:solidFill>
                  <a:srgbClr val="6B7480"/>
                </a:solidFill>
                <a:latin typeface="Public Sans Regular"/>
                <a:ea typeface="Public Sans Regular"/>
                <a:cs typeface="Public Sans Regular"/>
              </a:rPr>
              <a:t>submit, approve</a:t>
            </a:r>
          </a:p>
        </p:txBody>
      </p:sp>
      <p:cxnSp>
        <p:nvCxnSpPr>
          <p:cNvPr id="41" name="Connector 40"/>
          <p:cNvCxnSpPr/>
          <p:nvPr/>
        </p:nvCxnSpPr>
        <p:spPr>
          <a:xfrm>
            <a:off x="5897880" y="3657600"/>
            <a:ext cx="182880" cy="0"/>
          </a:xfrm>
          <a:prstGeom prst="line">
            <a:avLst/>
          </a:prstGeom>
          <a:ln w="15875">
            <a:solidFill>
              <a:srgbClr val="1D4F91"/>
            </a:solidFill>
            <a:tailEnd type="triangle" w="sm" len="sm"/>
          </a:ln>
        </p:spPr>
      </p:cxnSp>
      <p:cxnSp>
        <p:nvCxnSpPr>
          <p:cNvPr id="42" name="Connector 41"/>
          <p:cNvCxnSpPr/>
          <p:nvPr/>
        </p:nvCxnSpPr>
        <p:spPr>
          <a:xfrm>
            <a:off x="4206240" y="4160521"/>
            <a:ext cx="0" cy="274320"/>
          </a:xfrm>
          <a:prstGeom prst="line">
            <a:avLst/>
          </a:prstGeom>
          <a:ln w="15875">
            <a:solidFill>
              <a:srgbClr val="1D4F91"/>
            </a:solidFill>
            <a:tailEnd type="triangle" w="sm" len="sm"/>
          </a:ln>
        </p:spPr>
      </p:cxnSp>
      <p:sp>
        <p:nvSpPr>
          <p:cNvPr id="43" name="TextBox 42"/>
          <p:cNvSpPr txBox="1"/>
          <p:nvPr/>
        </p:nvSpPr>
        <p:spPr>
          <a:xfrm>
            <a:off x="4315968" y="4197097"/>
            <a:ext cx="1463040" cy="228600"/>
          </a:xfrm>
          <a:prstGeom prst="rect">
            <a:avLst/>
          </a:prstGeom>
          <a:noFill/>
        </p:spPr>
        <p:txBody>
          <a:bodyPr wrap="square" lIns="0" tIns="0" rIns="0" bIns="0" anchor="t"/>
          <a:lstStyle/>
          <a:p>
            <a:pPr algn="l">
              <a:lnSpc>
                <a:spcPct val="110000"/>
              </a:lnSpc>
              <a:spcAft>
                <a:spcPts val="0"/>
              </a:spcAft>
            </a:pPr>
            <a:r>
              <a:rPr sz="900">
                <a:solidFill>
                  <a:srgbClr val="6B7480"/>
                </a:solidFill>
                <a:latin typeface="Public Sans Regular"/>
                <a:ea typeface="Public Sans Regular"/>
                <a:cs typeface="Public Sans Regular"/>
              </a:rPr>
              <a:t>store, audit</a:t>
            </a:r>
          </a:p>
        </p:txBody>
      </p:sp>
      <p:sp>
        <p:nvSpPr>
          <p:cNvPr id="44" name="Freeform 43"/>
          <p:cNvSpPr/>
          <p:nvPr/>
        </p:nvSpPr>
        <p:spPr>
          <a:xfrm>
            <a:off x="5669280" y="4160521"/>
            <a:ext cx="411480" cy="640080"/>
          </a:xfrm>
          <a:custGeom>
            <a:avLst/>
            <a:gdLst/>
            <a:ahLst/>
            <a:cxnLst/>
            <a:rect l="l" t="t" r="r" b="b"/>
            <a:pathLst>
              <a:path w="411480" h="640080">
                <a:moveTo>
                  <a:pt x="0" y="0"/>
                </a:moveTo>
                <a:lnTo>
                  <a:pt x="0" y="640080"/>
                </a:lnTo>
                <a:lnTo>
                  <a:pt x="411480" y="640080"/>
                </a:lnTo>
              </a:path>
            </a:pathLst>
          </a:custGeom>
          <a:noFill/>
          <a:ln w="12700" cap="rnd">
            <a:solidFill>
              <a:srgbClr val="6B7480"/>
            </a:solidFill>
            <a:prstDash val="dash"/>
            <a:round/>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a:off x="8869680" y="3657600"/>
            <a:ext cx="685800" cy="0"/>
          </a:xfrm>
          <a:prstGeom prst="line">
            <a:avLst/>
          </a:prstGeom>
          <a:ln w="19050">
            <a:solidFill>
              <a:srgbClr val="1D4F91"/>
            </a:solidFill>
            <a:tailEnd type="triangle" w="sm" len="sm"/>
          </a:ln>
        </p:spPr>
      </p:cxnSp>
      <p:sp>
        <p:nvSpPr>
          <p:cNvPr id="46" name="TextBox 45"/>
          <p:cNvSpPr txBox="1"/>
          <p:nvPr/>
        </p:nvSpPr>
        <p:spPr>
          <a:xfrm>
            <a:off x="8897112" y="3401569"/>
            <a:ext cx="685800" cy="228600"/>
          </a:xfrm>
          <a:prstGeom prst="rect">
            <a:avLst/>
          </a:prstGeom>
          <a:noFill/>
        </p:spPr>
        <p:txBody>
          <a:bodyPr wrap="square" lIns="0" tIns="0" rIns="0" bIns="0" anchor="t"/>
          <a:lstStyle/>
          <a:p>
            <a:pPr algn="ctr">
              <a:lnSpc>
                <a:spcPct val="110000"/>
              </a:lnSpc>
              <a:spcAft>
                <a:spcPts val="0"/>
              </a:spcAft>
            </a:pPr>
            <a:r>
              <a:rPr sz="900">
                <a:solidFill>
                  <a:srgbClr val="1D4F91"/>
                </a:solidFill>
                <a:latin typeface="IBM Plex Mono Regular"/>
                <a:ea typeface="IBM Plex Mono Regular"/>
                <a:cs typeface="IBM Plex Mono Regular"/>
              </a:rPr>
              <a:t>hash</a:t>
            </a:r>
          </a:p>
        </p:txBody>
      </p:sp>
      <p:sp>
        <p:nvSpPr>
          <p:cNvPr id="47" name="Rectangle 46"/>
          <p:cNvSpPr/>
          <p:nvPr/>
        </p:nvSpPr>
        <p:spPr>
          <a:xfrm>
            <a:off x="9555480" y="3154681"/>
            <a:ext cx="1950415" cy="1005840"/>
          </a:xfrm>
          <a:prstGeom prst="rect">
            <a:avLst/>
          </a:prstGeom>
          <a:solidFill>
            <a:srgbClr val="1D4F91"/>
          </a:solidFill>
          <a:ln>
            <a:noFill/>
          </a:ln>
          <a:effectLst/>
        </p:spPr>
        <p:txBody>
          <a:bodyPr rtlCol="0" anchor="ctr"/>
          <a:lstStyle/>
          <a:p>
            <a:endParaRPr/>
          </a:p>
        </p:txBody>
      </p:sp>
      <p:sp>
        <p:nvSpPr>
          <p:cNvPr id="48" name="TextBox 47"/>
          <p:cNvSpPr txBox="1"/>
          <p:nvPr/>
        </p:nvSpPr>
        <p:spPr>
          <a:xfrm>
            <a:off x="9720072" y="3264409"/>
            <a:ext cx="1737360" cy="256032"/>
          </a:xfrm>
          <a:prstGeom prst="rect">
            <a:avLst/>
          </a:prstGeom>
          <a:noFill/>
        </p:spPr>
        <p:txBody>
          <a:bodyPr wrap="square" lIns="0" tIns="0" rIns="0" bIns="0" anchor="t"/>
          <a:lstStyle/>
          <a:p>
            <a:pPr algn="l">
              <a:lnSpc>
                <a:spcPct val="110000"/>
              </a:lnSpc>
              <a:spcAft>
                <a:spcPts val="0"/>
              </a:spcAft>
            </a:pPr>
            <a:r>
              <a:rPr sz="1200">
                <a:solidFill>
                  <a:srgbClr val="FFFFFF"/>
                </a:solidFill>
                <a:latin typeface="Public Sans SemiBold"/>
                <a:ea typeface="Public Sans SemiBold"/>
                <a:cs typeface="Public Sans SemiBold"/>
              </a:rPr>
              <a:t>Blockchain</a:t>
            </a:r>
          </a:p>
        </p:txBody>
      </p:sp>
      <p:sp>
        <p:nvSpPr>
          <p:cNvPr id="49" name="TextBox 48"/>
          <p:cNvSpPr txBox="1"/>
          <p:nvPr/>
        </p:nvSpPr>
        <p:spPr>
          <a:xfrm>
            <a:off x="9720072" y="3538729"/>
            <a:ext cx="1737360" cy="548640"/>
          </a:xfrm>
          <a:prstGeom prst="rect">
            <a:avLst/>
          </a:prstGeom>
          <a:noFill/>
        </p:spPr>
        <p:txBody>
          <a:bodyPr wrap="square" lIns="0" tIns="0" rIns="0" bIns="0" anchor="t"/>
          <a:lstStyle/>
          <a:p>
            <a:pPr algn="l">
              <a:lnSpc>
                <a:spcPct val="110000"/>
              </a:lnSpc>
              <a:spcAft>
                <a:spcPts val="0"/>
              </a:spcAft>
            </a:pPr>
            <a:r>
              <a:rPr sz="1100">
                <a:solidFill>
                  <a:srgbClr val="DCE6F2"/>
                </a:solidFill>
                <a:latin typeface="Public Sans Regular"/>
                <a:ea typeface="Public Sans Regular"/>
                <a:cs typeface="Public Sans Regular"/>
              </a:rPr>
              <a:t>Polygon Amoy (MVP); consortium chain at scale</a:t>
            </a:r>
          </a:p>
        </p:txBody>
      </p:sp>
      <p:sp>
        <p:nvSpPr>
          <p:cNvPr id="50" name="TextBox 49"/>
          <p:cNvSpPr txBox="1"/>
          <p:nvPr/>
        </p:nvSpPr>
        <p:spPr>
          <a:xfrm>
            <a:off x="9555480" y="4297681"/>
            <a:ext cx="1950415" cy="731520"/>
          </a:xfrm>
          <a:prstGeom prst="rect">
            <a:avLst/>
          </a:prstGeom>
          <a:noFill/>
        </p:spPr>
        <p:txBody>
          <a:bodyPr wrap="square" lIns="0" tIns="0" rIns="0" bIns="0" anchor="t"/>
          <a:lstStyle/>
          <a:p>
            <a:pPr algn="l">
              <a:lnSpc>
                <a:spcPct val="110000"/>
              </a:lnSpc>
              <a:spcAft>
                <a:spcPts val="0"/>
              </a:spcAft>
            </a:pPr>
            <a:r>
              <a:rPr sz="1100">
                <a:solidFill>
                  <a:srgbClr val="1D4F91"/>
                </a:solidFill>
                <a:latin typeface="Public Sans SemiBold"/>
                <a:ea typeface="Public Sans SemiBold"/>
                <a:cs typeface="Public Sans SemiBold"/>
              </a:rPr>
              <a:t>Holds hash, roles and timestamps only. No personal data on chain.</a:t>
            </a:r>
          </a:p>
        </p:txBody>
      </p:sp>
      <p:cxnSp>
        <p:nvCxnSpPr>
          <p:cNvPr id="51" name="Connector 50"/>
          <p:cNvCxnSpPr/>
          <p:nvPr/>
        </p:nvCxnSpPr>
        <p:spPr>
          <a:xfrm>
            <a:off x="5989320" y="5349241"/>
            <a:ext cx="0" cy="228600"/>
          </a:xfrm>
          <a:prstGeom prst="line">
            <a:avLst/>
          </a:prstGeom>
          <a:ln w="12700">
            <a:solidFill>
              <a:srgbClr val="6B7480"/>
            </a:solidFill>
          </a:ln>
        </p:spPr>
      </p:cxnSp>
      <p:sp>
        <p:nvSpPr>
          <p:cNvPr id="52" name="Rectangle 51"/>
          <p:cNvSpPr/>
          <p:nvPr/>
        </p:nvSpPr>
        <p:spPr>
          <a:xfrm>
            <a:off x="2880360" y="5577841"/>
            <a:ext cx="8625535" cy="384048"/>
          </a:xfrm>
          <a:prstGeom prst="rect">
            <a:avLst/>
          </a:prstGeom>
          <a:noFill/>
          <a:ln w="12700">
            <a:solidFill>
              <a:srgbClr val="E1E4E8"/>
            </a:solidFill>
          </a:ln>
          <a:effectLst/>
        </p:spPr>
        <p:txBody>
          <a:bodyPr rtlCol="0" anchor="ctr"/>
          <a:lstStyle/>
          <a:p>
            <a:endParaRPr/>
          </a:p>
        </p:txBody>
      </p:sp>
      <p:sp>
        <p:nvSpPr>
          <p:cNvPr id="53" name="TextBox 52"/>
          <p:cNvSpPr txBox="1"/>
          <p:nvPr/>
        </p:nvSpPr>
        <p:spPr>
          <a:xfrm>
            <a:off x="3063240" y="5577841"/>
            <a:ext cx="8351215" cy="384048"/>
          </a:xfrm>
          <a:prstGeom prst="rect">
            <a:avLst/>
          </a:prstGeom>
          <a:noFill/>
        </p:spPr>
        <p:txBody>
          <a:bodyPr wrap="square" lIns="0" tIns="0" rIns="0" bIns="0" anchor="ctr"/>
          <a:lstStyle/>
          <a:p>
            <a:pPr algn="l">
              <a:lnSpc>
                <a:spcPct val="110000"/>
              </a:lnSpc>
              <a:spcAft>
                <a:spcPts val="0"/>
              </a:spcAft>
            </a:pPr>
            <a:r>
              <a:rPr sz="1100">
                <a:solidFill>
                  <a:srgbClr val="5A6370"/>
                </a:solidFill>
                <a:latin typeface="Public Sans SemiBold"/>
                <a:ea typeface="Public Sans SemiBold"/>
                <a:cs typeface="Public Sans SemiBold"/>
              </a:rPr>
              <a:t>Connects to     </a:t>
            </a:r>
            <a:r>
              <a:rPr sz="1200">
                <a:solidFill>
                  <a:srgbClr val="101418"/>
                </a:solidFill>
                <a:latin typeface="Public Sans Regular"/>
                <a:ea typeface="Public Sans Regular"/>
                <a:cs typeface="Public Sans Regular"/>
              </a:rPr>
              <a:t>Aadhaar eSign  ·  DigiLocker  ·  APAAR ID  ·  WhatsApp and email  ·  Samarth / college ERP</a:t>
            </a:r>
          </a:p>
        </p:txBody>
      </p:sp>
      <p:sp>
        <p:nvSpPr>
          <p:cNvPr id="54" name="ftr"/>
          <p:cNvSpPr txBox="1"/>
          <p:nvPr/>
        </p:nvSpPr>
        <p:spPr>
          <a:xfrm>
            <a:off x="10591495" y="6400800"/>
            <a:ext cx="914400" cy="274320"/>
          </a:xfrm>
          <a:prstGeom prst="rect">
            <a:avLst/>
          </a:prstGeom>
          <a:noFill/>
        </p:spPr>
        <p:txBody>
          <a:bodyPr wrap="square" lIns="0" tIns="0" rIns="0" bIns="0" anchor="t"/>
          <a:lstStyle/>
          <a:p>
            <a:pPr algn="r">
              <a:lnSpc>
                <a:spcPct val="110000"/>
              </a:lnSpc>
              <a:spcAft>
                <a:spcPts val="0"/>
              </a:spcAft>
            </a:pPr>
            <a:r>
              <a:rPr sz="900">
                <a:solidFill>
                  <a:srgbClr val="6B7480"/>
                </a:solidFill>
                <a:latin typeface="Public Sans Regular"/>
                <a:ea typeface="Public Sans Regular"/>
                <a:cs typeface="Public Sans Regular"/>
              </a:rPr>
              <a:t>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dr"/>
          <p:cNvSpPr txBox="1"/>
          <p:nvPr/>
        </p:nvSpPr>
        <p:spPr>
          <a:xfrm>
            <a:off x="685800" y="502920"/>
            <a:ext cx="10820095" cy="457200"/>
          </a:xfrm>
          <a:prstGeom prst="rect">
            <a:avLst/>
          </a:prstGeom>
          <a:noFill/>
        </p:spPr>
        <p:txBody>
          <a:bodyPr wrap="square" lIns="0" tIns="0" rIns="0" bIns="0" anchor="t"/>
          <a:lstStyle/>
          <a:p>
            <a:pPr algn="l">
              <a:lnSpc>
                <a:spcPct val="100000"/>
              </a:lnSpc>
              <a:spcAft>
                <a:spcPts val="0"/>
              </a:spcAft>
            </a:pPr>
            <a:r>
              <a:rPr sz="2800">
                <a:solidFill>
                  <a:srgbClr val="101418"/>
                </a:solidFill>
                <a:latin typeface="Public Sans Bold"/>
                <a:ea typeface="Public Sans Bold"/>
                <a:cs typeface="Public Sans Bold"/>
              </a:rPr>
              <a:t>Tech Stack</a:t>
            </a:r>
          </a:p>
        </p:txBody>
      </p:sp>
      <p:sp>
        <p:nvSpPr>
          <p:cNvPr id="3" name="hdr"/>
          <p:cNvSpPr txBox="1"/>
          <p:nvPr/>
        </p:nvSpPr>
        <p:spPr>
          <a:xfrm>
            <a:off x="685800" y="987552"/>
            <a:ext cx="10820095" cy="320040"/>
          </a:xfrm>
          <a:prstGeom prst="rect">
            <a:avLst/>
          </a:prstGeom>
          <a:noFill/>
        </p:spPr>
        <p:txBody>
          <a:bodyPr wrap="square" lIns="0" tIns="0" rIns="0" bIns="0" anchor="t"/>
          <a:lstStyle/>
          <a:p>
            <a:pPr algn="l">
              <a:lnSpc>
                <a:spcPct val="110000"/>
              </a:lnSpc>
              <a:spcAft>
                <a:spcPts val="0"/>
              </a:spcAft>
            </a:pPr>
            <a:r>
              <a:rPr sz="1800">
                <a:solidFill>
                  <a:srgbClr val="5A6370"/>
                </a:solidFill>
                <a:latin typeface="Public Sans Regular"/>
                <a:ea typeface="Public Sans Regular"/>
                <a:cs typeface="Public Sans Regular"/>
              </a:rPr>
              <a:t>Every layer is no-code or AI-prompted, so a college IT cell can run it without developers.</a:t>
            </a:r>
          </a:p>
        </p:txBody>
      </p:sp>
      <p:sp>
        <p:nvSpPr>
          <p:cNvPr id="4" name="TextBox 3"/>
          <p:cNvSpPr txBox="1"/>
          <p:nvPr/>
        </p:nvSpPr>
        <p:spPr>
          <a:xfrm>
            <a:off x="685800" y="1783080"/>
            <a:ext cx="2148840"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SemiBold"/>
                <a:ea typeface="Public Sans SemiBold"/>
                <a:cs typeface="Public Sans SemiBold"/>
              </a:rPr>
              <a:t>Layer</a:t>
            </a:r>
          </a:p>
        </p:txBody>
      </p:sp>
      <p:sp>
        <p:nvSpPr>
          <p:cNvPr id="5" name="TextBox 4"/>
          <p:cNvSpPr txBox="1"/>
          <p:nvPr/>
        </p:nvSpPr>
        <p:spPr>
          <a:xfrm>
            <a:off x="2926080" y="1783080"/>
            <a:ext cx="2331720"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SemiBold"/>
                <a:ea typeface="Public Sans SemiBold"/>
                <a:cs typeface="Public Sans SemiBold"/>
              </a:rPr>
              <a:t>Primary tool</a:t>
            </a:r>
          </a:p>
        </p:txBody>
      </p:sp>
      <p:sp>
        <p:nvSpPr>
          <p:cNvPr id="6" name="TextBox 5"/>
          <p:cNvSpPr txBox="1"/>
          <p:nvPr/>
        </p:nvSpPr>
        <p:spPr>
          <a:xfrm>
            <a:off x="5349240" y="1783080"/>
            <a:ext cx="1600200"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SemiBold"/>
                <a:ea typeface="Public Sans SemiBold"/>
                <a:cs typeface="Public Sans SemiBold"/>
              </a:rPr>
              <a:t>Backup</a:t>
            </a:r>
          </a:p>
        </p:txBody>
      </p:sp>
      <p:sp>
        <p:nvSpPr>
          <p:cNvPr id="7" name="TextBox 6"/>
          <p:cNvSpPr txBox="1"/>
          <p:nvPr/>
        </p:nvSpPr>
        <p:spPr>
          <a:xfrm>
            <a:off x="7040880" y="1783080"/>
            <a:ext cx="3520440"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SemiBold"/>
                <a:ea typeface="Public Sans SemiBold"/>
                <a:cs typeface="Public Sans SemiBold"/>
              </a:rPr>
              <a:t>Role in PaperLess Campus</a:t>
            </a:r>
          </a:p>
        </p:txBody>
      </p:sp>
      <p:sp>
        <p:nvSpPr>
          <p:cNvPr id="8" name="TextBox 7"/>
          <p:cNvSpPr txBox="1"/>
          <p:nvPr/>
        </p:nvSpPr>
        <p:spPr>
          <a:xfrm>
            <a:off x="10637215" y="1783080"/>
            <a:ext cx="868680" cy="256032"/>
          </a:xfrm>
          <a:prstGeom prst="rect">
            <a:avLst/>
          </a:prstGeom>
          <a:noFill/>
        </p:spPr>
        <p:txBody>
          <a:bodyPr wrap="square" lIns="0" tIns="0" rIns="0" bIns="0" anchor="t"/>
          <a:lstStyle/>
          <a:p>
            <a:pPr algn="r">
              <a:lnSpc>
                <a:spcPct val="110000"/>
              </a:lnSpc>
              <a:spcAft>
                <a:spcPts val="0"/>
              </a:spcAft>
            </a:pPr>
            <a:r>
              <a:rPr sz="1100">
                <a:solidFill>
                  <a:srgbClr val="5A6370"/>
                </a:solidFill>
                <a:latin typeface="Public Sans SemiBold"/>
                <a:ea typeface="Public Sans SemiBold"/>
                <a:cs typeface="Public Sans SemiBold"/>
              </a:rPr>
              <a:t>Type</a:t>
            </a:r>
          </a:p>
        </p:txBody>
      </p:sp>
      <p:cxnSp>
        <p:nvCxnSpPr>
          <p:cNvPr id="9" name="Connector 8"/>
          <p:cNvCxnSpPr/>
          <p:nvPr/>
        </p:nvCxnSpPr>
        <p:spPr>
          <a:xfrm>
            <a:off x="685800" y="2084831"/>
            <a:ext cx="10820095" cy="0"/>
          </a:xfrm>
          <a:prstGeom prst="line">
            <a:avLst/>
          </a:prstGeom>
          <a:ln w="12700">
            <a:solidFill>
              <a:srgbClr val="101418"/>
            </a:solidFill>
          </a:ln>
        </p:spPr>
      </p:cxnSp>
      <p:sp>
        <p:nvSpPr>
          <p:cNvPr id="10" name="TextBox 9"/>
          <p:cNvSpPr txBox="1"/>
          <p:nvPr/>
        </p:nvSpPr>
        <p:spPr>
          <a:xfrm>
            <a:off x="777240" y="2167128"/>
            <a:ext cx="2103120" cy="365759"/>
          </a:xfrm>
          <a:prstGeom prst="rect">
            <a:avLst/>
          </a:prstGeom>
          <a:noFill/>
        </p:spPr>
        <p:txBody>
          <a:bodyPr wrap="square" lIns="0" tIns="0" rIns="0" bIns="0" anchor="ctr"/>
          <a:lstStyle/>
          <a:p>
            <a:pPr algn="l">
              <a:lnSpc>
                <a:spcPct val="110000"/>
              </a:lnSpc>
              <a:spcAft>
                <a:spcPts val="0"/>
              </a:spcAft>
            </a:pPr>
            <a:r>
              <a:rPr sz="1200">
                <a:solidFill>
                  <a:srgbClr val="101418"/>
                </a:solidFill>
                <a:latin typeface="Public Sans SemiBold"/>
                <a:ea typeface="Public Sans SemiBold"/>
                <a:cs typeface="Public Sans SemiBold"/>
              </a:rPr>
              <a:t>Web app</a:t>
            </a:r>
          </a:p>
        </p:txBody>
      </p:sp>
      <p:sp>
        <p:nvSpPr>
          <p:cNvPr id="11" name="TextBox 10"/>
          <p:cNvSpPr txBox="1"/>
          <p:nvPr/>
        </p:nvSpPr>
        <p:spPr>
          <a:xfrm>
            <a:off x="2926080" y="2167128"/>
            <a:ext cx="2331720" cy="365759"/>
          </a:xfrm>
          <a:prstGeom prst="rect">
            <a:avLst/>
          </a:prstGeom>
          <a:noFill/>
        </p:spPr>
        <p:txBody>
          <a:bodyPr wrap="square" lIns="0" tIns="0" rIns="0" bIns="0" anchor="ctr"/>
          <a:lstStyle/>
          <a:p>
            <a:pPr algn="l">
              <a:lnSpc>
                <a:spcPct val="110000"/>
              </a:lnSpc>
              <a:spcAft>
                <a:spcPts val="0"/>
              </a:spcAft>
            </a:pPr>
            <a:r>
              <a:rPr sz="1200">
                <a:solidFill>
                  <a:srgbClr val="1D4F91"/>
                </a:solidFill>
                <a:latin typeface="Public Sans SemiBold"/>
                <a:ea typeface="Public Sans SemiBold"/>
                <a:cs typeface="Public Sans SemiBold"/>
              </a:rPr>
              <a:t>Lovable</a:t>
            </a:r>
          </a:p>
        </p:txBody>
      </p:sp>
      <p:sp>
        <p:nvSpPr>
          <p:cNvPr id="12" name="TextBox 11"/>
          <p:cNvSpPr txBox="1"/>
          <p:nvPr/>
        </p:nvSpPr>
        <p:spPr>
          <a:xfrm>
            <a:off x="5349240" y="2167128"/>
            <a:ext cx="160020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Softr</a:t>
            </a:r>
          </a:p>
        </p:txBody>
      </p:sp>
      <p:sp>
        <p:nvSpPr>
          <p:cNvPr id="13" name="TextBox 12"/>
          <p:cNvSpPr txBox="1"/>
          <p:nvPr/>
        </p:nvSpPr>
        <p:spPr>
          <a:xfrm>
            <a:off x="7040880" y="2167128"/>
            <a:ext cx="352044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Student, approver, admin and verify screens</a:t>
            </a:r>
          </a:p>
        </p:txBody>
      </p:sp>
      <p:sp>
        <p:nvSpPr>
          <p:cNvPr id="14" name="TextBox 13"/>
          <p:cNvSpPr txBox="1"/>
          <p:nvPr/>
        </p:nvSpPr>
        <p:spPr>
          <a:xfrm>
            <a:off x="10591495" y="2167128"/>
            <a:ext cx="841248" cy="365759"/>
          </a:xfrm>
          <a:prstGeom prst="rect">
            <a:avLst/>
          </a:prstGeom>
          <a:noFill/>
        </p:spPr>
        <p:txBody>
          <a:bodyPr wrap="square" lIns="0" tIns="0" rIns="0" bIns="0" anchor="ctr"/>
          <a:lstStyle/>
          <a:p>
            <a:pPr algn="r">
              <a:lnSpc>
                <a:spcPct val="110000"/>
              </a:lnSpc>
              <a:spcAft>
                <a:spcPts val="0"/>
              </a:spcAft>
            </a:pPr>
            <a:r>
              <a:rPr sz="1100">
                <a:solidFill>
                  <a:srgbClr val="1D4F91"/>
                </a:solidFill>
                <a:latin typeface="Public Sans SemiBold"/>
                <a:ea typeface="Public Sans SemiBold"/>
                <a:cs typeface="Public Sans SemiBold"/>
              </a:rPr>
              <a:t>No-code</a:t>
            </a:r>
          </a:p>
        </p:txBody>
      </p:sp>
      <p:cxnSp>
        <p:nvCxnSpPr>
          <p:cNvPr id="15" name="Connector 14"/>
          <p:cNvCxnSpPr/>
          <p:nvPr/>
        </p:nvCxnSpPr>
        <p:spPr>
          <a:xfrm>
            <a:off x="685800" y="2569464"/>
            <a:ext cx="10820095" cy="0"/>
          </a:xfrm>
          <a:prstGeom prst="line">
            <a:avLst/>
          </a:prstGeom>
          <a:ln w="9525">
            <a:solidFill>
              <a:srgbClr val="E1E4E8"/>
            </a:solidFill>
          </a:ln>
        </p:spPr>
      </p:cxnSp>
      <p:sp>
        <p:nvSpPr>
          <p:cNvPr id="16" name="TextBox 15"/>
          <p:cNvSpPr txBox="1"/>
          <p:nvPr/>
        </p:nvSpPr>
        <p:spPr>
          <a:xfrm>
            <a:off x="777240" y="2606040"/>
            <a:ext cx="2103120" cy="365759"/>
          </a:xfrm>
          <a:prstGeom prst="rect">
            <a:avLst/>
          </a:prstGeom>
          <a:noFill/>
        </p:spPr>
        <p:txBody>
          <a:bodyPr wrap="square" lIns="0" tIns="0" rIns="0" bIns="0" anchor="ctr"/>
          <a:lstStyle/>
          <a:p>
            <a:pPr algn="l">
              <a:lnSpc>
                <a:spcPct val="110000"/>
              </a:lnSpc>
              <a:spcAft>
                <a:spcPts val="0"/>
              </a:spcAft>
            </a:pPr>
            <a:r>
              <a:rPr sz="1200">
                <a:solidFill>
                  <a:srgbClr val="101418"/>
                </a:solidFill>
                <a:latin typeface="Public Sans SemiBold"/>
                <a:ea typeface="Public Sans SemiBold"/>
                <a:cs typeface="Public Sans SemiBold"/>
              </a:rPr>
              <a:t>Workflow and routing</a:t>
            </a:r>
          </a:p>
        </p:txBody>
      </p:sp>
      <p:sp>
        <p:nvSpPr>
          <p:cNvPr id="17" name="TextBox 16"/>
          <p:cNvSpPr txBox="1"/>
          <p:nvPr/>
        </p:nvSpPr>
        <p:spPr>
          <a:xfrm>
            <a:off x="2926080" y="2606040"/>
            <a:ext cx="2331720" cy="365759"/>
          </a:xfrm>
          <a:prstGeom prst="rect">
            <a:avLst/>
          </a:prstGeom>
          <a:noFill/>
        </p:spPr>
        <p:txBody>
          <a:bodyPr wrap="square" lIns="0" tIns="0" rIns="0" bIns="0" anchor="ctr"/>
          <a:lstStyle/>
          <a:p>
            <a:pPr algn="l">
              <a:lnSpc>
                <a:spcPct val="110000"/>
              </a:lnSpc>
              <a:spcAft>
                <a:spcPts val="0"/>
              </a:spcAft>
            </a:pPr>
            <a:r>
              <a:rPr sz="1200">
                <a:solidFill>
                  <a:srgbClr val="1D4F91"/>
                </a:solidFill>
                <a:latin typeface="Public Sans SemiBold"/>
                <a:ea typeface="Public Sans SemiBold"/>
                <a:cs typeface="Public Sans SemiBold"/>
              </a:rPr>
              <a:t>n8n</a:t>
            </a:r>
          </a:p>
        </p:txBody>
      </p:sp>
      <p:sp>
        <p:nvSpPr>
          <p:cNvPr id="18" name="TextBox 17"/>
          <p:cNvSpPr txBox="1"/>
          <p:nvPr/>
        </p:nvSpPr>
        <p:spPr>
          <a:xfrm>
            <a:off x="5349240" y="2606040"/>
            <a:ext cx="160020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Make</a:t>
            </a:r>
          </a:p>
        </p:txBody>
      </p:sp>
      <p:sp>
        <p:nvSpPr>
          <p:cNvPr id="19" name="TextBox 18"/>
          <p:cNvSpPr txBox="1"/>
          <p:nvPr/>
        </p:nvSpPr>
        <p:spPr>
          <a:xfrm>
            <a:off x="7040880" y="2606040"/>
            <a:ext cx="352044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Role routing, SLA timers, escalation, delegation</a:t>
            </a:r>
          </a:p>
        </p:txBody>
      </p:sp>
      <p:sp>
        <p:nvSpPr>
          <p:cNvPr id="20" name="TextBox 19"/>
          <p:cNvSpPr txBox="1"/>
          <p:nvPr/>
        </p:nvSpPr>
        <p:spPr>
          <a:xfrm>
            <a:off x="10591495" y="2606040"/>
            <a:ext cx="841248" cy="365759"/>
          </a:xfrm>
          <a:prstGeom prst="rect">
            <a:avLst/>
          </a:prstGeom>
          <a:noFill/>
        </p:spPr>
        <p:txBody>
          <a:bodyPr wrap="square" lIns="0" tIns="0" rIns="0" bIns="0" anchor="ctr"/>
          <a:lstStyle/>
          <a:p>
            <a:pPr algn="r">
              <a:lnSpc>
                <a:spcPct val="110000"/>
              </a:lnSpc>
              <a:spcAft>
                <a:spcPts val="0"/>
              </a:spcAft>
            </a:pPr>
            <a:r>
              <a:rPr sz="1100">
                <a:solidFill>
                  <a:srgbClr val="1D4F91"/>
                </a:solidFill>
                <a:latin typeface="Public Sans SemiBold"/>
                <a:ea typeface="Public Sans SemiBold"/>
                <a:cs typeface="Public Sans SemiBold"/>
              </a:rPr>
              <a:t>No-code</a:t>
            </a:r>
          </a:p>
        </p:txBody>
      </p:sp>
      <p:cxnSp>
        <p:nvCxnSpPr>
          <p:cNvPr id="21" name="Connector 20"/>
          <p:cNvCxnSpPr/>
          <p:nvPr/>
        </p:nvCxnSpPr>
        <p:spPr>
          <a:xfrm>
            <a:off x="685800" y="3008376"/>
            <a:ext cx="10820095" cy="0"/>
          </a:xfrm>
          <a:prstGeom prst="line">
            <a:avLst/>
          </a:prstGeom>
          <a:ln w="9525">
            <a:solidFill>
              <a:srgbClr val="E1E4E8"/>
            </a:solidFill>
          </a:ln>
        </p:spPr>
      </p:cxnSp>
      <p:sp>
        <p:nvSpPr>
          <p:cNvPr id="22" name="TextBox 21"/>
          <p:cNvSpPr txBox="1"/>
          <p:nvPr/>
        </p:nvSpPr>
        <p:spPr>
          <a:xfrm>
            <a:off x="777240" y="3044952"/>
            <a:ext cx="2103120" cy="365759"/>
          </a:xfrm>
          <a:prstGeom prst="rect">
            <a:avLst/>
          </a:prstGeom>
          <a:noFill/>
        </p:spPr>
        <p:txBody>
          <a:bodyPr wrap="square" lIns="0" tIns="0" rIns="0" bIns="0" anchor="ctr"/>
          <a:lstStyle/>
          <a:p>
            <a:pPr algn="l">
              <a:lnSpc>
                <a:spcPct val="110000"/>
              </a:lnSpc>
              <a:spcAft>
                <a:spcPts val="0"/>
              </a:spcAft>
            </a:pPr>
            <a:r>
              <a:rPr sz="1200">
                <a:solidFill>
                  <a:srgbClr val="101418"/>
                </a:solidFill>
                <a:latin typeface="Public Sans SemiBold"/>
                <a:ea typeface="Public Sans SemiBold"/>
                <a:cs typeface="Public Sans SemiBold"/>
              </a:rPr>
              <a:t>Data, login, files</a:t>
            </a:r>
          </a:p>
        </p:txBody>
      </p:sp>
      <p:sp>
        <p:nvSpPr>
          <p:cNvPr id="23" name="TextBox 22"/>
          <p:cNvSpPr txBox="1"/>
          <p:nvPr/>
        </p:nvSpPr>
        <p:spPr>
          <a:xfrm>
            <a:off x="2926080" y="3044952"/>
            <a:ext cx="2331720" cy="365759"/>
          </a:xfrm>
          <a:prstGeom prst="rect">
            <a:avLst/>
          </a:prstGeom>
          <a:noFill/>
        </p:spPr>
        <p:txBody>
          <a:bodyPr wrap="square" lIns="0" tIns="0" rIns="0" bIns="0" anchor="ctr"/>
          <a:lstStyle/>
          <a:p>
            <a:pPr algn="l">
              <a:lnSpc>
                <a:spcPct val="110000"/>
              </a:lnSpc>
              <a:spcAft>
                <a:spcPts val="0"/>
              </a:spcAft>
            </a:pPr>
            <a:r>
              <a:rPr sz="1200">
                <a:solidFill>
                  <a:srgbClr val="1D4F91"/>
                </a:solidFill>
                <a:latin typeface="Public Sans SemiBold"/>
                <a:ea typeface="Public Sans SemiBold"/>
                <a:cs typeface="Public Sans SemiBold"/>
              </a:rPr>
              <a:t>Supabase</a:t>
            </a:r>
          </a:p>
        </p:txBody>
      </p:sp>
      <p:sp>
        <p:nvSpPr>
          <p:cNvPr id="24" name="TextBox 23"/>
          <p:cNvSpPr txBox="1"/>
          <p:nvPr/>
        </p:nvSpPr>
        <p:spPr>
          <a:xfrm>
            <a:off x="5349240" y="3044952"/>
            <a:ext cx="160020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Airtable</a:t>
            </a:r>
          </a:p>
        </p:txBody>
      </p:sp>
      <p:sp>
        <p:nvSpPr>
          <p:cNvPr id="25" name="TextBox 24"/>
          <p:cNvSpPr txBox="1"/>
          <p:nvPr/>
        </p:nvSpPr>
        <p:spPr>
          <a:xfrm>
            <a:off x="7040880" y="3044952"/>
            <a:ext cx="352044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Postgres, Auth, Storage; row-level security</a:t>
            </a:r>
          </a:p>
        </p:txBody>
      </p:sp>
      <p:sp>
        <p:nvSpPr>
          <p:cNvPr id="26" name="TextBox 25"/>
          <p:cNvSpPr txBox="1"/>
          <p:nvPr/>
        </p:nvSpPr>
        <p:spPr>
          <a:xfrm>
            <a:off x="10591495" y="3044952"/>
            <a:ext cx="841248" cy="365759"/>
          </a:xfrm>
          <a:prstGeom prst="rect">
            <a:avLst/>
          </a:prstGeom>
          <a:noFill/>
        </p:spPr>
        <p:txBody>
          <a:bodyPr wrap="square" lIns="0" tIns="0" rIns="0" bIns="0" anchor="ctr"/>
          <a:lstStyle/>
          <a:p>
            <a:pPr algn="r">
              <a:lnSpc>
                <a:spcPct val="110000"/>
              </a:lnSpc>
              <a:spcAft>
                <a:spcPts val="0"/>
              </a:spcAft>
            </a:pPr>
            <a:r>
              <a:rPr sz="1100">
                <a:solidFill>
                  <a:srgbClr val="1D4F91"/>
                </a:solidFill>
                <a:latin typeface="Public Sans SemiBold"/>
                <a:ea typeface="Public Sans SemiBold"/>
                <a:cs typeface="Public Sans SemiBold"/>
              </a:rPr>
              <a:t>Managed</a:t>
            </a:r>
          </a:p>
        </p:txBody>
      </p:sp>
      <p:cxnSp>
        <p:nvCxnSpPr>
          <p:cNvPr id="27" name="Connector 26"/>
          <p:cNvCxnSpPr/>
          <p:nvPr/>
        </p:nvCxnSpPr>
        <p:spPr>
          <a:xfrm>
            <a:off x="685800" y="3447288"/>
            <a:ext cx="10820095" cy="0"/>
          </a:xfrm>
          <a:prstGeom prst="line">
            <a:avLst/>
          </a:prstGeom>
          <a:ln w="9525">
            <a:solidFill>
              <a:srgbClr val="E1E4E8"/>
            </a:solidFill>
          </a:ln>
        </p:spPr>
      </p:cxnSp>
      <p:sp>
        <p:nvSpPr>
          <p:cNvPr id="28" name="Rectangle 27"/>
          <p:cNvSpPr/>
          <p:nvPr/>
        </p:nvSpPr>
        <p:spPr>
          <a:xfrm>
            <a:off x="685800" y="3447288"/>
            <a:ext cx="10820095" cy="438912"/>
          </a:xfrm>
          <a:prstGeom prst="rect">
            <a:avLst/>
          </a:prstGeom>
          <a:solidFill>
            <a:srgbClr val="F4F6F8"/>
          </a:solidFill>
          <a:ln>
            <a:noFill/>
          </a:ln>
          <a:effectLst/>
        </p:spPr>
        <p:txBody>
          <a:bodyPr rtlCol="0" anchor="ctr"/>
          <a:lstStyle/>
          <a:p>
            <a:endParaRPr/>
          </a:p>
        </p:txBody>
      </p:sp>
      <p:sp>
        <p:nvSpPr>
          <p:cNvPr id="29" name="TextBox 28"/>
          <p:cNvSpPr txBox="1"/>
          <p:nvPr/>
        </p:nvSpPr>
        <p:spPr>
          <a:xfrm>
            <a:off x="777240" y="3483864"/>
            <a:ext cx="2103120" cy="365759"/>
          </a:xfrm>
          <a:prstGeom prst="rect">
            <a:avLst/>
          </a:prstGeom>
          <a:noFill/>
        </p:spPr>
        <p:txBody>
          <a:bodyPr wrap="square" lIns="0" tIns="0" rIns="0" bIns="0" anchor="ctr"/>
          <a:lstStyle/>
          <a:p>
            <a:pPr algn="l">
              <a:lnSpc>
                <a:spcPct val="110000"/>
              </a:lnSpc>
              <a:spcAft>
                <a:spcPts val="0"/>
              </a:spcAft>
            </a:pPr>
            <a:r>
              <a:rPr sz="1200">
                <a:solidFill>
                  <a:srgbClr val="101418"/>
                </a:solidFill>
                <a:latin typeface="Public Sans SemiBold"/>
                <a:ea typeface="Public Sans SemiBold"/>
                <a:cs typeface="Public Sans SemiBold"/>
              </a:rPr>
              <a:t>AI assist (optional)</a:t>
            </a:r>
          </a:p>
        </p:txBody>
      </p:sp>
      <p:sp>
        <p:nvSpPr>
          <p:cNvPr id="30" name="TextBox 29"/>
          <p:cNvSpPr txBox="1"/>
          <p:nvPr/>
        </p:nvSpPr>
        <p:spPr>
          <a:xfrm>
            <a:off x="2926080" y="3483864"/>
            <a:ext cx="2331720" cy="365759"/>
          </a:xfrm>
          <a:prstGeom prst="rect">
            <a:avLst/>
          </a:prstGeom>
          <a:noFill/>
        </p:spPr>
        <p:txBody>
          <a:bodyPr wrap="square" lIns="0" tIns="0" rIns="0" bIns="0" anchor="ctr"/>
          <a:lstStyle/>
          <a:p>
            <a:pPr algn="l">
              <a:lnSpc>
                <a:spcPct val="110000"/>
              </a:lnSpc>
              <a:spcAft>
                <a:spcPts val="0"/>
              </a:spcAft>
            </a:pPr>
            <a:r>
              <a:rPr sz="1200">
                <a:solidFill>
                  <a:srgbClr val="1D4F91"/>
                </a:solidFill>
                <a:latin typeface="Public Sans SemiBold"/>
                <a:ea typeface="Public Sans SemiBold"/>
                <a:cs typeface="Public Sans SemiBold"/>
              </a:rPr>
              <a:t>Gemini or Claude in n8n</a:t>
            </a:r>
          </a:p>
        </p:txBody>
      </p:sp>
      <p:sp>
        <p:nvSpPr>
          <p:cNvPr id="31" name="TextBox 30"/>
          <p:cNvSpPr txBox="1"/>
          <p:nvPr/>
        </p:nvSpPr>
        <p:spPr>
          <a:xfrm>
            <a:off x="5349240" y="3483864"/>
            <a:ext cx="160020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OpenAI API</a:t>
            </a:r>
          </a:p>
        </p:txBody>
      </p:sp>
      <p:sp>
        <p:nvSpPr>
          <p:cNvPr id="32" name="TextBox 31"/>
          <p:cNvSpPr txBox="1"/>
          <p:nvPr/>
        </p:nvSpPr>
        <p:spPr>
          <a:xfrm>
            <a:off x="7040880" y="3483864"/>
            <a:ext cx="352044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Completeness check, summaries, suggestions</a:t>
            </a:r>
          </a:p>
        </p:txBody>
      </p:sp>
      <p:sp>
        <p:nvSpPr>
          <p:cNvPr id="33" name="TextBox 32"/>
          <p:cNvSpPr txBox="1"/>
          <p:nvPr/>
        </p:nvSpPr>
        <p:spPr>
          <a:xfrm>
            <a:off x="10591495" y="3483864"/>
            <a:ext cx="841248" cy="365759"/>
          </a:xfrm>
          <a:prstGeom prst="rect">
            <a:avLst/>
          </a:prstGeom>
          <a:noFill/>
        </p:spPr>
        <p:txBody>
          <a:bodyPr wrap="square" lIns="0" tIns="0" rIns="0" bIns="0" anchor="ctr"/>
          <a:lstStyle/>
          <a:p>
            <a:pPr algn="r">
              <a:lnSpc>
                <a:spcPct val="110000"/>
              </a:lnSpc>
              <a:spcAft>
                <a:spcPts val="0"/>
              </a:spcAft>
            </a:pPr>
            <a:r>
              <a:rPr sz="1100">
                <a:solidFill>
                  <a:srgbClr val="101418"/>
                </a:solidFill>
                <a:latin typeface="Public Sans SemiBold"/>
                <a:ea typeface="Public Sans SemiBold"/>
                <a:cs typeface="Public Sans SemiBold"/>
              </a:rPr>
              <a:t>AI</a:t>
            </a:r>
          </a:p>
        </p:txBody>
      </p:sp>
      <p:sp>
        <p:nvSpPr>
          <p:cNvPr id="34" name="Rectangle 33"/>
          <p:cNvSpPr/>
          <p:nvPr/>
        </p:nvSpPr>
        <p:spPr>
          <a:xfrm>
            <a:off x="685800" y="3886200"/>
            <a:ext cx="10820095" cy="438912"/>
          </a:xfrm>
          <a:prstGeom prst="rect">
            <a:avLst/>
          </a:prstGeom>
          <a:solidFill>
            <a:srgbClr val="F4F6F8"/>
          </a:solidFill>
          <a:ln>
            <a:noFill/>
          </a:ln>
          <a:effectLst/>
        </p:spPr>
        <p:txBody>
          <a:bodyPr rtlCol="0" anchor="ctr"/>
          <a:lstStyle/>
          <a:p>
            <a:endParaRPr/>
          </a:p>
        </p:txBody>
      </p:sp>
      <p:sp>
        <p:nvSpPr>
          <p:cNvPr id="35" name="TextBox 34"/>
          <p:cNvSpPr txBox="1"/>
          <p:nvPr/>
        </p:nvSpPr>
        <p:spPr>
          <a:xfrm>
            <a:off x="777240" y="3922776"/>
            <a:ext cx="2103120" cy="365759"/>
          </a:xfrm>
          <a:prstGeom prst="rect">
            <a:avLst/>
          </a:prstGeom>
          <a:noFill/>
        </p:spPr>
        <p:txBody>
          <a:bodyPr wrap="square" lIns="0" tIns="0" rIns="0" bIns="0" anchor="ctr"/>
          <a:lstStyle/>
          <a:p>
            <a:pPr algn="l">
              <a:lnSpc>
                <a:spcPct val="110000"/>
              </a:lnSpc>
              <a:spcAft>
                <a:spcPts val="0"/>
              </a:spcAft>
            </a:pPr>
            <a:r>
              <a:rPr sz="1200">
                <a:solidFill>
                  <a:srgbClr val="101418"/>
                </a:solidFill>
                <a:latin typeface="Public Sans SemiBold"/>
                <a:ea typeface="Public Sans SemiBold"/>
                <a:cs typeface="Public Sans SemiBold"/>
              </a:rPr>
              <a:t>Indian languages</a:t>
            </a:r>
          </a:p>
        </p:txBody>
      </p:sp>
      <p:sp>
        <p:nvSpPr>
          <p:cNvPr id="36" name="TextBox 35"/>
          <p:cNvSpPr txBox="1"/>
          <p:nvPr/>
        </p:nvSpPr>
        <p:spPr>
          <a:xfrm>
            <a:off x="2926080" y="3922776"/>
            <a:ext cx="2331720" cy="365759"/>
          </a:xfrm>
          <a:prstGeom prst="rect">
            <a:avLst/>
          </a:prstGeom>
          <a:noFill/>
        </p:spPr>
        <p:txBody>
          <a:bodyPr wrap="square" lIns="0" tIns="0" rIns="0" bIns="0" anchor="ctr"/>
          <a:lstStyle/>
          <a:p>
            <a:pPr algn="l">
              <a:lnSpc>
                <a:spcPct val="110000"/>
              </a:lnSpc>
              <a:spcAft>
                <a:spcPts val="0"/>
              </a:spcAft>
            </a:pPr>
            <a:r>
              <a:rPr sz="1200">
                <a:solidFill>
                  <a:srgbClr val="1D4F91"/>
                </a:solidFill>
                <a:latin typeface="Public Sans SemiBold"/>
                <a:ea typeface="Public Sans SemiBold"/>
                <a:cs typeface="Public Sans SemiBold"/>
              </a:rPr>
              <a:t>Sarvam AI</a:t>
            </a:r>
          </a:p>
        </p:txBody>
      </p:sp>
      <p:sp>
        <p:nvSpPr>
          <p:cNvPr id="37" name="TextBox 36"/>
          <p:cNvSpPr txBox="1"/>
          <p:nvPr/>
        </p:nvSpPr>
        <p:spPr>
          <a:xfrm>
            <a:off x="5349240" y="3922776"/>
            <a:ext cx="160020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Gemini</a:t>
            </a:r>
          </a:p>
        </p:txBody>
      </p:sp>
      <p:sp>
        <p:nvSpPr>
          <p:cNvPr id="38" name="TextBox 37"/>
          <p:cNvSpPr txBox="1"/>
          <p:nvPr/>
        </p:nvSpPr>
        <p:spPr>
          <a:xfrm>
            <a:off x="7040880" y="3922776"/>
            <a:ext cx="352044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Status chat in Hindi and Marathi</a:t>
            </a:r>
          </a:p>
        </p:txBody>
      </p:sp>
      <p:sp>
        <p:nvSpPr>
          <p:cNvPr id="39" name="TextBox 38"/>
          <p:cNvSpPr txBox="1"/>
          <p:nvPr/>
        </p:nvSpPr>
        <p:spPr>
          <a:xfrm>
            <a:off x="10591495" y="3922776"/>
            <a:ext cx="841248" cy="365759"/>
          </a:xfrm>
          <a:prstGeom prst="rect">
            <a:avLst/>
          </a:prstGeom>
          <a:noFill/>
        </p:spPr>
        <p:txBody>
          <a:bodyPr wrap="square" lIns="0" tIns="0" rIns="0" bIns="0" anchor="ctr"/>
          <a:lstStyle/>
          <a:p>
            <a:pPr algn="r">
              <a:lnSpc>
                <a:spcPct val="110000"/>
              </a:lnSpc>
              <a:spcAft>
                <a:spcPts val="0"/>
              </a:spcAft>
            </a:pPr>
            <a:r>
              <a:rPr sz="1100">
                <a:solidFill>
                  <a:srgbClr val="101418"/>
                </a:solidFill>
                <a:latin typeface="Public Sans SemiBold"/>
                <a:ea typeface="Public Sans SemiBold"/>
                <a:cs typeface="Public Sans SemiBold"/>
              </a:rPr>
              <a:t>AI</a:t>
            </a:r>
          </a:p>
        </p:txBody>
      </p:sp>
      <p:sp>
        <p:nvSpPr>
          <p:cNvPr id="40" name="TextBox 39"/>
          <p:cNvSpPr txBox="1"/>
          <p:nvPr/>
        </p:nvSpPr>
        <p:spPr>
          <a:xfrm>
            <a:off x="777240" y="4361688"/>
            <a:ext cx="2103120" cy="365759"/>
          </a:xfrm>
          <a:prstGeom prst="rect">
            <a:avLst/>
          </a:prstGeom>
          <a:noFill/>
        </p:spPr>
        <p:txBody>
          <a:bodyPr wrap="square" lIns="0" tIns="0" rIns="0" bIns="0" anchor="ctr"/>
          <a:lstStyle/>
          <a:p>
            <a:pPr algn="l">
              <a:lnSpc>
                <a:spcPct val="110000"/>
              </a:lnSpc>
              <a:spcAft>
                <a:spcPts val="0"/>
              </a:spcAft>
            </a:pPr>
            <a:r>
              <a:rPr sz="1200">
                <a:solidFill>
                  <a:srgbClr val="101418"/>
                </a:solidFill>
                <a:latin typeface="Public Sans SemiBold"/>
                <a:ea typeface="Public Sans SemiBold"/>
                <a:cs typeface="Public Sans SemiBold"/>
              </a:rPr>
              <a:t>E-signature</a:t>
            </a:r>
          </a:p>
        </p:txBody>
      </p:sp>
      <p:sp>
        <p:nvSpPr>
          <p:cNvPr id="41" name="TextBox 40"/>
          <p:cNvSpPr txBox="1"/>
          <p:nvPr/>
        </p:nvSpPr>
        <p:spPr>
          <a:xfrm>
            <a:off x="2926080" y="4361688"/>
            <a:ext cx="2331720" cy="365759"/>
          </a:xfrm>
          <a:prstGeom prst="rect">
            <a:avLst/>
          </a:prstGeom>
          <a:noFill/>
        </p:spPr>
        <p:txBody>
          <a:bodyPr wrap="square" lIns="0" tIns="0" rIns="0" bIns="0" anchor="ctr"/>
          <a:lstStyle/>
          <a:p>
            <a:pPr algn="l">
              <a:lnSpc>
                <a:spcPct val="110000"/>
              </a:lnSpc>
              <a:spcAft>
                <a:spcPts val="0"/>
              </a:spcAft>
            </a:pPr>
            <a:r>
              <a:rPr sz="1200">
                <a:solidFill>
                  <a:srgbClr val="1D4F91"/>
                </a:solidFill>
                <a:latin typeface="Public Sans SemiBold"/>
                <a:ea typeface="Public Sans SemiBold"/>
                <a:cs typeface="Public Sans SemiBold"/>
              </a:rPr>
              <a:t>OTP sign; Aadhaar eSign</a:t>
            </a:r>
          </a:p>
        </p:txBody>
      </p:sp>
      <p:sp>
        <p:nvSpPr>
          <p:cNvPr id="42" name="TextBox 41"/>
          <p:cNvSpPr txBox="1"/>
          <p:nvPr/>
        </p:nvSpPr>
        <p:spPr>
          <a:xfrm>
            <a:off x="5349240" y="4361688"/>
            <a:ext cx="160020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DSC tokens</a:t>
            </a:r>
          </a:p>
        </p:txBody>
      </p:sp>
      <p:sp>
        <p:nvSpPr>
          <p:cNvPr id="43" name="TextBox 42"/>
          <p:cNvSpPr txBox="1"/>
          <p:nvPr/>
        </p:nvSpPr>
        <p:spPr>
          <a:xfrm>
            <a:off x="7040880" y="4361688"/>
            <a:ext cx="352044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Aadhaar eSign via Leegality or Digio</a:t>
            </a:r>
          </a:p>
        </p:txBody>
      </p:sp>
      <p:sp>
        <p:nvSpPr>
          <p:cNvPr id="44" name="TextBox 43"/>
          <p:cNvSpPr txBox="1"/>
          <p:nvPr/>
        </p:nvSpPr>
        <p:spPr>
          <a:xfrm>
            <a:off x="10591495" y="4361688"/>
            <a:ext cx="841248" cy="365759"/>
          </a:xfrm>
          <a:prstGeom prst="rect">
            <a:avLst/>
          </a:prstGeom>
          <a:noFill/>
        </p:spPr>
        <p:txBody>
          <a:bodyPr wrap="square" lIns="0" tIns="0" rIns="0" bIns="0" anchor="ctr"/>
          <a:lstStyle/>
          <a:p>
            <a:pPr algn="r">
              <a:lnSpc>
                <a:spcPct val="110000"/>
              </a:lnSpc>
              <a:spcAft>
                <a:spcPts val="0"/>
              </a:spcAft>
            </a:pPr>
            <a:r>
              <a:rPr sz="1100">
                <a:solidFill>
                  <a:srgbClr val="5A6370"/>
                </a:solidFill>
                <a:latin typeface="Public Sans SemiBold"/>
                <a:ea typeface="Public Sans SemiBold"/>
                <a:cs typeface="Public Sans SemiBold"/>
              </a:rPr>
              <a:t>Legal</a:t>
            </a:r>
          </a:p>
        </p:txBody>
      </p:sp>
      <p:cxnSp>
        <p:nvCxnSpPr>
          <p:cNvPr id="45" name="Connector 44"/>
          <p:cNvCxnSpPr/>
          <p:nvPr/>
        </p:nvCxnSpPr>
        <p:spPr>
          <a:xfrm>
            <a:off x="685800" y="4764024"/>
            <a:ext cx="10820095" cy="0"/>
          </a:xfrm>
          <a:prstGeom prst="line">
            <a:avLst/>
          </a:prstGeom>
          <a:ln w="9525">
            <a:solidFill>
              <a:srgbClr val="E1E4E8"/>
            </a:solidFill>
          </a:ln>
        </p:spPr>
      </p:cxnSp>
      <p:sp>
        <p:nvSpPr>
          <p:cNvPr id="46" name="TextBox 45"/>
          <p:cNvSpPr txBox="1"/>
          <p:nvPr/>
        </p:nvSpPr>
        <p:spPr>
          <a:xfrm>
            <a:off x="777240" y="4800600"/>
            <a:ext cx="2103120" cy="365759"/>
          </a:xfrm>
          <a:prstGeom prst="rect">
            <a:avLst/>
          </a:prstGeom>
          <a:noFill/>
        </p:spPr>
        <p:txBody>
          <a:bodyPr wrap="square" lIns="0" tIns="0" rIns="0" bIns="0" anchor="ctr"/>
          <a:lstStyle/>
          <a:p>
            <a:pPr algn="l">
              <a:lnSpc>
                <a:spcPct val="110000"/>
              </a:lnSpc>
              <a:spcAft>
                <a:spcPts val="0"/>
              </a:spcAft>
            </a:pPr>
            <a:r>
              <a:rPr sz="1200">
                <a:solidFill>
                  <a:srgbClr val="101418"/>
                </a:solidFill>
                <a:latin typeface="Public Sans SemiBold"/>
                <a:ea typeface="Public Sans SemiBold"/>
                <a:cs typeface="Public Sans SemiBold"/>
              </a:rPr>
              <a:t>Blockchain</a:t>
            </a:r>
          </a:p>
        </p:txBody>
      </p:sp>
      <p:sp>
        <p:nvSpPr>
          <p:cNvPr id="47" name="TextBox 46"/>
          <p:cNvSpPr txBox="1"/>
          <p:nvPr/>
        </p:nvSpPr>
        <p:spPr>
          <a:xfrm>
            <a:off x="2926080" y="4800600"/>
            <a:ext cx="2331720" cy="365759"/>
          </a:xfrm>
          <a:prstGeom prst="rect">
            <a:avLst/>
          </a:prstGeom>
          <a:noFill/>
        </p:spPr>
        <p:txBody>
          <a:bodyPr wrap="square" lIns="0" tIns="0" rIns="0" bIns="0" anchor="ctr"/>
          <a:lstStyle/>
          <a:p>
            <a:pPr algn="l">
              <a:lnSpc>
                <a:spcPct val="110000"/>
              </a:lnSpc>
              <a:spcAft>
                <a:spcPts val="0"/>
              </a:spcAft>
            </a:pPr>
            <a:r>
              <a:rPr sz="1200">
                <a:solidFill>
                  <a:srgbClr val="1D4F91"/>
                </a:solidFill>
                <a:latin typeface="Public Sans SemiBold"/>
                <a:ea typeface="Public Sans SemiBold"/>
                <a:cs typeface="Public Sans SemiBold"/>
              </a:rPr>
              <a:t>Polygon Amoy testnet</a:t>
            </a:r>
          </a:p>
        </p:txBody>
      </p:sp>
      <p:sp>
        <p:nvSpPr>
          <p:cNvPr id="48" name="TextBox 47"/>
          <p:cNvSpPr txBox="1"/>
          <p:nvPr/>
        </p:nvSpPr>
        <p:spPr>
          <a:xfrm>
            <a:off x="5349240" y="4800600"/>
            <a:ext cx="160020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Hyperledger Besu</a:t>
            </a:r>
          </a:p>
        </p:txBody>
      </p:sp>
      <p:sp>
        <p:nvSpPr>
          <p:cNvPr id="49" name="TextBox 48"/>
          <p:cNvSpPr txBox="1"/>
          <p:nvPr/>
        </p:nvSpPr>
        <p:spPr>
          <a:xfrm>
            <a:off x="7040880" y="4800600"/>
            <a:ext cx="352044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Document hash; consortium chain at scale</a:t>
            </a:r>
          </a:p>
        </p:txBody>
      </p:sp>
      <p:sp>
        <p:nvSpPr>
          <p:cNvPr id="50" name="TextBox 49"/>
          <p:cNvSpPr txBox="1"/>
          <p:nvPr/>
        </p:nvSpPr>
        <p:spPr>
          <a:xfrm>
            <a:off x="10591495" y="4800600"/>
            <a:ext cx="841248" cy="365759"/>
          </a:xfrm>
          <a:prstGeom prst="rect">
            <a:avLst/>
          </a:prstGeom>
          <a:noFill/>
        </p:spPr>
        <p:txBody>
          <a:bodyPr wrap="square" lIns="0" tIns="0" rIns="0" bIns="0" anchor="ctr"/>
          <a:lstStyle/>
          <a:p>
            <a:pPr algn="r">
              <a:lnSpc>
                <a:spcPct val="110000"/>
              </a:lnSpc>
              <a:spcAft>
                <a:spcPts val="0"/>
              </a:spcAft>
            </a:pPr>
            <a:r>
              <a:rPr sz="1100">
                <a:solidFill>
                  <a:srgbClr val="1E7A4C"/>
                </a:solidFill>
                <a:latin typeface="Public Sans SemiBold"/>
                <a:ea typeface="Public Sans SemiBold"/>
                <a:cs typeface="Public Sans SemiBold"/>
              </a:rPr>
              <a:t>Trust</a:t>
            </a:r>
          </a:p>
        </p:txBody>
      </p:sp>
      <p:cxnSp>
        <p:nvCxnSpPr>
          <p:cNvPr id="51" name="Connector 50"/>
          <p:cNvCxnSpPr/>
          <p:nvPr/>
        </p:nvCxnSpPr>
        <p:spPr>
          <a:xfrm>
            <a:off x="685800" y="5202936"/>
            <a:ext cx="10820095" cy="0"/>
          </a:xfrm>
          <a:prstGeom prst="line">
            <a:avLst/>
          </a:prstGeom>
          <a:ln w="9525">
            <a:solidFill>
              <a:srgbClr val="E1E4E8"/>
            </a:solidFill>
          </a:ln>
        </p:spPr>
      </p:cxnSp>
      <p:sp>
        <p:nvSpPr>
          <p:cNvPr id="52" name="TextBox 51"/>
          <p:cNvSpPr txBox="1"/>
          <p:nvPr/>
        </p:nvSpPr>
        <p:spPr>
          <a:xfrm>
            <a:off x="777240" y="5239512"/>
            <a:ext cx="2103120" cy="365759"/>
          </a:xfrm>
          <a:prstGeom prst="rect">
            <a:avLst/>
          </a:prstGeom>
          <a:noFill/>
        </p:spPr>
        <p:txBody>
          <a:bodyPr wrap="square" lIns="0" tIns="0" rIns="0" bIns="0" anchor="ctr"/>
          <a:lstStyle/>
          <a:p>
            <a:pPr algn="l">
              <a:lnSpc>
                <a:spcPct val="110000"/>
              </a:lnSpc>
              <a:spcAft>
                <a:spcPts val="0"/>
              </a:spcAft>
            </a:pPr>
            <a:r>
              <a:rPr sz="1200">
                <a:solidFill>
                  <a:srgbClr val="101418"/>
                </a:solidFill>
                <a:latin typeface="Public Sans SemiBold"/>
                <a:ea typeface="Public Sans SemiBold"/>
                <a:cs typeface="Public Sans SemiBold"/>
              </a:rPr>
              <a:t>PDF and alerts</a:t>
            </a:r>
          </a:p>
        </p:txBody>
      </p:sp>
      <p:sp>
        <p:nvSpPr>
          <p:cNvPr id="53" name="TextBox 52"/>
          <p:cNvSpPr txBox="1"/>
          <p:nvPr/>
        </p:nvSpPr>
        <p:spPr>
          <a:xfrm>
            <a:off x="2926080" y="5239512"/>
            <a:ext cx="2331720" cy="365759"/>
          </a:xfrm>
          <a:prstGeom prst="rect">
            <a:avLst/>
          </a:prstGeom>
          <a:noFill/>
        </p:spPr>
        <p:txBody>
          <a:bodyPr wrap="square" lIns="0" tIns="0" rIns="0" bIns="0" anchor="ctr"/>
          <a:lstStyle/>
          <a:p>
            <a:pPr algn="l">
              <a:lnSpc>
                <a:spcPct val="110000"/>
              </a:lnSpc>
              <a:spcAft>
                <a:spcPts val="0"/>
              </a:spcAft>
            </a:pPr>
            <a:r>
              <a:rPr sz="1200">
                <a:solidFill>
                  <a:srgbClr val="1D4F91"/>
                </a:solidFill>
                <a:latin typeface="Public Sans SemiBold"/>
                <a:ea typeface="Public Sans SemiBold"/>
                <a:cs typeface="Public Sans SemiBold"/>
              </a:rPr>
              <a:t>Google Docs via n8n</a:t>
            </a:r>
          </a:p>
        </p:txBody>
      </p:sp>
      <p:sp>
        <p:nvSpPr>
          <p:cNvPr id="54" name="TextBox 53"/>
          <p:cNvSpPr txBox="1"/>
          <p:nvPr/>
        </p:nvSpPr>
        <p:spPr>
          <a:xfrm>
            <a:off x="5349240" y="5239512"/>
            <a:ext cx="160020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PDFMonkey</a:t>
            </a:r>
          </a:p>
        </p:txBody>
      </p:sp>
      <p:sp>
        <p:nvSpPr>
          <p:cNvPr id="55" name="TextBox 54"/>
          <p:cNvSpPr txBox="1"/>
          <p:nvPr/>
        </p:nvSpPr>
        <p:spPr>
          <a:xfrm>
            <a:off x="7040880" y="5239512"/>
            <a:ext cx="3520440" cy="365759"/>
          </a:xfrm>
          <a:prstGeom prst="rect">
            <a:avLst/>
          </a:prstGeom>
          <a:noFill/>
        </p:spPr>
        <p:txBody>
          <a:bodyPr wrap="square" lIns="0" tIns="0" rIns="0" bIns="0" anchor="ctr"/>
          <a:lstStyle/>
          <a:p>
            <a:pPr algn="l">
              <a:lnSpc>
                <a:spcPct val="110000"/>
              </a:lnSpc>
              <a:spcAft>
                <a:spcPts val="0"/>
              </a:spcAft>
            </a:pPr>
            <a:r>
              <a:rPr sz="1200">
                <a:solidFill>
                  <a:srgbClr val="5A6370"/>
                </a:solidFill>
                <a:latin typeface="Public Sans Regular"/>
                <a:ea typeface="Public Sans Regular"/>
                <a:cs typeface="Public Sans Regular"/>
              </a:rPr>
              <a:t>Signed PDF; email and WhatsApp alerts</a:t>
            </a:r>
          </a:p>
        </p:txBody>
      </p:sp>
      <p:sp>
        <p:nvSpPr>
          <p:cNvPr id="56" name="TextBox 55"/>
          <p:cNvSpPr txBox="1"/>
          <p:nvPr/>
        </p:nvSpPr>
        <p:spPr>
          <a:xfrm>
            <a:off x="10591495" y="5239512"/>
            <a:ext cx="841248" cy="365759"/>
          </a:xfrm>
          <a:prstGeom prst="rect">
            <a:avLst/>
          </a:prstGeom>
          <a:noFill/>
        </p:spPr>
        <p:txBody>
          <a:bodyPr wrap="square" lIns="0" tIns="0" rIns="0" bIns="0" anchor="ctr"/>
          <a:lstStyle/>
          <a:p>
            <a:pPr algn="r">
              <a:lnSpc>
                <a:spcPct val="110000"/>
              </a:lnSpc>
              <a:spcAft>
                <a:spcPts val="0"/>
              </a:spcAft>
            </a:pPr>
            <a:r>
              <a:rPr sz="1100">
                <a:solidFill>
                  <a:srgbClr val="1D4F91"/>
                </a:solidFill>
                <a:latin typeface="Public Sans SemiBold"/>
                <a:ea typeface="Public Sans SemiBold"/>
                <a:cs typeface="Public Sans SemiBold"/>
              </a:rPr>
              <a:t>No-code</a:t>
            </a:r>
          </a:p>
        </p:txBody>
      </p:sp>
      <p:cxnSp>
        <p:nvCxnSpPr>
          <p:cNvPr id="57" name="Connector 56"/>
          <p:cNvCxnSpPr/>
          <p:nvPr/>
        </p:nvCxnSpPr>
        <p:spPr>
          <a:xfrm>
            <a:off x="685800" y="5641848"/>
            <a:ext cx="10820095" cy="0"/>
          </a:xfrm>
          <a:prstGeom prst="line">
            <a:avLst/>
          </a:prstGeom>
          <a:ln w="9525">
            <a:solidFill>
              <a:srgbClr val="E1E4E8"/>
            </a:solidFill>
          </a:ln>
        </p:spPr>
      </p:cxnSp>
      <p:sp>
        <p:nvSpPr>
          <p:cNvPr id="58" name="TextBox 57"/>
          <p:cNvSpPr txBox="1"/>
          <p:nvPr/>
        </p:nvSpPr>
        <p:spPr>
          <a:xfrm>
            <a:off x="685800" y="5861304"/>
            <a:ext cx="10820095" cy="32004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Free tiers cover the pilot.  </a:t>
            </a:r>
            <a:r>
              <a:rPr sz="1200">
                <a:solidFill>
                  <a:srgbClr val="5A6370"/>
                </a:solidFill>
                <a:latin typeface="Public Sans Regular"/>
                <a:ea typeface="Public Sans Regular"/>
                <a:cs typeface="Public Sans Regular"/>
              </a:rPr>
              <a:t>Open-source n8n and Postgres avoid lock-in. Shaded rows are optional AI help.</a:t>
            </a:r>
          </a:p>
        </p:txBody>
      </p:sp>
      <p:sp>
        <p:nvSpPr>
          <p:cNvPr id="59" name="ftr"/>
          <p:cNvSpPr txBox="1"/>
          <p:nvPr/>
        </p:nvSpPr>
        <p:spPr>
          <a:xfrm>
            <a:off x="10591495" y="6400800"/>
            <a:ext cx="914400" cy="274320"/>
          </a:xfrm>
          <a:prstGeom prst="rect">
            <a:avLst/>
          </a:prstGeom>
          <a:noFill/>
        </p:spPr>
        <p:txBody>
          <a:bodyPr wrap="square" lIns="0" tIns="0" rIns="0" bIns="0" anchor="t"/>
          <a:lstStyle/>
          <a:p>
            <a:pPr algn="r">
              <a:lnSpc>
                <a:spcPct val="110000"/>
              </a:lnSpc>
              <a:spcAft>
                <a:spcPts val="0"/>
              </a:spcAft>
            </a:pPr>
            <a:r>
              <a:rPr sz="900">
                <a:solidFill>
                  <a:srgbClr val="6B7480"/>
                </a:solidFill>
                <a:latin typeface="Public Sans Regular"/>
                <a:ea typeface="Public Sans Regular"/>
                <a:cs typeface="Public Sans Regular"/>
              </a:rPr>
              <a:t>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dr"/>
          <p:cNvSpPr txBox="1"/>
          <p:nvPr/>
        </p:nvSpPr>
        <p:spPr>
          <a:xfrm>
            <a:off x="685800" y="502920"/>
            <a:ext cx="10820095" cy="457200"/>
          </a:xfrm>
          <a:prstGeom prst="rect">
            <a:avLst/>
          </a:prstGeom>
          <a:noFill/>
        </p:spPr>
        <p:txBody>
          <a:bodyPr wrap="square" lIns="0" tIns="0" rIns="0" bIns="0" anchor="t"/>
          <a:lstStyle/>
          <a:p>
            <a:pPr algn="l">
              <a:lnSpc>
                <a:spcPct val="100000"/>
              </a:lnSpc>
              <a:spcAft>
                <a:spcPts val="0"/>
              </a:spcAft>
            </a:pPr>
            <a:r>
              <a:rPr sz="2800">
                <a:solidFill>
                  <a:srgbClr val="101418"/>
                </a:solidFill>
                <a:latin typeface="Public Sans Bold"/>
                <a:ea typeface="Public Sans Bold"/>
                <a:cs typeface="Public Sans Bold"/>
              </a:rPr>
              <a:t>Workflow and AI Assistance</a:t>
            </a:r>
          </a:p>
        </p:txBody>
      </p:sp>
      <p:sp>
        <p:nvSpPr>
          <p:cNvPr id="3" name="hdr"/>
          <p:cNvSpPr txBox="1"/>
          <p:nvPr/>
        </p:nvSpPr>
        <p:spPr>
          <a:xfrm>
            <a:off x="685800" y="987552"/>
            <a:ext cx="10820095" cy="320040"/>
          </a:xfrm>
          <a:prstGeom prst="rect">
            <a:avLst/>
          </a:prstGeom>
          <a:noFill/>
        </p:spPr>
        <p:txBody>
          <a:bodyPr wrap="square" lIns="0" tIns="0" rIns="0" bIns="0" anchor="t"/>
          <a:lstStyle/>
          <a:p>
            <a:pPr algn="l">
              <a:lnSpc>
                <a:spcPct val="110000"/>
              </a:lnSpc>
              <a:spcAft>
                <a:spcPts val="0"/>
              </a:spcAft>
            </a:pPr>
            <a:r>
              <a:rPr sz="1800">
                <a:solidFill>
                  <a:srgbClr val="5A6370"/>
                </a:solidFill>
                <a:latin typeface="Public Sans Regular"/>
                <a:ea typeface="Public Sans Regular"/>
                <a:cs typeface="Public Sans Regular"/>
              </a:rPr>
              <a:t>The system knows who must sign, in order, and helps them decide in seconds.</a:t>
            </a:r>
          </a:p>
        </p:txBody>
      </p:sp>
      <p:sp>
        <p:nvSpPr>
          <p:cNvPr id="4" name="TextBox 3"/>
          <p:cNvSpPr txBox="1"/>
          <p:nvPr/>
        </p:nvSpPr>
        <p:spPr>
          <a:xfrm>
            <a:off x="685800" y="1920240"/>
            <a:ext cx="4572000"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Event permission, routed by role</a:t>
            </a:r>
          </a:p>
        </p:txBody>
      </p:sp>
      <p:cxnSp>
        <p:nvCxnSpPr>
          <p:cNvPr id="5" name="Connector 4"/>
          <p:cNvCxnSpPr/>
          <p:nvPr/>
        </p:nvCxnSpPr>
        <p:spPr>
          <a:xfrm>
            <a:off x="822960" y="2423160"/>
            <a:ext cx="0" cy="2999232"/>
          </a:xfrm>
          <a:prstGeom prst="line">
            <a:avLst/>
          </a:prstGeom>
          <a:ln w="19050">
            <a:solidFill>
              <a:srgbClr val="E1E4E8"/>
            </a:solidFill>
          </a:ln>
        </p:spPr>
      </p:cxnSp>
      <p:sp>
        <p:nvSpPr>
          <p:cNvPr id="6" name="Oval 5"/>
          <p:cNvSpPr/>
          <p:nvPr/>
        </p:nvSpPr>
        <p:spPr>
          <a:xfrm>
            <a:off x="704088" y="2304288"/>
            <a:ext cx="237744" cy="237744"/>
          </a:xfrm>
          <a:prstGeom prst="ellipse">
            <a:avLst/>
          </a:prstGeom>
          <a:solidFill>
            <a:srgbClr val="FFFFFF"/>
          </a:solidFill>
          <a:ln w="19050">
            <a:solidFill>
              <a:srgbClr val="1D4F91"/>
            </a:solidFill>
          </a:ln>
          <a:effectLst/>
        </p:spPr>
        <p:txBody>
          <a:bodyPr rtlCol="0" anchor="ctr"/>
          <a:lstStyle/>
          <a:p>
            <a:endParaRPr/>
          </a:p>
        </p:txBody>
      </p:sp>
      <p:sp>
        <p:nvSpPr>
          <p:cNvPr id="7" name="TextBox 6"/>
          <p:cNvSpPr txBox="1"/>
          <p:nvPr/>
        </p:nvSpPr>
        <p:spPr>
          <a:xfrm>
            <a:off x="1143000" y="2267712"/>
            <a:ext cx="274320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Student submits</a:t>
            </a:r>
          </a:p>
        </p:txBody>
      </p:sp>
      <p:sp>
        <p:nvSpPr>
          <p:cNvPr id="8" name="TextBox 7"/>
          <p:cNvSpPr txBox="1"/>
          <p:nvPr/>
        </p:nvSpPr>
        <p:spPr>
          <a:xfrm>
            <a:off x="1143000" y="2514600"/>
            <a:ext cx="2743200" cy="27432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Fills the form, adds files</a:t>
            </a:r>
          </a:p>
        </p:txBody>
      </p:sp>
      <p:sp>
        <p:nvSpPr>
          <p:cNvPr id="9" name="Oval 8"/>
          <p:cNvSpPr/>
          <p:nvPr/>
        </p:nvSpPr>
        <p:spPr>
          <a:xfrm>
            <a:off x="704088" y="3054096"/>
            <a:ext cx="237744" cy="237744"/>
          </a:xfrm>
          <a:prstGeom prst="ellipse">
            <a:avLst/>
          </a:prstGeom>
          <a:solidFill>
            <a:srgbClr val="FFFFFF"/>
          </a:solidFill>
          <a:ln w="19050">
            <a:solidFill>
              <a:srgbClr val="1D4F91"/>
            </a:solidFill>
          </a:ln>
          <a:effectLst/>
        </p:spPr>
        <p:txBody>
          <a:bodyPr rtlCol="0" anchor="ctr"/>
          <a:lstStyle/>
          <a:p>
            <a:endParaRPr/>
          </a:p>
        </p:txBody>
      </p:sp>
      <p:sp>
        <p:nvSpPr>
          <p:cNvPr id="10" name="TextBox 9"/>
          <p:cNvSpPr txBox="1"/>
          <p:nvPr/>
        </p:nvSpPr>
        <p:spPr>
          <a:xfrm>
            <a:off x="1143000" y="3017520"/>
            <a:ext cx="274320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Faculty coordinator</a:t>
            </a:r>
          </a:p>
        </p:txBody>
      </p:sp>
      <p:sp>
        <p:nvSpPr>
          <p:cNvPr id="11" name="TextBox 10"/>
          <p:cNvSpPr txBox="1"/>
          <p:nvPr/>
        </p:nvSpPr>
        <p:spPr>
          <a:xfrm>
            <a:off x="1143000" y="3264408"/>
            <a:ext cx="2743200" cy="27432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SLA 48 h, then a nudge</a:t>
            </a:r>
          </a:p>
        </p:txBody>
      </p:sp>
      <p:sp>
        <p:nvSpPr>
          <p:cNvPr id="12" name="Oval 11"/>
          <p:cNvSpPr/>
          <p:nvPr/>
        </p:nvSpPr>
        <p:spPr>
          <a:xfrm>
            <a:off x="704088" y="3803904"/>
            <a:ext cx="237744" cy="237744"/>
          </a:xfrm>
          <a:prstGeom prst="ellipse">
            <a:avLst/>
          </a:prstGeom>
          <a:solidFill>
            <a:srgbClr val="FFFFFF"/>
          </a:solidFill>
          <a:ln w="19050">
            <a:solidFill>
              <a:srgbClr val="1D4F91"/>
            </a:solidFill>
          </a:ln>
          <a:effectLst/>
        </p:spPr>
        <p:txBody>
          <a:bodyPr rtlCol="0" anchor="ctr"/>
          <a:lstStyle/>
          <a:p>
            <a:endParaRPr/>
          </a:p>
        </p:txBody>
      </p:sp>
      <p:sp>
        <p:nvSpPr>
          <p:cNvPr id="13" name="TextBox 12"/>
          <p:cNvSpPr txBox="1"/>
          <p:nvPr/>
        </p:nvSpPr>
        <p:spPr>
          <a:xfrm>
            <a:off x="1143000" y="3767328"/>
            <a:ext cx="274320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HoD</a:t>
            </a:r>
          </a:p>
        </p:txBody>
      </p:sp>
      <p:sp>
        <p:nvSpPr>
          <p:cNvPr id="14" name="TextBox 13"/>
          <p:cNvSpPr txBox="1"/>
          <p:nvPr/>
        </p:nvSpPr>
        <p:spPr>
          <a:xfrm>
            <a:off x="1143000" y="4014215"/>
            <a:ext cx="2743200" cy="27432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On leave? Goes to the delegate</a:t>
            </a:r>
          </a:p>
        </p:txBody>
      </p:sp>
      <p:sp>
        <p:nvSpPr>
          <p:cNvPr id="15" name="Oval 14"/>
          <p:cNvSpPr/>
          <p:nvPr/>
        </p:nvSpPr>
        <p:spPr>
          <a:xfrm>
            <a:off x="704088" y="4553712"/>
            <a:ext cx="237744" cy="237744"/>
          </a:xfrm>
          <a:prstGeom prst="ellipse">
            <a:avLst/>
          </a:prstGeom>
          <a:solidFill>
            <a:srgbClr val="FFFFFF"/>
          </a:solidFill>
          <a:ln w="19050">
            <a:solidFill>
              <a:srgbClr val="1D4F91"/>
            </a:solidFill>
          </a:ln>
          <a:effectLst/>
        </p:spPr>
        <p:txBody>
          <a:bodyPr rtlCol="0" anchor="ctr"/>
          <a:lstStyle/>
          <a:p>
            <a:endParaRPr/>
          </a:p>
        </p:txBody>
      </p:sp>
      <p:sp>
        <p:nvSpPr>
          <p:cNvPr id="16" name="TextBox 15"/>
          <p:cNvSpPr txBox="1"/>
          <p:nvPr/>
        </p:nvSpPr>
        <p:spPr>
          <a:xfrm>
            <a:off x="1143000" y="4517136"/>
            <a:ext cx="274320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Dean Student Affairs</a:t>
            </a:r>
          </a:p>
        </p:txBody>
      </p:sp>
      <p:sp>
        <p:nvSpPr>
          <p:cNvPr id="17" name="TextBox 16"/>
          <p:cNvSpPr txBox="1"/>
          <p:nvPr/>
        </p:nvSpPr>
        <p:spPr>
          <a:xfrm>
            <a:off x="1143000" y="4764024"/>
            <a:ext cx="2743200" cy="27432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Missed SLA? Auto-escalates</a:t>
            </a:r>
          </a:p>
        </p:txBody>
      </p:sp>
      <p:sp>
        <p:nvSpPr>
          <p:cNvPr id="18" name="Oval 17"/>
          <p:cNvSpPr/>
          <p:nvPr/>
        </p:nvSpPr>
        <p:spPr>
          <a:xfrm>
            <a:off x="667512" y="5266944"/>
            <a:ext cx="310896" cy="310896"/>
          </a:xfrm>
          <a:prstGeom prst="ellipse">
            <a:avLst/>
          </a:prstGeom>
          <a:solidFill>
            <a:srgbClr val="1E7A4C"/>
          </a:solidFill>
          <a:ln>
            <a:noFill/>
          </a:ln>
          <a:effectLst/>
        </p:spPr>
        <p:txBody>
          <a:bodyPr rtlCol="0" anchor="ctr"/>
          <a:lstStyle/>
          <a:p>
            <a:endParaRPr/>
          </a:p>
        </p:txBody>
      </p:sp>
      <p:sp>
        <p:nvSpPr>
          <p:cNvPr id="19" name="Freeform 18"/>
          <p:cNvSpPr/>
          <p:nvPr/>
        </p:nvSpPr>
        <p:spPr>
          <a:xfrm>
            <a:off x="750676" y="5374203"/>
            <a:ext cx="149386" cy="101196"/>
          </a:xfrm>
          <a:custGeom>
            <a:avLst/>
            <a:gdLst/>
            <a:ahLst/>
            <a:cxnLst/>
            <a:rect l="l" t="t" r="r" b="b"/>
            <a:pathLst>
              <a:path w="149386" h="101196">
                <a:moveTo>
                  <a:pt x="0" y="50116"/>
                </a:moveTo>
                <a:lnTo>
                  <a:pt x="53008" y="101196"/>
                </a:lnTo>
                <a:lnTo>
                  <a:pt x="149386" y="0"/>
                </a:lnTo>
              </a:path>
            </a:pathLst>
          </a:custGeom>
          <a:noFill/>
          <a:ln w="19050"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43000" y="5266944"/>
            <a:ext cx="2743200" cy="274320"/>
          </a:xfrm>
          <a:prstGeom prst="rect">
            <a:avLst/>
          </a:prstGeom>
          <a:noFill/>
        </p:spPr>
        <p:txBody>
          <a:bodyPr wrap="square" lIns="0" tIns="0" rIns="0" bIns="0" anchor="t"/>
          <a:lstStyle/>
          <a:p>
            <a:pPr algn="l">
              <a:lnSpc>
                <a:spcPct val="110000"/>
              </a:lnSpc>
              <a:spcAft>
                <a:spcPts val="0"/>
              </a:spcAft>
            </a:pPr>
            <a:r>
              <a:rPr sz="1400">
                <a:solidFill>
                  <a:srgbClr val="1E7A4C"/>
                </a:solidFill>
                <a:latin typeface="Public Sans SemiBold"/>
                <a:ea typeface="Public Sans SemiBold"/>
                <a:cs typeface="Public Sans SemiBold"/>
              </a:rPr>
              <a:t>Approved and sealed</a:t>
            </a:r>
          </a:p>
        </p:txBody>
      </p:sp>
      <p:sp>
        <p:nvSpPr>
          <p:cNvPr id="21" name="Freeform 20"/>
          <p:cNvSpPr/>
          <p:nvPr/>
        </p:nvSpPr>
        <p:spPr>
          <a:xfrm>
            <a:off x="2971800" y="3154680"/>
            <a:ext cx="594360" cy="676656"/>
          </a:xfrm>
          <a:custGeom>
            <a:avLst/>
            <a:gdLst/>
            <a:ahLst/>
            <a:cxnLst/>
            <a:rect l="l" t="t" r="r" b="b"/>
            <a:pathLst>
              <a:path w="594360" h="676656">
                <a:moveTo>
                  <a:pt x="0" y="0"/>
                </a:moveTo>
                <a:lnTo>
                  <a:pt x="594360" y="0"/>
                </a:lnTo>
                <a:lnTo>
                  <a:pt x="594360" y="676656"/>
                </a:lnTo>
              </a:path>
            </a:pathLst>
          </a:custGeom>
          <a:noFill/>
          <a:ln w="12700" cap="rnd">
            <a:solidFill>
              <a:srgbClr val="6B7480"/>
            </a:solidFill>
            <a:prstDash val="dash"/>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447288" y="3803904"/>
            <a:ext cx="237744" cy="237744"/>
          </a:xfrm>
          <a:prstGeom prst="ellipse">
            <a:avLst/>
          </a:prstGeom>
          <a:solidFill>
            <a:srgbClr val="FFFFFF"/>
          </a:solidFill>
          <a:ln w="19050">
            <a:solidFill>
              <a:srgbClr val="1D4F91"/>
            </a:solidFill>
          </a:ln>
          <a:effectLst/>
        </p:spPr>
        <p:txBody>
          <a:bodyPr rtlCol="0" anchor="ctr"/>
          <a:lstStyle/>
          <a:p>
            <a:endParaRPr/>
          </a:p>
        </p:txBody>
      </p:sp>
      <p:sp>
        <p:nvSpPr>
          <p:cNvPr id="23" name="TextBox 22"/>
          <p:cNvSpPr txBox="1"/>
          <p:nvPr/>
        </p:nvSpPr>
        <p:spPr>
          <a:xfrm>
            <a:off x="3794759" y="3767328"/>
            <a:ext cx="146304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Security</a:t>
            </a:r>
          </a:p>
        </p:txBody>
      </p:sp>
      <p:sp>
        <p:nvSpPr>
          <p:cNvPr id="24" name="TextBox 23"/>
          <p:cNvSpPr txBox="1"/>
          <p:nvPr/>
        </p:nvSpPr>
        <p:spPr>
          <a:xfrm>
            <a:off x="3794759" y="4014215"/>
            <a:ext cx="1463040" cy="27432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in parallel</a:t>
            </a:r>
          </a:p>
        </p:txBody>
      </p:sp>
      <p:cxnSp>
        <p:nvCxnSpPr>
          <p:cNvPr id="25" name="Connector 24"/>
          <p:cNvCxnSpPr/>
          <p:nvPr/>
        </p:nvCxnSpPr>
        <p:spPr>
          <a:xfrm>
            <a:off x="5074920" y="1920240"/>
            <a:ext cx="0" cy="3931920"/>
          </a:xfrm>
          <a:prstGeom prst="line">
            <a:avLst/>
          </a:prstGeom>
          <a:ln w="9525">
            <a:solidFill>
              <a:srgbClr val="E1E4E8"/>
            </a:solidFill>
          </a:ln>
        </p:spPr>
      </p:cxnSp>
      <p:sp>
        <p:nvSpPr>
          <p:cNvPr id="26" name="TextBox 25"/>
          <p:cNvSpPr txBox="1"/>
          <p:nvPr/>
        </p:nvSpPr>
        <p:spPr>
          <a:xfrm>
            <a:off x="5349240" y="1920240"/>
            <a:ext cx="3017520"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Optional AI help</a:t>
            </a:r>
          </a:p>
        </p:txBody>
      </p:sp>
      <p:sp>
        <p:nvSpPr>
          <p:cNvPr id="27" name="TextBox 26"/>
          <p:cNvSpPr txBox="1"/>
          <p:nvPr/>
        </p:nvSpPr>
        <p:spPr>
          <a:xfrm>
            <a:off x="5349240" y="2331720"/>
            <a:ext cx="297180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Field suggestions</a:t>
            </a:r>
          </a:p>
        </p:txBody>
      </p:sp>
      <p:sp>
        <p:nvSpPr>
          <p:cNvPr id="28" name="TextBox 27"/>
          <p:cNvSpPr txBox="1"/>
          <p:nvPr/>
        </p:nvSpPr>
        <p:spPr>
          <a:xfrm>
            <a:off x="5349240" y="2606040"/>
            <a:ext cx="2971800" cy="45720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Suggests a missing detail</a:t>
            </a:r>
          </a:p>
        </p:txBody>
      </p:sp>
      <p:sp>
        <p:nvSpPr>
          <p:cNvPr id="29" name="TextBox 28"/>
          <p:cNvSpPr txBox="1"/>
          <p:nvPr/>
        </p:nvSpPr>
        <p:spPr>
          <a:xfrm>
            <a:off x="5349240" y="3081528"/>
            <a:ext cx="297180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Completeness check</a:t>
            </a:r>
          </a:p>
        </p:txBody>
      </p:sp>
      <p:sp>
        <p:nvSpPr>
          <p:cNvPr id="30" name="TextBox 29"/>
          <p:cNvSpPr txBox="1"/>
          <p:nvPr/>
        </p:nvSpPr>
        <p:spPr>
          <a:xfrm>
            <a:off x="5349240" y="3355848"/>
            <a:ext cx="2971800" cy="45720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Catches a missing attachment early</a:t>
            </a:r>
          </a:p>
        </p:txBody>
      </p:sp>
      <p:sp>
        <p:nvSpPr>
          <p:cNvPr id="31" name="TextBox 30"/>
          <p:cNvSpPr txBox="1"/>
          <p:nvPr/>
        </p:nvSpPr>
        <p:spPr>
          <a:xfrm>
            <a:off x="5349240" y="3831336"/>
            <a:ext cx="297180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Two-line summary</a:t>
            </a:r>
          </a:p>
        </p:txBody>
      </p:sp>
      <p:sp>
        <p:nvSpPr>
          <p:cNvPr id="32" name="TextBox 31"/>
          <p:cNvSpPr txBox="1"/>
          <p:nvPr/>
        </p:nvSpPr>
        <p:spPr>
          <a:xfrm>
            <a:off x="5349240" y="4105656"/>
            <a:ext cx="2971800" cy="45720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Approver reads two lines, not pages</a:t>
            </a:r>
          </a:p>
        </p:txBody>
      </p:sp>
      <p:sp>
        <p:nvSpPr>
          <p:cNvPr id="33" name="TextBox 32"/>
          <p:cNvSpPr txBox="1"/>
          <p:nvPr/>
        </p:nvSpPr>
        <p:spPr>
          <a:xfrm>
            <a:off x="5349240" y="4581144"/>
            <a:ext cx="297180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Status chat</a:t>
            </a:r>
          </a:p>
        </p:txBody>
      </p:sp>
      <p:sp>
        <p:nvSpPr>
          <p:cNvPr id="34" name="TextBox 33"/>
          <p:cNvSpPr txBox="1"/>
          <p:nvPr/>
        </p:nvSpPr>
        <p:spPr>
          <a:xfrm>
            <a:off x="5349240" y="4855464"/>
            <a:ext cx="2971800" cy="45720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"Where is my NOC?" in English, Hindi, Marathi</a:t>
            </a:r>
          </a:p>
        </p:txBody>
      </p:sp>
      <p:sp>
        <p:nvSpPr>
          <p:cNvPr id="35" name="TextBox 34"/>
          <p:cNvSpPr txBox="1"/>
          <p:nvPr/>
        </p:nvSpPr>
        <p:spPr>
          <a:xfrm>
            <a:off x="5349240" y="5394959"/>
            <a:ext cx="3017520" cy="320040"/>
          </a:xfrm>
          <a:prstGeom prst="rect">
            <a:avLst/>
          </a:prstGeom>
          <a:noFill/>
        </p:spPr>
        <p:txBody>
          <a:bodyPr wrap="square" lIns="0" tIns="0" rIns="0" bIns="0" anchor="t"/>
          <a:lstStyle/>
          <a:p>
            <a:pPr algn="l">
              <a:lnSpc>
                <a:spcPct val="110000"/>
              </a:lnSpc>
              <a:spcAft>
                <a:spcPts val="0"/>
              </a:spcAft>
            </a:pPr>
            <a:r>
              <a:rPr sz="1400">
                <a:solidFill>
                  <a:srgbClr val="1D4F91"/>
                </a:solidFill>
                <a:latin typeface="Public Sans SemiBold"/>
                <a:ea typeface="Public Sans SemiBold"/>
                <a:cs typeface="Public Sans SemiBold"/>
              </a:rPr>
              <a:t>People decide; AI only suggests.</a:t>
            </a:r>
          </a:p>
        </p:txBody>
      </p:sp>
      <p:sp>
        <p:nvSpPr>
          <p:cNvPr id="36" name="Rounded Rectangle 35"/>
          <p:cNvSpPr/>
          <p:nvPr/>
        </p:nvSpPr>
        <p:spPr>
          <a:xfrm>
            <a:off x="8915400" y="1783080"/>
            <a:ext cx="2587752" cy="3977639"/>
          </a:xfrm>
          <a:prstGeom prst="roundRect">
            <a:avLst>
              <a:gd name="adj" fmla="val 7000"/>
            </a:avLst>
          </a:prstGeom>
          <a:solidFill>
            <a:srgbClr val="FFFFFF"/>
          </a:solidFill>
          <a:ln w="19050">
            <a:solidFill>
              <a:srgbClr val="101418"/>
            </a:solidFill>
          </a:ln>
          <a:effectLst/>
        </p:spPr>
        <p:txBody>
          <a:bodyPr rtlCol="0" anchor="ctr"/>
          <a:lstStyle/>
          <a:p>
            <a:endParaRPr/>
          </a:p>
        </p:txBody>
      </p:sp>
      <p:sp>
        <p:nvSpPr>
          <p:cNvPr id="37" name="TextBox 36"/>
          <p:cNvSpPr txBox="1"/>
          <p:nvPr/>
        </p:nvSpPr>
        <p:spPr>
          <a:xfrm>
            <a:off x="9098280" y="2011680"/>
            <a:ext cx="1828800" cy="274320"/>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Approvals</a:t>
            </a:r>
          </a:p>
        </p:txBody>
      </p:sp>
      <p:sp>
        <p:nvSpPr>
          <p:cNvPr id="38" name="TextBox 37"/>
          <p:cNvSpPr txBox="1"/>
          <p:nvPr/>
        </p:nvSpPr>
        <p:spPr>
          <a:xfrm>
            <a:off x="10378440" y="2029968"/>
            <a:ext cx="960120" cy="274320"/>
          </a:xfrm>
          <a:prstGeom prst="rect">
            <a:avLst/>
          </a:prstGeom>
          <a:noFill/>
        </p:spPr>
        <p:txBody>
          <a:bodyPr wrap="square" lIns="0" tIns="0" rIns="0" bIns="0" anchor="t"/>
          <a:lstStyle/>
          <a:p>
            <a:pPr algn="r">
              <a:lnSpc>
                <a:spcPct val="110000"/>
              </a:lnSpc>
              <a:spcAft>
                <a:spcPts val="0"/>
              </a:spcAft>
            </a:pPr>
            <a:r>
              <a:rPr sz="1100">
                <a:solidFill>
                  <a:srgbClr val="5A6370"/>
                </a:solidFill>
                <a:latin typeface="Public Sans Regular"/>
                <a:ea typeface="Public Sans Regular"/>
                <a:cs typeface="Public Sans Regular"/>
              </a:rPr>
              <a:t>12 pending</a:t>
            </a:r>
          </a:p>
        </p:txBody>
      </p:sp>
      <p:sp>
        <p:nvSpPr>
          <p:cNvPr id="39" name="Rectangle 38"/>
          <p:cNvSpPr/>
          <p:nvPr/>
        </p:nvSpPr>
        <p:spPr>
          <a:xfrm>
            <a:off x="9098280" y="2423160"/>
            <a:ext cx="2221992" cy="2423160"/>
          </a:xfrm>
          <a:prstGeom prst="rect">
            <a:avLst/>
          </a:prstGeom>
          <a:solidFill>
            <a:srgbClr val="F4F6F8"/>
          </a:solidFill>
          <a:ln>
            <a:noFill/>
          </a:ln>
          <a:effectLst/>
        </p:spPr>
        <p:txBody>
          <a:bodyPr rtlCol="0" anchor="ctr"/>
          <a:lstStyle/>
          <a:p>
            <a:endParaRPr/>
          </a:p>
        </p:txBody>
      </p:sp>
      <p:sp>
        <p:nvSpPr>
          <p:cNvPr id="40" name="TextBox 39"/>
          <p:cNvSpPr txBox="1"/>
          <p:nvPr/>
        </p:nvSpPr>
        <p:spPr>
          <a:xfrm>
            <a:off x="9235440" y="2560320"/>
            <a:ext cx="2011680" cy="228600"/>
          </a:xfrm>
          <a:prstGeom prst="rect">
            <a:avLst/>
          </a:prstGeom>
          <a:noFill/>
        </p:spPr>
        <p:txBody>
          <a:bodyPr wrap="square" lIns="0" tIns="0" rIns="0" bIns="0" anchor="t"/>
          <a:lstStyle/>
          <a:p>
            <a:pPr algn="l">
              <a:lnSpc>
                <a:spcPct val="110000"/>
              </a:lnSpc>
              <a:spcAft>
                <a:spcPts val="0"/>
              </a:spcAft>
            </a:pPr>
            <a:r>
              <a:rPr sz="900">
                <a:solidFill>
                  <a:srgbClr val="6B7480"/>
                </a:solidFill>
                <a:latin typeface="IBM Plex Mono Regular"/>
                <a:ea typeface="IBM Plex Mono Regular"/>
                <a:cs typeface="IBM Plex Mono Regular"/>
              </a:rPr>
              <a:t>EVENT PERMISSION</a:t>
            </a:r>
          </a:p>
        </p:txBody>
      </p:sp>
      <p:sp>
        <p:nvSpPr>
          <p:cNvPr id="41" name="TextBox 40"/>
          <p:cNvSpPr txBox="1"/>
          <p:nvPr/>
        </p:nvSpPr>
        <p:spPr>
          <a:xfrm>
            <a:off x="9235440" y="2770632"/>
            <a:ext cx="2011680" cy="274320"/>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Robotics fest, 5 Nov</a:t>
            </a:r>
          </a:p>
        </p:txBody>
      </p:sp>
      <p:sp>
        <p:nvSpPr>
          <p:cNvPr id="42" name="TextBox 41"/>
          <p:cNvSpPr txBox="1"/>
          <p:nvPr/>
        </p:nvSpPr>
        <p:spPr>
          <a:xfrm>
            <a:off x="9235440" y="3017520"/>
            <a:ext cx="2011680" cy="228600"/>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Regular"/>
                <a:ea typeface="Public Sans Regular"/>
                <a:cs typeface="Public Sans Regular"/>
              </a:rPr>
              <a:t>Riya · CSE, 2nd year</a:t>
            </a:r>
          </a:p>
        </p:txBody>
      </p:sp>
      <p:sp>
        <p:nvSpPr>
          <p:cNvPr id="43" name="TextBox 42"/>
          <p:cNvSpPr txBox="1"/>
          <p:nvPr/>
        </p:nvSpPr>
        <p:spPr>
          <a:xfrm>
            <a:off x="9235440" y="3319272"/>
            <a:ext cx="2011680" cy="228600"/>
          </a:xfrm>
          <a:prstGeom prst="rect">
            <a:avLst/>
          </a:prstGeom>
          <a:noFill/>
        </p:spPr>
        <p:txBody>
          <a:bodyPr wrap="square" lIns="0" tIns="0" rIns="0" bIns="0" anchor="t"/>
          <a:lstStyle/>
          <a:p>
            <a:pPr algn="l">
              <a:lnSpc>
                <a:spcPct val="110000"/>
              </a:lnSpc>
              <a:spcAft>
                <a:spcPts val="0"/>
              </a:spcAft>
            </a:pPr>
            <a:r>
              <a:rPr sz="900">
                <a:solidFill>
                  <a:srgbClr val="1D4F91"/>
                </a:solidFill>
                <a:latin typeface="IBM Plex Mono Regular"/>
                <a:ea typeface="IBM Plex Mono Regular"/>
                <a:cs typeface="IBM Plex Mono Regular"/>
              </a:rPr>
              <a:t>AI SUMMARY</a:t>
            </a:r>
          </a:p>
        </p:txBody>
      </p:sp>
      <p:sp>
        <p:nvSpPr>
          <p:cNvPr id="44" name="TextBox 43"/>
          <p:cNvSpPr txBox="1"/>
          <p:nvPr/>
        </p:nvSpPr>
        <p:spPr>
          <a:xfrm>
            <a:off x="9235440" y="3520440"/>
            <a:ext cx="1965960" cy="640080"/>
          </a:xfrm>
          <a:prstGeom prst="rect">
            <a:avLst/>
          </a:prstGeom>
          <a:noFill/>
        </p:spPr>
        <p:txBody>
          <a:bodyPr wrap="square" lIns="0" tIns="0" rIns="0" bIns="0" anchor="t"/>
          <a:lstStyle/>
          <a:p>
            <a:pPr algn="l">
              <a:lnSpc>
                <a:spcPct val="110000"/>
              </a:lnSpc>
              <a:spcAft>
                <a:spcPts val="0"/>
              </a:spcAft>
            </a:pPr>
            <a:r>
              <a:rPr sz="1100">
                <a:solidFill>
                  <a:srgbClr val="101418"/>
                </a:solidFill>
                <a:latin typeface="Public Sans Regular"/>
                <a:ea typeface="Public Sans Regular"/>
                <a:cs typeface="Public Sans Regular"/>
              </a:rPr>
              <a:t>Fest in Hall B, 120 students. Venue booking attached.</a:t>
            </a:r>
          </a:p>
        </p:txBody>
      </p:sp>
      <p:sp>
        <p:nvSpPr>
          <p:cNvPr id="45" name="Freeform 44"/>
          <p:cNvSpPr/>
          <p:nvPr/>
        </p:nvSpPr>
        <p:spPr>
          <a:xfrm>
            <a:off x="9253728" y="4078224"/>
            <a:ext cx="113385" cy="76809"/>
          </a:xfrm>
          <a:custGeom>
            <a:avLst/>
            <a:gdLst/>
            <a:ahLst/>
            <a:cxnLst/>
            <a:rect l="l" t="t" r="r" b="b"/>
            <a:pathLst>
              <a:path w="113385" h="76809">
                <a:moveTo>
                  <a:pt x="0" y="38039"/>
                </a:moveTo>
                <a:lnTo>
                  <a:pt x="40233" y="76809"/>
                </a:lnTo>
                <a:lnTo>
                  <a:pt x="113385" y="0"/>
                </a:lnTo>
              </a:path>
            </a:pathLst>
          </a:custGeom>
          <a:noFill/>
          <a:ln w="19050" cap="rnd">
            <a:solidFill>
              <a:srgbClr val="1E7A4C"/>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445752" y="4014216"/>
            <a:ext cx="1828800" cy="228600"/>
          </a:xfrm>
          <a:prstGeom prst="rect">
            <a:avLst/>
          </a:prstGeom>
          <a:noFill/>
        </p:spPr>
        <p:txBody>
          <a:bodyPr wrap="square" lIns="0" tIns="0" rIns="0" bIns="0" anchor="t"/>
          <a:lstStyle/>
          <a:p>
            <a:pPr algn="l">
              <a:lnSpc>
                <a:spcPct val="110000"/>
              </a:lnSpc>
              <a:spcAft>
                <a:spcPts val="0"/>
              </a:spcAft>
            </a:pPr>
            <a:r>
              <a:rPr sz="1100">
                <a:solidFill>
                  <a:srgbClr val="1E7A4C"/>
                </a:solidFill>
                <a:latin typeface="Public Sans Regular"/>
                <a:ea typeface="Public Sans Regular"/>
                <a:cs typeface="Public Sans Regular"/>
              </a:rPr>
              <a:t>No risk flags</a:t>
            </a:r>
          </a:p>
        </p:txBody>
      </p:sp>
      <p:sp>
        <p:nvSpPr>
          <p:cNvPr id="47" name="Rectangle 46"/>
          <p:cNvSpPr/>
          <p:nvPr/>
        </p:nvSpPr>
        <p:spPr>
          <a:xfrm>
            <a:off x="9098280" y="4983480"/>
            <a:ext cx="1065276" cy="384048"/>
          </a:xfrm>
          <a:prstGeom prst="rect">
            <a:avLst/>
          </a:prstGeom>
          <a:solidFill>
            <a:srgbClr val="1E7A4C"/>
          </a:solidFill>
          <a:ln>
            <a:noFill/>
          </a:ln>
          <a:effectLst/>
        </p:spPr>
        <p:txBody>
          <a:bodyPr rtlCol="0" anchor="ctr"/>
          <a:lstStyle/>
          <a:p>
            <a:endParaRPr/>
          </a:p>
        </p:txBody>
      </p:sp>
      <p:sp>
        <p:nvSpPr>
          <p:cNvPr id="48" name="TextBox 47"/>
          <p:cNvSpPr txBox="1"/>
          <p:nvPr/>
        </p:nvSpPr>
        <p:spPr>
          <a:xfrm>
            <a:off x="9098280" y="4983480"/>
            <a:ext cx="1065276" cy="384048"/>
          </a:xfrm>
          <a:prstGeom prst="rect">
            <a:avLst/>
          </a:prstGeom>
          <a:noFill/>
        </p:spPr>
        <p:txBody>
          <a:bodyPr wrap="square" lIns="0" tIns="0" rIns="0" bIns="0" anchor="ctr"/>
          <a:lstStyle/>
          <a:p>
            <a:pPr algn="ctr">
              <a:lnSpc>
                <a:spcPct val="110000"/>
              </a:lnSpc>
              <a:spcAft>
                <a:spcPts val="0"/>
              </a:spcAft>
            </a:pPr>
            <a:r>
              <a:rPr sz="1100">
                <a:solidFill>
                  <a:srgbClr val="FFFFFF"/>
                </a:solidFill>
                <a:latin typeface="Public Sans SemiBold"/>
                <a:ea typeface="Public Sans SemiBold"/>
                <a:cs typeface="Public Sans SemiBold"/>
              </a:rPr>
              <a:t>Approve</a:t>
            </a:r>
          </a:p>
        </p:txBody>
      </p:sp>
      <p:sp>
        <p:nvSpPr>
          <p:cNvPr id="49" name="Rectangle 48"/>
          <p:cNvSpPr/>
          <p:nvPr/>
        </p:nvSpPr>
        <p:spPr>
          <a:xfrm>
            <a:off x="10254995" y="4983480"/>
            <a:ext cx="1065276" cy="384048"/>
          </a:xfrm>
          <a:prstGeom prst="rect">
            <a:avLst/>
          </a:prstGeom>
          <a:solidFill>
            <a:srgbClr val="FFFFFF"/>
          </a:solidFill>
          <a:ln w="12700">
            <a:solidFill>
              <a:srgbClr val="6B7480"/>
            </a:solidFill>
          </a:ln>
          <a:effectLst/>
        </p:spPr>
        <p:txBody>
          <a:bodyPr rtlCol="0" anchor="ctr"/>
          <a:lstStyle/>
          <a:p>
            <a:endParaRPr/>
          </a:p>
        </p:txBody>
      </p:sp>
      <p:sp>
        <p:nvSpPr>
          <p:cNvPr id="50" name="TextBox 49"/>
          <p:cNvSpPr txBox="1"/>
          <p:nvPr/>
        </p:nvSpPr>
        <p:spPr>
          <a:xfrm>
            <a:off x="10254995" y="4983480"/>
            <a:ext cx="1065276" cy="384048"/>
          </a:xfrm>
          <a:prstGeom prst="rect">
            <a:avLst/>
          </a:prstGeom>
          <a:noFill/>
        </p:spPr>
        <p:txBody>
          <a:bodyPr wrap="square" lIns="0" tIns="0" rIns="0" bIns="0" anchor="ctr"/>
          <a:lstStyle/>
          <a:p>
            <a:pPr algn="ctr">
              <a:lnSpc>
                <a:spcPct val="110000"/>
              </a:lnSpc>
              <a:spcAft>
                <a:spcPts val="0"/>
              </a:spcAft>
            </a:pPr>
            <a:r>
              <a:rPr sz="1100">
                <a:solidFill>
                  <a:srgbClr val="101418"/>
                </a:solidFill>
                <a:latin typeface="Public Sans SemiBold"/>
                <a:ea typeface="Public Sans SemiBold"/>
                <a:cs typeface="Public Sans SemiBold"/>
              </a:rPr>
              <a:t>Return</a:t>
            </a:r>
          </a:p>
        </p:txBody>
      </p:sp>
      <p:sp>
        <p:nvSpPr>
          <p:cNvPr id="51" name="TextBox 50"/>
          <p:cNvSpPr txBox="1"/>
          <p:nvPr/>
        </p:nvSpPr>
        <p:spPr>
          <a:xfrm>
            <a:off x="8915400" y="5833872"/>
            <a:ext cx="2587752" cy="228600"/>
          </a:xfrm>
          <a:prstGeom prst="rect">
            <a:avLst/>
          </a:prstGeom>
          <a:noFill/>
        </p:spPr>
        <p:txBody>
          <a:bodyPr wrap="square" lIns="0" tIns="0" rIns="0" bIns="0" anchor="t"/>
          <a:lstStyle/>
          <a:p>
            <a:pPr algn="ctr">
              <a:lnSpc>
                <a:spcPct val="110000"/>
              </a:lnSpc>
              <a:spcAft>
                <a:spcPts val="0"/>
              </a:spcAft>
            </a:pPr>
            <a:r>
              <a:rPr sz="1100">
                <a:solidFill>
                  <a:srgbClr val="6B7480"/>
                </a:solidFill>
                <a:latin typeface="Public Sans Regular"/>
                <a:ea typeface="Public Sans Regular"/>
                <a:cs typeface="Public Sans Regular"/>
              </a:rPr>
              <a:t>Concept screen: HoD inbox</a:t>
            </a:r>
          </a:p>
        </p:txBody>
      </p:sp>
      <p:sp>
        <p:nvSpPr>
          <p:cNvPr id="52" name="ftr"/>
          <p:cNvSpPr txBox="1"/>
          <p:nvPr/>
        </p:nvSpPr>
        <p:spPr>
          <a:xfrm>
            <a:off x="10591495" y="6400800"/>
            <a:ext cx="914400" cy="274320"/>
          </a:xfrm>
          <a:prstGeom prst="rect">
            <a:avLst/>
          </a:prstGeom>
          <a:noFill/>
        </p:spPr>
        <p:txBody>
          <a:bodyPr wrap="square" lIns="0" tIns="0" rIns="0" bIns="0" anchor="t"/>
          <a:lstStyle/>
          <a:p>
            <a:pPr algn="r">
              <a:lnSpc>
                <a:spcPct val="110000"/>
              </a:lnSpc>
              <a:spcAft>
                <a:spcPts val="0"/>
              </a:spcAft>
            </a:pPr>
            <a:r>
              <a:rPr sz="900">
                <a:solidFill>
                  <a:srgbClr val="6B7480"/>
                </a:solidFill>
                <a:latin typeface="Public Sans Regular"/>
                <a:ea typeface="Public Sans Regular"/>
                <a:cs typeface="Public Sans Regular"/>
              </a:rPr>
              <a:t>7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dr"/>
          <p:cNvSpPr txBox="1"/>
          <p:nvPr/>
        </p:nvSpPr>
        <p:spPr>
          <a:xfrm>
            <a:off x="685800" y="502920"/>
            <a:ext cx="10820095" cy="457200"/>
          </a:xfrm>
          <a:prstGeom prst="rect">
            <a:avLst/>
          </a:prstGeom>
          <a:noFill/>
        </p:spPr>
        <p:txBody>
          <a:bodyPr wrap="square" lIns="0" tIns="0" rIns="0" bIns="0" anchor="t"/>
          <a:lstStyle/>
          <a:p>
            <a:pPr algn="l">
              <a:lnSpc>
                <a:spcPct val="100000"/>
              </a:lnSpc>
              <a:spcAft>
                <a:spcPts val="0"/>
              </a:spcAft>
            </a:pPr>
            <a:r>
              <a:rPr sz="2800">
                <a:solidFill>
                  <a:srgbClr val="101418"/>
                </a:solidFill>
                <a:latin typeface="Public Sans Bold"/>
                <a:ea typeface="Public Sans Bold"/>
                <a:cs typeface="Public Sans Bold"/>
              </a:rPr>
              <a:t>Trust and Verification</a:t>
            </a:r>
          </a:p>
        </p:txBody>
      </p:sp>
      <p:sp>
        <p:nvSpPr>
          <p:cNvPr id="3" name="hdr"/>
          <p:cNvSpPr txBox="1"/>
          <p:nvPr/>
        </p:nvSpPr>
        <p:spPr>
          <a:xfrm>
            <a:off x="685800" y="987552"/>
            <a:ext cx="10820095" cy="320040"/>
          </a:xfrm>
          <a:prstGeom prst="rect">
            <a:avLst/>
          </a:prstGeom>
          <a:noFill/>
        </p:spPr>
        <p:txBody>
          <a:bodyPr wrap="square" lIns="0" tIns="0" rIns="0" bIns="0" anchor="t"/>
          <a:lstStyle/>
          <a:p>
            <a:pPr algn="l">
              <a:lnSpc>
                <a:spcPct val="110000"/>
              </a:lnSpc>
              <a:spcAft>
                <a:spcPts val="0"/>
              </a:spcAft>
            </a:pPr>
            <a:r>
              <a:rPr sz="1800">
                <a:solidFill>
                  <a:srgbClr val="5A6370"/>
                </a:solidFill>
                <a:latin typeface="Public Sans Regular"/>
                <a:ea typeface="Public Sans Regular"/>
                <a:cs typeface="Public Sans Regular"/>
              </a:rPr>
              <a:t>Change one character and the proof breaks.</a:t>
            </a:r>
          </a:p>
        </p:txBody>
      </p:sp>
      <p:sp>
        <p:nvSpPr>
          <p:cNvPr id="4" name="TextBox 3"/>
          <p:cNvSpPr txBox="1"/>
          <p:nvPr/>
        </p:nvSpPr>
        <p:spPr>
          <a:xfrm>
            <a:off x="685800" y="1783080"/>
            <a:ext cx="2331720" cy="292608"/>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Signed PDF</a:t>
            </a:r>
          </a:p>
        </p:txBody>
      </p:sp>
      <p:sp>
        <p:nvSpPr>
          <p:cNvPr id="5" name="TextBox 4"/>
          <p:cNvSpPr txBox="1"/>
          <p:nvPr/>
        </p:nvSpPr>
        <p:spPr>
          <a:xfrm>
            <a:off x="685800" y="2093976"/>
            <a:ext cx="2331720" cy="27432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Approved by Guide, T&amp;P officer, HoD</a:t>
            </a:r>
          </a:p>
        </p:txBody>
      </p:sp>
      <p:cxnSp>
        <p:nvCxnSpPr>
          <p:cNvPr id="6" name="Connector 5"/>
          <p:cNvCxnSpPr/>
          <p:nvPr/>
        </p:nvCxnSpPr>
        <p:spPr>
          <a:xfrm>
            <a:off x="3127248" y="1929384"/>
            <a:ext cx="259994" cy="0"/>
          </a:xfrm>
          <a:prstGeom prst="line">
            <a:avLst/>
          </a:prstGeom>
          <a:ln w="12700">
            <a:solidFill>
              <a:srgbClr val="6B7480"/>
            </a:solidFill>
            <a:tailEnd type="triangle" w="sm" len="sm"/>
          </a:ln>
        </p:spPr>
      </p:cxnSp>
      <p:sp>
        <p:nvSpPr>
          <p:cNvPr id="7" name="TextBox 6"/>
          <p:cNvSpPr txBox="1"/>
          <p:nvPr/>
        </p:nvSpPr>
        <p:spPr>
          <a:xfrm>
            <a:off x="3515258" y="1783080"/>
            <a:ext cx="2331720" cy="292608"/>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SHA-256 fingerprint</a:t>
            </a:r>
          </a:p>
        </p:txBody>
      </p:sp>
      <p:sp>
        <p:nvSpPr>
          <p:cNvPr id="8" name="TextBox 7"/>
          <p:cNvSpPr txBox="1"/>
          <p:nvPr/>
        </p:nvSpPr>
        <p:spPr>
          <a:xfrm>
            <a:off x="3515258" y="2093976"/>
            <a:ext cx="2331720" cy="274320"/>
          </a:xfrm>
          <a:prstGeom prst="rect">
            <a:avLst/>
          </a:prstGeom>
          <a:noFill/>
        </p:spPr>
        <p:txBody>
          <a:bodyPr wrap="square" lIns="0" tIns="0" rIns="0" bIns="0" anchor="t"/>
          <a:lstStyle/>
          <a:p>
            <a:pPr algn="l">
              <a:lnSpc>
                <a:spcPct val="110000"/>
              </a:lnSpc>
              <a:spcAft>
                <a:spcPts val="0"/>
              </a:spcAft>
            </a:pPr>
            <a:r>
              <a:rPr sz="1200">
                <a:solidFill>
                  <a:srgbClr val="5A6370"/>
                </a:solidFill>
                <a:latin typeface="IBM Plex Mono Regular"/>
                <a:ea typeface="IBM Plex Mono Regular"/>
                <a:cs typeface="IBM Plex Mono Regular"/>
              </a:rPr>
              <a:t>85dcad7e…f4838234</a:t>
            </a:r>
          </a:p>
        </p:txBody>
      </p:sp>
      <p:cxnSp>
        <p:nvCxnSpPr>
          <p:cNvPr id="9" name="Connector 8"/>
          <p:cNvCxnSpPr/>
          <p:nvPr/>
        </p:nvCxnSpPr>
        <p:spPr>
          <a:xfrm>
            <a:off x="5956706" y="1929384"/>
            <a:ext cx="259994" cy="0"/>
          </a:xfrm>
          <a:prstGeom prst="line">
            <a:avLst/>
          </a:prstGeom>
          <a:ln w="12700">
            <a:solidFill>
              <a:srgbClr val="6B7480"/>
            </a:solidFill>
            <a:tailEnd type="triangle" w="sm" len="sm"/>
          </a:ln>
        </p:spPr>
      </p:cxnSp>
      <p:sp>
        <p:nvSpPr>
          <p:cNvPr id="10" name="TextBox 9"/>
          <p:cNvSpPr txBox="1"/>
          <p:nvPr/>
        </p:nvSpPr>
        <p:spPr>
          <a:xfrm>
            <a:off x="6344716" y="1783080"/>
            <a:ext cx="2331720" cy="292608"/>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Written on chain</a:t>
            </a:r>
          </a:p>
        </p:txBody>
      </p:sp>
      <p:sp>
        <p:nvSpPr>
          <p:cNvPr id="11" name="TextBox 10"/>
          <p:cNvSpPr txBox="1"/>
          <p:nvPr/>
        </p:nvSpPr>
        <p:spPr>
          <a:xfrm>
            <a:off x="6344716" y="2093976"/>
            <a:ext cx="2331720" cy="27432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Hash, signer roles, timestamps</a:t>
            </a:r>
          </a:p>
        </p:txBody>
      </p:sp>
      <p:cxnSp>
        <p:nvCxnSpPr>
          <p:cNvPr id="12" name="Connector 11"/>
          <p:cNvCxnSpPr/>
          <p:nvPr/>
        </p:nvCxnSpPr>
        <p:spPr>
          <a:xfrm>
            <a:off x="8786164" y="1929384"/>
            <a:ext cx="259995" cy="0"/>
          </a:xfrm>
          <a:prstGeom prst="line">
            <a:avLst/>
          </a:prstGeom>
          <a:ln w="12700">
            <a:solidFill>
              <a:srgbClr val="6B7480"/>
            </a:solidFill>
            <a:tailEnd type="triangle" w="sm" len="sm"/>
          </a:ln>
        </p:spPr>
      </p:cxnSp>
      <p:sp>
        <p:nvSpPr>
          <p:cNvPr id="13" name="TextBox 12"/>
          <p:cNvSpPr txBox="1"/>
          <p:nvPr/>
        </p:nvSpPr>
        <p:spPr>
          <a:xfrm>
            <a:off x="9174175" y="1783080"/>
            <a:ext cx="2331720" cy="292608"/>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Verify code on the PDF</a:t>
            </a:r>
          </a:p>
        </p:txBody>
      </p:sp>
      <p:sp>
        <p:nvSpPr>
          <p:cNvPr id="14" name="TextBox 13"/>
          <p:cNvSpPr txBox="1"/>
          <p:nvPr/>
        </p:nvSpPr>
        <p:spPr>
          <a:xfrm>
            <a:off x="9174175" y="2093976"/>
            <a:ext cx="2331720" cy="27432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Opens the public verify page</a:t>
            </a:r>
          </a:p>
        </p:txBody>
      </p:sp>
      <p:sp>
        <p:nvSpPr>
          <p:cNvPr id="15" name="Rectangle 14"/>
          <p:cNvSpPr/>
          <p:nvPr/>
        </p:nvSpPr>
        <p:spPr>
          <a:xfrm>
            <a:off x="685800" y="2825496"/>
            <a:ext cx="10820095" cy="749808"/>
          </a:xfrm>
          <a:prstGeom prst="rect">
            <a:avLst/>
          </a:prstGeom>
          <a:solidFill>
            <a:srgbClr val="F4F6F8"/>
          </a:solidFill>
          <a:ln>
            <a:noFill/>
          </a:ln>
          <a:effectLst/>
        </p:spPr>
        <p:txBody>
          <a:bodyPr rtlCol="0" anchor="ctr"/>
          <a:lstStyle/>
          <a:p>
            <a:endParaRPr/>
          </a:p>
        </p:txBody>
      </p:sp>
      <p:sp>
        <p:nvSpPr>
          <p:cNvPr id="16" name="TextBox 15"/>
          <p:cNvSpPr txBox="1"/>
          <p:nvPr/>
        </p:nvSpPr>
        <p:spPr>
          <a:xfrm>
            <a:off x="960120" y="2935224"/>
            <a:ext cx="3017520" cy="228600"/>
          </a:xfrm>
          <a:prstGeom prst="rect">
            <a:avLst/>
          </a:prstGeom>
          <a:noFill/>
        </p:spPr>
        <p:txBody>
          <a:bodyPr wrap="square" lIns="0" tIns="0" rIns="0" bIns="0" anchor="t"/>
          <a:lstStyle/>
          <a:p>
            <a:pPr algn="l">
              <a:lnSpc>
                <a:spcPct val="110000"/>
              </a:lnSpc>
              <a:spcAft>
                <a:spcPts val="0"/>
              </a:spcAft>
            </a:pPr>
            <a:r>
              <a:rPr sz="1100">
                <a:solidFill>
                  <a:srgbClr val="6B7480"/>
                </a:solidFill>
                <a:latin typeface="Public Sans Regular"/>
                <a:ea typeface="Public Sans Regular"/>
                <a:cs typeface="Public Sans Regular"/>
              </a:rPr>
              <a:t>Document a verifier holds</a:t>
            </a:r>
          </a:p>
        </p:txBody>
      </p:sp>
      <p:sp>
        <p:nvSpPr>
          <p:cNvPr id="17" name="TextBox 16"/>
          <p:cNvSpPr txBox="1"/>
          <p:nvPr/>
        </p:nvSpPr>
        <p:spPr>
          <a:xfrm>
            <a:off x="960120" y="3172968"/>
            <a:ext cx="301752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Original document</a:t>
            </a:r>
          </a:p>
        </p:txBody>
      </p:sp>
      <p:sp>
        <p:nvSpPr>
          <p:cNvPr id="18" name="TextBox 17"/>
          <p:cNvSpPr txBox="1"/>
          <p:nvPr/>
        </p:nvSpPr>
        <p:spPr>
          <a:xfrm>
            <a:off x="4114800" y="2935224"/>
            <a:ext cx="2377440" cy="228600"/>
          </a:xfrm>
          <a:prstGeom prst="rect">
            <a:avLst/>
          </a:prstGeom>
          <a:noFill/>
        </p:spPr>
        <p:txBody>
          <a:bodyPr wrap="square" lIns="0" tIns="0" rIns="0" bIns="0" anchor="t"/>
          <a:lstStyle/>
          <a:p>
            <a:pPr algn="l">
              <a:lnSpc>
                <a:spcPct val="110000"/>
              </a:lnSpc>
              <a:spcAft>
                <a:spcPts val="0"/>
              </a:spcAft>
            </a:pPr>
            <a:r>
              <a:rPr sz="1100">
                <a:solidFill>
                  <a:srgbClr val="6B7480"/>
                </a:solidFill>
                <a:latin typeface="Public Sans Regular"/>
                <a:ea typeface="Public Sans Regular"/>
                <a:cs typeface="Public Sans Regular"/>
              </a:rPr>
              <a:t>Re-computed hash</a:t>
            </a:r>
          </a:p>
        </p:txBody>
      </p:sp>
      <p:sp>
        <p:nvSpPr>
          <p:cNvPr id="19" name="TextBox 18"/>
          <p:cNvSpPr txBox="1"/>
          <p:nvPr/>
        </p:nvSpPr>
        <p:spPr>
          <a:xfrm>
            <a:off x="4114800" y="3172968"/>
            <a:ext cx="2468880" cy="274320"/>
          </a:xfrm>
          <a:prstGeom prst="rect">
            <a:avLst/>
          </a:prstGeom>
          <a:noFill/>
        </p:spPr>
        <p:txBody>
          <a:bodyPr wrap="square" lIns="0" tIns="0" rIns="0" bIns="0" anchor="t"/>
          <a:lstStyle/>
          <a:p>
            <a:pPr algn="l">
              <a:lnSpc>
                <a:spcPct val="110000"/>
              </a:lnSpc>
              <a:spcAft>
                <a:spcPts val="0"/>
              </a:spcAft>
            </a:pPr>
            <a:r>
              <a:rPr sz="1200">
                <a:solidFill>
                  <a:srgbClr val="101418"/>
                </a:solidFill>
                <a:latin typeface="IBM Plex Mono Regular"/>
                <a:ea typeface="IBM Plex Mono Regular"/>
                <a:cs typeface="IBM Plex Mono Regular"/>
              </a:rPr>
              <a:t>85dcad7e…f4838234</a:t>
            </a:r>
          </a:p>
        </p:txBody>
      </p:sp>
      <p:sp>
        <p:nvSpPr>
          <p:cNvPr id="20" name="TextBox 19"/>
          <p:cNvSpPr txBox="1"/>
          <p:nvPr/>
        </p:nvSpPr>
        <p:spPr>
          <a:xfrm>
            <a:off x="6492240" y="3063240"/>
            <a:ext cx="365760" cy="365760"/>
          </a:xfrm>
          <a:prstGeom prst="rect">
            <a:avLst/>
          </a:prstGeom>
          <a:noFill/>
        </p:spPr>
        <p:txBody>
          <a:bodyPr wrap="square" lIns="0" tIns="0" rIns="0" bIns="0" anchor="t"/>
          <a:lstStyle/>
          <a:p>
            <a:pPr algn="ctr">
              <a:lnSpc>
                <a:spcPct val="110000"/>
              </a:lnSpc>
              <a:spcAft>
                <a:spcPts val="0"/>
              </a:spcAft>
            </a:pPr>
            <a:r>
              <a:rPr sz="1800">
                <a:solidFill>
                  <a:srgbClr val="5A6370"/>
                </a:solidFill>
                <a:latin typeface="Public Sans SemiBold"/>
                <a:ea typeface="Public Sans SemiBold"/>
                <a:cs typeface="Public Sans SemiBold"/>
              </a:rPr>
              <a:t>=</a:t>
            </a:r>
          </a:p>
        </p:txBody>
      </p:sp>
      <p:sp>
        <p:nvSpPr>
          <p:cNvPr id="21" name="TextBox 20"/>
          <p:cNvSpPr txBox="1"/>
          <p:nvPr/>
        </p:nvSpPr>
        <p:spPr>
          <a:xfrm>
            <a:off x="7040880" y="2935224"/>
            <a:ext cx="2377440" cy="228600"/>
          </a:xfrm>
          <a:prstGeom prst="rect">
            <a:avLst/>
          </a:prstGeom>
          <a:noFill/>
        </p:spPr>
        <p:txBody>
          <a:bodyPr wrap="square" lIns="0" tIns="0" rIns="0" bIns="0" anchor="t"/>
          <a:lstStyle/>
          <a:p>
            <a:pPr algn="l">
              <a:lnSpc>
                <a:spcPct val="110000"/>
              </a:lnSpc>
              <a:spcAft>
                <a:spcPts val="0"/>
              </a:spcAft>
            </a:pPr>
            <a:r>
              <a:rPr sz="1100">
                <a:solidFill>
                  <a:srgbClr val="6B7480"/>
                </a:solidFill>
                <a:latin typeface="Public Sans Regular"/>
                <a:ea typeface="Public Sans Regular"/>
                <a:cs typeface="Public Sans Regular"/>
              </a:rPr>
              <a:t>Hash on chain</a:t>
            </a:r>
          </a:p>
        </p:txBody>
      </p:sp>
      <p:sp>
        <p:nvSpPr>
          <p:cNvPr id="22" name="TextBox 21"/>
          <p:cNvSpPr txBox="1"/>
          <p:nvPr/>
        </p:nvSpPr>
        <p:spPr>
          <a:xfrm>
            <a:off x="7040880" y="3172968"/>
            <a:ext cx="2468880" cy="274320"/>
          </a:xfrm>
          <a:prstGeom prst="rect">
            <a:avLst/>
          </a:prstGeom>
          <a:noFill/>
        </p:spPr>
        <p:txBody>
          <a:bodyPr wrap="square" lIns="0" tIns="0" rIns="0" bIns="0" anchor="t"/>
          <a:lstStyle/>
          <a:p>
            <a:pPr algn="l">
              <a:lnSpc>
                <a:spcPct val="110000"/>
              </a:lnSpc>
              <a:spcAft>
                <a:spcPts val="0"/>
              </a:spcAft>
            </a:pPr>
            <a:r>
              <a:rPr sz="1200">
                <a:solidFill>
                  <a:srgbClr val="101418"/>
                </a:solidFill>
                <a:latin typeface="IBM Plex Mono Regular"/>
                <a:ea typeface="IBM Plex Mono Regular"/>
                <a:cs typeface="IBM Plex Mono Regular"/>
              </a:rPr>
              <a:t>85dcad7e…f4838234</a:t>
            </a:r>
          </a:p>
        </p:txBody>
      </p:sp>
      <p:sp>
        <p:nvSpPr>
          <p:cNvPr id="23" name="Oval 22"/>
          <p:cNvSpPr/>
          <p:nvPr/>
        </p:nvSpPr>
        <p:spPr>
          <a:xfrm>
            <a:off x="9665208" y="3035807"/>
            <a:ext cx="329184" cy="329184"/>
          </a:xfrm>
          <a:prstGeom prst="ellipse">
            <a:avLst/>
          </a:prstGeom>
          <a:solidFill>
            <a:srgbClr val="1E7A4C"/>
          </a:solidFill>
          <a:ln>
            <a:noFill/>
          </a:ln>
          <a:effectLst/>
        </p:spPr>
        <p:txBody>
          <a:bodyPr rtlCol="0" anchor="ctr"/>
          <a:lstStyle/>
          <a:p>
            <a:endParaRPr/>
          </a:p>
        </p:txBody>
      </p:sp>
      <p:sp>
        <p:nvSpPr>
          <p:cNvPr id="24" name="Freeform 23"/>
          <p:cNvSpPr/>
          <p:nvPr/>
        </p:nvSpPr>
        <p:spPr>
          <a:xfrm>
            <a:off x="9753264" y="3149376"/>
            <a:ext cx="158173" cy="107149"/>
          </a:xfrm>
          <a:custGeom>
            <a:avLst/>
            <a:gdLst/>
            <a:ahLst/>
            <a:cxnLst/>
            <a:rect l="l" t="t" r="r" b="b"/>
            <a:pathLst>
              <a:path w="158173" h="107149">
                <a:moveTo>
                  <a:pt x="0" y="53064"/>
                </a:moveTo>
                <a:lnTo>
                  <a:pt x="56126" y="107149"/>
                </a:lnTo>
                <a:lnTo>
                  <a:pt x="158173" y="0"/>
                </a:lnTo>
              </a:path>
            </a:pathLst>
          </a:custGeom>
          <a:noFill/>
          <a:ln w="19050"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104120" y="3072384"/>
            <a:ext cx="1371600" cy="274320"/>
          </a:xfrm>
          <a:prstGeom prst="rect">
            <a:avLst/>
          </a:prstGeom>
          <a:noFill/>
        </p:spPr>
        <p:txBody>
          <a:bodyPr wrap="square" lIns="0" tIns="0" rIns="0" bIns="0" anchor="t"/>
          <a:lstStyle/>
          <a:p>
            <a:pPr algn="l">
              <a:lnSpc>
                <a:spcPct val="110000"/>
              </a:lnSpc>
              <a:spcAft>
                <a:spcPts val="0"/>
              </a:spcAft>
            </a:pPr>
            <a:r>
              <a:rPr sz="1400">
                <a:solidFill>
                  <a:srgbClr val="1E7A4C"/>
                </a:solidFill>
                <a:latin typeface="Public Sans SemiBold"/>
                <a:ea typeface="Public Sans SemiBold"/>
                <a:cs typeface="Public Sans SemiBold"/>
              </a:rPr>
              <a:t>Verified</a:t>
            </a:r>
          </a:p>
        </p:txBody>
      </p:sp>
      <p:sp>
        <p:nvSpPr>
          <p:cNvPr id="26" name="Rectangle 25"/>
          <p:cNvSpPr/>
          <p:nvPr/>
        </p:nvSpPr>
        <p:spPr>
          <a:xfrm>
            <a:off x="685800" y="3739896"/>
            <a:ext cx="10820095" cy="749808"/>
          </a:xfrm>
          <a:prstGeom prst="rect">
            <a:avLst/>
          </a:prstGeom>
          <a:solidFill>
            <a:srgbClr val="F4F6F8"/>
          </a:solidFill>
          <a:ln>
            <a:noFill/>
          </a:ln>
          <a:effectLst/>
        </p:spPr>
        <p:txBody>
          <a:bodyPr rtlCol="0" anchor="ctr"/>
          <a:lstStyle/>
          <a:p>
            <a:endParaRPr/>
          </a:p>
        </p:txBody>
      </p:sp>
      <p:sp>
        <p:nvSpPr>
          <p:cNvPr id="27" name="TextBox 26"/>
          <p:cNvSpPr txBox="1"/>
          <p:nvPr/>
        </p:nvSpPr>
        <p:spPr>
          <a:xfrm>
            <a:off x="960120" y="3849624"/>
            <a:ext cx="3017520" cy="228600"/>
          </a:xfrm>
          <a:prstGeom prst="rect">
            <a:avLst/>
          </a:prstGeom>
          <a:noFill/>
        </p:spPr>
        <p:txBody>
          <a:bodyPr wrap="square" lIns="0" tIns="0" rIns="0" bIns="0" anchor="t"/>
          <a:lstStyle/>
          <a:p>
            <a:pPr algn="l">
              <a:lnSpc>
                <a:spcPct val="110000"/>
              </a:lnSpc>
              <a:spcAft>
                <a:spcPts val="0"/>
              </a:spcAft>
            </a:pPr>
            <a:r>
              <a:rPr sz="1100">
                <a:solidFill>
                  <a:srgbClr val="6B7480"/>
                </a:solidFill>
                <a:latin typeface="Public Sans Regular"/>
                <a:ea typeface="Public Sans Regular"/>
                <a:cs typeface="Public Sans Regular"/>
              </a:rPr>
              <a:t>Document a verifier holds</a:t>
            </a:r>
          </a:p>
        </p:txBody>
      </p:sp>
      <p:sp>
        <p:nvSpPr>
          <p:cNvPr id="28" name="TextBox 27"/>
          <p:cNvSpPr txBox="1"/>
          <p:nvPr/>
        </p:nvSpPr>
        <p:spPr>
          <a:xfrm>
            <a:off x="960120" y="4087368"/>
            <a:ext cx="301752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Request no. 0412 edited to 0413</a:t>
            </a:r>
          </a:p>
        </p:txBody>
      </p:sp>
      <p:sp>
        <p:nvSpPr>
          <p:cNvPr id="29" name="TextBox 28"/>
          <p:cNvSpPr txBox="1"/>
          <p:nvPr/>
        </p:nvSpPr>
        <p:spPr>
          <a:xfrm>
            <a:off x="4114800" y="3849624"/>
            <a:ext cx="2377440" cy="228600"/>
          </a:xfrm>
          <a:prstGeom prst="rect">
            <a:avLst/>
          </a:prstGeom>
          <a:noFill/>
        </p:spPr>
        <p:txBody>
          <a:bodyPr wrap="square" lIns="0" tIns="0" rIns="0" bIns="0" anchor="t"/>
          <a:lstStyle/>
          <a:p>
            <a:pPr algn="l">
              <a:lnSpc>
                <a:spcPct val="110000"/>
              </a:lnSpc>
              <a:spcAft>
                <a:spcPts val="0"/>
              </a:spcAft>
            </a:pPr>
            <a:r>
              <a:rPr sz="1100">
                <a:solidFill>
                  <a:srgbClr val="6B7480"/>
                </a:solidFill>
                <a:latin typeface="Public Sans Regular"/>
                <a:ea typeface="Public Sans Regular"/>
                <a:cs typeface="Public Sans Regular"/>
              </a:rPr>
              <a:t>Re-computed hash</a:t>
            </a:r>
          </a:p>
        </p:txBody>
      </p:sp>
      <p:sp>
        <p:nvSpPr>
          <p:cNvPr id="30" name="TextBox 29"/>
          <p:cNvSpPr txBox="1"/>
          <p:nvPr/>
        </p:nvSpPr>
        <p:spPr>
          <a:xfrm>
            <a:off x="4114800" y="4087368"/>
            <a:ext cx="2468880" cy="274320"/>
          </a:xfrm>
          <a:prstGeom prst="rect">
            <a:avLst/>
          </a:prstGeom>
          <a:noFill/>
        </p:spPr>
        <p:txBody>
          <a:bodyPr wrap="square" lIns="0" tIns="0" rIns="0" bIns="0" anchor="t"/>
          <a:lstStyle/>
          <a:p>
            <a:pPr algn="l">
              <a:lnSpc>
                <a:spcPct val="110000"/>
              </a:lnSpc>
              <a:spcAft>
                <a:spcPts val="0"/>
              </a:spcAft>
            </a:pPr>
            <a:r>
              <a:rPr sz="1200">
                <a:solidFill>
                  <a:srgbClr val="B42318"/>
                </a:solidFill>
                <a:latin typeface="IBM Plex Mono Regular"/>
                <a:ea typeface="IBM Plex Mono Regular"/>
                <a:cs typeface="IBM Plex Mono Regular"/>
              </a:rPr>
              <a:t>3917b63d…e973ddc4</a:t>
            </a:r>
          </a:p>
        </p:txBody>
      </p:sp>
      <p:sp>
        <p:nvSpPr>
          <p:cNvPr id="31" name="TextBox 30"/>
          <p:cNvSpPr txBox="1"/>
          <p:nvPr/>
        </p:nvSpPr>
        <p:spPr>
          <a:xfrm>
            <a:off x="6492240" y="3977640"/>
            <a:ext cx="365760" cy="365760"/>
          </a:xfrm>
          <a:prstGeom prst="rect">
            <a:avLst/>
          </a:prstGeom>
          <a:noFill/>
        </p:spPr>
        <p:txBody>
          <a:bodyPr wrap="square" lIns="0" tIns="0" rIns="0" bIns="0" anchor="t"/>
          <a:lstStyle/>
          <a:p>
            <a:pPr algn="ctr">
              <a:lnSpc>
                <a:spcPct val="110000"/>
              </a:lnSpc>
              <a:spcAft>
                <a:spcPts val="0"/>
              </a:spcAft>
            </a:pPr>
            <a:r>
              <a:rPr sz="1800">
                <a:solidFill>
                  <a:srgbClr val="5A6370"/>
                </a:solidFill>
                <a:latin typeface="Public Sans SemiBold"/>
                <a:ea typeface="Public Sans SemiBold"/>
                <a:cs typeface="Public Sans SemiBold"/>
              </a:rPr>
              <a:t>≠</a:t>
            </a:r>
          </a:p>
        </p:txBody>
      </p:sp>
      <p:sp>
        <p:nvSpPr>
          <p:cNvPr id="32" name="TextBox 31"/>
          <p:cNvSpPr txBox="1"/>
          <p:nvPr/>
        </p:nvSpPr>
        <p:spPr>
          <a:xfrm>
            <a:off x="7040880" y="3849624"/>
            <a:ext cx="2377440" cy="228600"/>
          </a:xfrm>
          <a:prstGeom prst="rect">
            <a:avLst/>
          </a:prstGeom>
          <a:noFill/>
        </p:spPr>
        <p:txBody>
          <a:bodyPr wrap="square" lIns="0" tIns="0" rIns="0" bIns="0" anchor="t"/>
          <a:lstStyle/>
          <a:p>
            <a:pPr algn="l">
              <a:lnSpc>
                <a:spcPct val="110000"/>
              </a:lnSpc>
              <a:spcAft>
                <a:spcPts val="0"/>
              </a:spcAft>
            </a:pPr>
            <a:r>
              <a:rPr sz="1100">
                <a:solidFill>
                  <a:srgbClr val="6B7480"/>
                </a:solidFill>
                <a:latin typeface="Public Sans Regular"/>
                <a:ea typeface="Public Sans Regular"/>
                <a:cs typeface="Public Sans Regular"/>
              </a:rPr>
              <a:t>Hash on chain</a:t>
            </a:r>
          </a:p>
        </p:txBody>
      </p:sp>
      <p:sp>
        <p:nvSpPr>
          <p:cNvPr id="33" name="TextBox 32"/>
          <p:cNvSpPr txBox="1"/>
          <p:nvPr/>
        </p:nvSpPr>
        <p:spPr>
          <a:xfrm>
            <a:off x="7040880" y="4087368"/>
            <a:ext cx="2468880" cy="274320"/>
          </a:xfrm>
          <a:prstGeom prst="rect">
            <a:avLst/>
          </a:prstGeom>
          <a:noFill/>
        </p:spPr>
        <p:txBody>
          <a:bodyPr wrap="square" lIns="0" tIns="0" rIns="0" bIns="0" anchor="t"/>
          <a:lstStyle/>
          <a:p>
            <a:pPr algn="l">
              <a:lnSpc>
                <a:spcPct val="110000"/>
              </a:lnSpc>
              <a:spcAft>
                <a:spcPts val="0"/>
              </a:spcAft>
            </a:pPr>
            <a:r>
              <a:rPr sz="1200">
                <a:solidFill>
                  <a:srgbClr val="101418"/>
                </a:solidFill>
                <a:latin typeface="IBM Plex Mono Regular"/>
                <a:ea typeface="IBM Plex Mono Regular"/>
                <a:cs typeface="IBM Plex Mono Regular"/>
              </a:rPr>
              <a:t>85dcad7e…f4838234</a:t>
            </a:r>
          </a:p>
        </p:txBody>
      </p:sp>
      <p:sp>
        <p:nvSpPr>
          <p:cNvPr id="34" name="Oval 33"/>
          <p:cNvSpPr/>
          <p:nvPr/>
        </p:nvSpPr>
        <p:spPr>
          <a:xfrm>
            <a:off x="9665208" y="3950208"/>
            <a:ext cx="329184" cy="329184"/>
          </a:xfrm>
          <a:prstGeom prst="ellipse">
            <a:avLst/>
          </a:prstGeom>
          <a:solidFill>
            <a:srgbClr val="B42318"/>
          </a:solidFill>
          <a:ln>
            <a:noFill/>
          </a:ln>
          <a:effectLst/>
        </p:spPr>
        <p:txBody>
          <a:bodyPr rtlCol="0" anchor="ctr"/>
          <a:lstStyle/>
          <a:p>
            <a:endParaRPr/>
          </a:p>
        </p:txBody>
      </p:sp>
      <p:cxnSp>
        <p:nvCxnSpPr>
          <p:cNvPr id="35" name="Connector 34"/>
          <p:cNvCxnSpPr/>
          <p:nvPr/>
        </p:nvCxnSpPr>
        <p:spPr>
          <a:xfrm>
            <a:off x="9764489" y="4049489"/>
            <a:ext cx="130621" cy="130621"/>
          </a:xfrm>
          <a:prstGeom prst="line">
            <a:avLst/>
          </a:prstGeom>
          <a:ln w="19050">
            <a:solidFill>
              <a:srgbClr val="FFFFFF"/>
            </a:solidFill>
          </a:ln>
        </p:spPr>
      </p:cxnSp>
      <p:cxnSp>
        <p:nvCxnSpPr>
          <p:cNvPr id="36" name="Connector 35"/>
          <p:cNvCxnSpPr/>
          <p:nvPr/>
        </p:nvCxnSpPr>
        <p:spPr>
          <a:xfrm flipV="1">
            <a:off x="9764489" y="4049489"/>
            <a:ext cx="130621" cy="130621"/>
          </a:xfrm>
          <a:prstGeom prst="line">
            <a:avLst/>
          </a:prstGeom>
          <a:ln w="19050">
            <a:solidFill>
              <a:srgbClr val="FFFFFF"/>
            </a:solidFill>
          </a:ln>
        </p:spPr>
      </p:cxnSp>
      <p:sp>
        <p:nvSpPr>
          <p:cNvPr id="37" name="TextBox 36"/>
          <p:cNvSpPr txBox="1"/>
          <p:nvPr/>
        </p:nvSpPr>
        <p:spPr>
          <a:xfrm>
            <a:off x="10104120" y="3986784"/>
            <a:ext cx="1371600" cy="274320"/>
          </a:xfrm>
          <a:prstGeom prst="rect">
            <a:avLst/>
          </a:prstGeom>
          <a:noFill/>
        </p:spPr>
        <p:txBody>
          <a:bodyPr wrap="square" lIns="0" tIns="0" rIns="0" bIns="0" anchor="t"/>
          <a:lstStyle/>
          <a:p>
            <a:pPr algn="l">
              <a:lnSpc>
                <a:spcPct val="110000"/>
              </a:lnSpc>
              <a:spcAft>
                <a:spcPts val="0"/>
              </a:spcAft>
            </a:pPr>
            <a:r>
              <a:rPr sz="1400">
                <a:solidFill>
                  <a:srgbClr val="B42318"/>
                </a:solidFill>
                <a:latin typeface="Public Sans SemiBold"/>
                <a:ea typeface="Public Sans SemiBold"/>
                <a:cs typeface="Public Sans SemiBold"/>
              </a:rPr>
              <a:t>Tampered</a:t>
            </a:r>
          </a:p>
        </p:txBody>
      </p:sp>
      <p:cxnSp>
        <p:nvCxnSpPr>
          <p:cNvPr id="38" name="Connector 37"/>
          <p:cNvCxnSpPr/>
          <p:nvPr/>
        </p:nvCxnSpPr>
        <p:spPr>
          <a:xfrm>
            <a:off x="685800" y="4754880"/>
            <a:ext cx="10820095" cy="0"/>
          </a:xfrm>
          <a:prstGeom prst="line">
            <a:avLst/>
          </a:prstGeom>
          <a:ln w="9525">
            <a:solidFill>
              <a:srgbClr val="E1E4E8"/>
            </a:solidFill>
          </a:ln>
        </p:spPr>
      </p:cxnSp>
      <p:sp>
        <p:nvSpPr>
          <p:cNvPr id="39" name="TextBox 38"/>
          <p:cNvSpPr txBox="1"/>
          <p:nvPr/>
        </p:nvSpPr>
        <p:spPr>
          <a:xfrm>
            <a:off x="685800" y="4864608"/>
            <a:ext cx="1981139"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IT Act 2000, s.5</a:t>
            </a:r>
          </a:p>
        </p:txBody>
      </p:sp>
      <p:sp>
        <p:nvSpPr>
          <p:cNvPr id="40" name="TextBox 39"/>
          <p:cNvSpPr txBox="1"/>
          <p:nvPr/>
        </p:nvSpPr>
        <p:spPr>
          <a:xfrm>
            <a:off x="685800" y="5111496"/>
            <a:ext cx="1981139"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e-sign as valid as wet ink</a:t>
            </a:r>
          </a:p>
        </p:txBody>
      </p:sp>
      <p:sp>
        <p:nvSpPr>
          <p:cNvPr id="41" name="TextBox 40"/>
          <p:cNvSpPr txBox="1"/>
          <p:nvPr/>
        </p:nvSpPr>
        <p:spPr>
          <a:xfrm>
            <a:off x="2849819" y="4864608"/>
            <a:ext cx="1981139"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Aadhaar eSign</a:t>
            </a:r>
          </a:p>
        </p:txBody>
      </p:sp>
      <p:sp>
        <p:nvSpPr>
          <p:cNvPr id="42" name="TextBox 41"/>
          <p:cNvSpPr txBox="1"/>
          <p:nvPr/>
        </p:nvSpPr>
        <p:spPr>
          <a:xfrm>
            <a:off x="2849819" y="5111496"/>
            <a:ext cx="1981139"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notified in the Second Schedule</a:t>
            </a:r>
          </a:p>
        </p:txBody>
      </p:sp>
      <p:sp>
        <p:nvSpPr>
          <p:cNvPr id="43" name="TextBox 42"/>
          <p:cNvSpPr txBox="1"/>
          <p:nvPr/>
        </p:nvSpPr>
        <p:spPr>
          <a:xfrm>
            <a:off x="5013838" y="4864608"/>
            <a:ext cx="1981139"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BSA 2023, s.61</a:t>
            </a:r>
          </a:p>
        </p:txBody>
      </p:sp>
      <p:sp>
        <p:nvSpPr>
          <p:cNvPr id="44" name="TextBox 43"/>
          <p:cNvSpPr txBox="1"/>
          <p:nvPr/>
        </p:nvSpPr>
        <p:spPr>
          <a:xfrm>
            <a:off x="5013838" y="5111496"/>
            <a:ext cx="1981139"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electronic records admissible</a:t>
            </a:r>
          </a:p>
        </p:txBody>
      </p:sp>
      <p:sp>
        <p:nvSpPr>
          <p:cNvPr id="45" name="TextBox 44"/>
          <p:cNvSpPr txBox="1"/>
          <p:nvPr/>
        </p:nvSpPr>
        <p:spPr>
          <a:xfrm>
            <a:off x="7177857" y="4864608"/>
            <a:ext cx="1981139"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DPDP Rules 2025</a:t>
            </a:r>
          </a:p>
        </p:txBody>
      </p:sp>
      <p:sp>
        <p:nvSpPr>
          <p:cNvPr id="46" name="TextBox 45"/>
          <p:cNvSpPr txBox="1"/>
          <p:nvPr/>
        </p:nvSpPr>
        <p:spPr>
          <a:xfrm>
            <a:off x="7177857" y="5111496"/>
            <a:ext cx="1981139"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no personal data on chain</a:t>
            </a:r>
          </a:p>
        </p:txBody>
      </p:sp>
      <p:sp>
        <p:nvSpPr>
          <p:cNvPr id="47" name="TextBox 46"/>
          <p:cNvSpPr txBox="1"/>
          <p:nvPr/>
        </p:nvSpPr>
        <p:spPr>
          <a:xfrm>
            <a:off x="9341876" y="4864608"/>
            <a:ext cx="1981139" cy="256032"/>
          </a:xfrm>
          <a:prstGeom prst="rect">
            <a:avLst/>
          </a:prstGeom>
          <a:noFill/>
        </p:spPr>
        <p:txBody>
          <a:bodyPr wrap="square" lIns="0" tIns="0" rIns="0" bIns="0" anchor="t"/>
          <a:lstStyle/>
          <a:p>
            <a:pPr algn="l">
              <a:lnSpc>
                <a:spcPct val="110000"/>
              </a:lnSpc>
              <a:spcAft>
                <a:spcPts val="0"/>
              </a:spcAft>
            </a:pPr>
            <a:r>
              <a:rPr sz="1200">
                <a:solidFill>
                  <a:srgbClr val="101418"/>
                </a:solidFill>
                <a:latin typeface="Public Sans SemiBold"/>
                <a:ea typeface="Public Sans SemiBold"/>
                <a:cs typeface="Public Sans SemiBold"/>
              </a:rPr>
              <a:t>Same model as</a:t>
            </a:r>
          </a:p>
        </p:txBody>
      </p:sp>
      <p:sp>
        <p:nvSpPr>
          <p:cNvPr id="48" name="TextBox 47"/>
          <p:cNvSpPr txBox="1"/>
          <p:nvPr/>
        </p:nvSpPr>
        <p:spPr>
          <a:xfrm>
            <a:off x="9341876" y="5111496"/>
            <a:ext cx="1981139" cy="256032"/>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India's National Blockchain Framework</a:t>
            </a:r>
          </a:p>
        </p:txBody>
      </p:sp>
      <p:sp>
        <p:nvSpPr>
          <p:cNvPr id="49" name="ftr"/>
          <p:cNvSpPr txBox="1"/>
          <p:nvPr/>
        </p:nvSpPr>
        <p:spPr>
          <a:xfrm>
            <a:off x="685800" y="6400800"/>
            <a:ext cx="9722815" cy="274320"/>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SemiBold"/>
                <a:ea typeface="Public Sans SemiBold"/>
                <a:cs typeface="Public Sans SemiBold"/>
              </a:rPr>
              <a:t>Research references: </a:t>
            </a:r>
            <a:r>
              <a:rPr sz="900">
                <a:solidFill>
                  <a:srgbClr val="6B7480"/>
                </a:solidFill>
                <a:latin typeface="Public Sans Regular"/>
                <a:ea typeface="Public Sans Regular"/>
                <a:cs typeface="Public Sans Regular"/>
              </a:rPr>
              <a:t>Hashes are real SHA-256 values of a sample record. Legal: IT Act 2000 s.3A, s.5, Second Schedule; Bharatiya Sakshya Adhiniyam 2023 s.61; DPDP Rules 2025 (MeitY, Nov 2025).</a:t>
            </a:r>
          </a:p>
        </p:txBody>
      </p:sp>
      <p:sp>
        <p:nvSpPr>
          <p:cNvPr id="50" name="ftr"/>
          <p:cNvSpPr txBox="1"/>
          <p:nvPr/>
        </p:nvSpPr>
        <p:spPr>
          <a:xfrm>
            <a:off x="10591495" y="6400800"/>
            <a:ext cx="914400" cy="274320"/>
          </a:xfrm>
          <a:prstGeom prst="rect">
            <a:avLst/>
          </a:prstGeom>
          <a:noFill/>
        </p:spPr>
        <p:txBody>
          <a:bodyPr wrap="square" lIns="0" tIns="0" rIns="0" bIns="0" anchor="t"/>
          <a:lstStyle/>
          <a:p>
            <a:pPr algn="r">
              <a:lnSpc>
                <a:spcPct val="110000"/>
              </a:lnSpc>
              <a:spcAft>
                <a:spcPts val="0"/>
              </a:spcAft>
            </a:pPr>
            <a:r>
              <a:rPr sz="900">
                <a:solidFill>
                  <a:srgbClr val="6B7480"/>
                </a:solidFill>
                <a:latin typeface="Public Sans Regular"/>
                <a:ea typeface="Public Sans Regular"/>
                <a:cs typeface="Public Sans Regular"/>
              </a:rPr>
              <a:t>8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dr"/>
          <p:cNvSpPr txBox="1"/>
          <p:nvPr/>
        </p:nvSpPr>
        <p:spPr>
          <a:xfrm>
            <a:off x="685800" y="502920"/>
            <a:ext cx="10820095" cy="457200"/>
          </a:xfrm>
          <a:prstGeom prst="rect">
            <a:avLst/>
          </a:prstGeom>
          <a:noFill/>
        </p:spPr>
        <p:txBody>
          <a:bodyPr wrap="square" lIns="0" tIns="0" rIns="0" bIns="0" anchor="t"/>
          <a:lstStyle/>
          <a:p>
            <a:pPr algn="l">
              <a:lnSpc>
                <a:spcPct val="100000"/>
              </a:lnSpc>
              <a:spcAft>
                <a:spcPts val="0"/>
              </a:spcAft>
            </a:pPr>
            <a:r>
              <a:rPr sz="2800">
                <a:solidFill>
                  <a:srgbClr val="101418"/>
                </a:solidFill>
                <a:latin typeface="Public Sans Bold"/>
                <a:ea typeface="Public Sans Bold"/>
                <a:cs typeface="Public Sans Bold"/>
              </a:rPr>
              <a:t>Impact and Benefits</a:t>
            </a:r>
          </a:p>
        </p:txBody>
      </p:sp>
      <p:sp>
        <p:nvSpPr>
          <p:cNvPr id="3" name="hdr"/>
          <p:cNvSpPr txBox="1"/>
          <p:nvPr/>
        </p:nvSpPr>
        <p:spPr>
          <a:xfrm>
            <a:off x="685800" y="987552"/>
            <a:ext cx="10820095" cy="320040"/>
          </a:xfrm>
          <a:prstGeom prst="rect">
            <a:avLst/>
          </a:prstGeom>
          <a:noFill/>
        </p:spPr>
        <p:txBody>
          <a:bodyPr wrap="square" lIns="0" tIns="0" rIns="0" bIns="0" anchor="t"/>
          <a:lstStyle/>
          <a:p>
            <a:pPr algn="l">
              <a:lnSpc>
                <a:spcPct val="110000"/>
              </a:lnSpc>
              <a:spcAft>
                <a:spcPts val="0"/>
              </a:spcAft>
            </a:pPr>
            <a:r>
              <a:rPr sz="1800">
                <a:solidFill>
                  <a:srgbClr val="5A6370"/>
                </a:solidFill>
                <a:latin typeface="Public Sans Regular"/>
                <a:ea typeface="Public Sans Regular"/>
                <a:cs typeface="Public Sans Regular"/>
              </a:rPr>
              <a:t>One campus saves lakhs of sheets; India saves tens of thousands of tonnes of CO2e.</a:t>
            </a:r>
          </a:p>
        </p:txBody>
      </p:sp>
      <p:sp>
        <p:nvSpPr>
          <p:cNvPr id="4" name="Rectangle 3"/>
          <p:cNvSpPr/>
          <p:nvPr/>
        </p:nvSpPr>
        <p:spPr>
          <a:xfrm>
            <a:off x="5440680" y="1783080"/>
            <a:ext cx="2011680" cy="3639312"/>
          </a:xfrm>
          <a:prstGeom prst="rect">
            <a:avLst/>
          </a:prstGeom>
          <a:solidFill>
            <a:srgbClr val="E8F3EC"/>
          </a:solidFill>
          <a:ln>
            <a:noFill/>
          </a:ln>
          <a:effectLst/>
        </p:spPr>
        <p:txBody>
          <a:bodyPr rtlCol="0" anchor="ctr"/>
          <a:lstStyle/>
          <a:p>
            <a:endParaRPr/>
          </a:p>
        </p:txBody>
      </p:sp>
      <p:sp>
        <p:nvSpPr>
          <p:cNvPr id="5" name="TextBox 4"/>
          <p:cNvSpPr txBox="1"/>
          <p:nvPr/>
        </p:nvSpPr>
        <p:spPr>
          <a:xfrm>
            <a:off x="685800" y="1874520"/>
            <a:ext cx="2743200" cy="411480"/>
          </a:xfrm>
          <a:prstGeom prst="rect">
            <a:avLst/>
          </a:prstGeom>
          <a:noFill/>
        </p:spPr>
        <p:txBody>
          <a:bodyPr wrap="square" lIns="0" tIns="0" rIns="0" bIns="0" anchor="b"/>
          <a:lstStyle/>
          <a:p>
            <a:pPr algn="l">
              <a:lnSpc>
                <a:spcPct val="110000"/>
              </a:lnSpc>
              <a:spcAft>
                <a:spcPts val="0"/>
              </a:spcAft>
            </a:pPr>
            <a:r>
              <a:rPr sz="1200">
                <a:solidFill>
                  <a:srgbClr val="5A6370"/>
                </a:solidFill>
                <a:latin typeface="Public Sans SemiBold"/>
                <a:ea typeface="Public Sans SemiBold"/>
                <a:cs typeface="Public Sans SemiBold"/>
              </a:rPr>
              <a:t>Per year, estimated (one university = 10,000 students)</a:t>
            </a:r>
          </a:p>
        </p:txBody>
      </p:sp>
      <p:sp>
        <p:nvSpPr>
          <p:cNvPr id="6" name="TextBox 5"/>
          <p:cNvSpPr txBox="1"/>
          <p:nvPr/>
        </p:nvSpPr>
        <p:spPr>
          <a:xfrm>
            <a:off x="3429000" y="1874520"/>
            <a:ext cx="1828800" cy="411480"/>
          </a:xfrm>
          <a:prstGeom prst="rect">
            <a:avLst/>
          </a:prstGeom>
          <a:noFill/>
        </p:spPr>
        <p:txBody>
          <a:bodyPr wrap="square" lIns="0" tIns="0" rIns="0" bIns="0" anchor="b"/>
          <a:lstStyle/>
          <a:p>
            <a:pPr algn="r">
              <a:lnSpc>
                <a:spcPct val="110000"/>
              </a:lnSpc>
              <a:spcAft>
                <a:spcPts val="0"/>
              </a:spcAft>
            </a:pPr>
            <a:r>
              <a:rPr sz="1200">
                <a:solidFill>
                  <a:srgbClr val="5A6370"/>
                </a:solidFill>
                <a:latin typeface="Public Sans SemiBold"/>
                <a:ea typeface="Public Sans SemiBold"/>
                <a:cs typeface="Public Sans SemiBold"/>
              </a:rPr>
              <a:t>One university</a:t>
            </a:r>
          </a:p>
        </p:txBody>
      </p:sp>
      <p:sp>
        <p:nvSpPr>
          <p:cNvPr id="7" name="TextBox 6"/>
          <p:cNvSpPr txBox="1"/>
          <p:nvPr/>
        </p:nvSpPr>
        <p:spPr>
          <a:xfrm>
            <a:off x="5440680" y="1874520"/>
            <a:ext cx="1828800" cy="411480"/>
          </a:xfrm>
          <a:prstGeom prst="rect">
            <a:avLst/>
          </a:prstGeom>
          <a:noFill/>
        </p:spPr>
        <p:txBody>
          <a:bodyPr wrap="square" lIns="0" tIns="0" rIns="0" bIns="0" anchor="b"/>
          <a:lstStyle/>
          <a:p>
            <a:pPr algn="r">
              <a:lnSpc>
                <a:spcPct val="110000"/>
              </a:lnSpc>
              <a:spcAft>
                <a:spcPts val="0"/>
              </a:spcAft>
            </a:pPr>
            <a:r>
              <a:rPr sz="1200">
                <a:solidFill>
                  <a:srgbClr val="5A6370"/>
                </a:solidFill>
                <a:latin typeface="Public Sans SemiBold"/>
                <a:ea typeface="Public Sans SemiBold"/>
                <a:cs typeface="Public Sans SemiBold"/>
              </a:rPr>
              <a:t>All of India</a:t>
            </a:r>
          </a:p>
        </p:txBody>
      </p:sp>
      <p:cxnSp>
        <p:nvCxnSpPr>
          <p:cNvPr id="8" name="Connector 7"/>
          <p:cNvCxnSpPr/>
          <p:nvPr/>
        </p:nvCxnSpPr>
        <p:spPr>
          <a:xfrm>
            <a:off x="685800" y="2350008"/>
            <a:ext cx="6766560" cy="0"/>
          </a:xfrm>
          <a:prstGeom prst="line">
            <a:avLst/>
          </a:prstGeom>
          <a:ln w="12700">
            <a:solidFill>
              <a:srgbClr val="101418"/>
            </a:solidFill>
          </a:ln>
        </p:spPr>
      </p:cxnSp>
      <p:sp>
        <p:nvSpPr>
          <p:cNvPr id="9" name="TextBox 8"/>
          <p:cNvSpPr txBox="1"/>
          <p:nvPr/>
        </p:nvSpPr>
        <p:spPr>
          <a:xfrm>
            <a:off x="685800" y="2350008"/>
            <a:ext cx="2743200" cy="512064"/>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Regular"/>
                <a:ea typeface="Public Sans Regular"/>
                <a:cs typeface="Public Sans Regular"/>
              </a:rPr>
              <a:t>Approvals moved off paper</a:t>
            </a:r>
          </a:p>
        </p:txBody>
      </p:sp>
      <p:sp>
        <p:nvSpPr>
          <p:cNvPr id="10" name="TextBox 9"/>
          <p:cNvSpPr txBox="1"/>
          <p:nvPr/>
        </p:nvSpPr>
        <p:spPr>
          <a:xfrm>
            <a:off x="3429000" y="2350008"/>
            <a:ext cx="1828800" cy="512064"/>
          </a:xfrm>
          <a:prstGeom prst="rect">
            <a:avLst/>
          </a:prstGeom>
          <a:noFill/>
        </p:spPr>
        <p:txBody>
          <a:bodyPr wrap="square" lIns="0" tIns="0" rIns="0" bIns="0" anchor="ctr"/>
          <a:lstStyle/>
          <a:p>
            <a:pPr algn="r">
              <a:lnSpc>
                <a:spcPct val="110000"/>
              </a:lnSpc>
              <a:spcAft>
                <a:spcPts val="0"/>
              </a:spcAft>
            </a:pPr>
            <a:r>
              <a:rPr sz="1800">
                <a:solidFill>
                  <a:srgbClr val="101418"/>
                </a:solidFill>
                <a:latin typeface="Public Sans Bold"/>
                <a:ea typeface="Public Sans Bold"/>
                <a:cs typeface="Public Sans Bold"/>
              </a:rPr>
              <a:t>1.5 lakh</a:t>
            </a:r>
          </a:p>
        </p:txBody>
      </p:sp>
      <p:sp>
        <p:nvSpPr>
          <p:cNvPr id="11" name="TextBox 10"/>
          <p:cNvSpPr txBox="1"/>
          <p:nvPr/>
        </p:nvSpPr>
        <p:spPr>
          <a:xfrm>
            <a:off x="5440680" y="2350008"/>
            <a:ext cx="1828800" cy="512064"/>
          </a:xfrm>
          <a:prstGeom prst="rect">
            <a:avLst/>
          </a:prstGeom>
          <a:noFill/>
        </p:spPr>
        <p:txBody>
          <a:bodyPr wrap="square" lIns="0" tIns="0" rIns="0" bIns="0" anchor="ctr"/>
          <a:lstStyle/>
          <a:p>
            <a:pPr algn="r">
              <a:lnSpc>
                <a:spcPct val="110000"/>
              </a:lnSpc>
              <a:spcAft>
                <a:spcPts val="0"/>
              </a:spcAft>
            </a:pPr>
            <a:r>
              <a:rPr sz="1800">
                <a:solidFill>
                  <a:srgbClr val="101418"/>
                </a:solidFill>
                <a:latin typeface="Public Sans Bold"/>
                <a:ea typeface="Public Sans Bold"/>
                <a:cs typeface="Public Sans Bold"/>
              </a:rPr>
              <a:t>~67 crore</a:t>
            </a:r>
          </a:p>
        </p:txBody>
      </p:sp>
      <p:cxnSp>
        <p:nvCxnSpPr>
          <p:cNvPr id="12" name="Connector 11"/>
          <p:cNvCxnSpPr/>
          <p:nvPr/>
        </p:nvCxnSpPr>
        <p:spPr>
          <a:xfrm>
            <a:off x="685800" y="2862072"/>
            <a:ext cx="6766560" cy="0"/>
          </a:xfrm>
          <a:prstGeom prst="line">
            <a:avLst/>
          </a:prstGeom>
          <a:ln w="9525">
            <a:solidFill>
              <a:srgbClr val="E1E4E8"/>
            </a:solidFill>
          </a:ln>
        </p:spPr>
      </p:cxnSp>
      <p:sp>
        <p:nvSpPr>
          <p:cNvPr id="13" name="TextBox 12"/>
          <p:cNvSpPr txBox="1"/>
          <p:nvPr/>
        </p:nvSpPr>
        <p:spPr>
          <a:xfrm>
            <a:off x="685800" y="2862072"/>
            <a:ext cx="2743200" cy="512064"/>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Regular"/>
                <a:ea typeface="Public Sans Regular"/>
                <a:cs typeface="Public Sans Regular"/>
              </a:rPr>
              <a:t>Sheets of paper not printed</a:t>
            </a:r>
          </a:p>
        </p:txBody>
      </p:sp>
      <p:sp>
        <p:nvSpPr>
          <p:cNvPr id="14" name="TextBox 13"/>
          <p:cNvSpPr txBox="1"/>
          <p:nvPr/>
        </p:nvSpPr>
        <p:spPr>
          <a:xfrm>
            <a:off x="3429000" y="2862072"/>
            <a:ext cx="1828800" cy="512064"/>
          </a:xfrm>
          <a:prstGeom prst="rect">
            <a:avLst/>
          </a:prstGeom>
          <a:noFill/>
        </p:spPr>
        <p:txBody>
          <a:bodyPr wrap="square" lIns="0" tIns="0" rIns="0" bIns="0" anchor="ctr"/>
          <a:lstStyle/>
          <a:p>
            <a:pPr algn="r">
              <a:lnSpc>
                <a:spcPct val="110000"/>
              </a:lnSpc>
              <a:spcAft>
                <a:spcPts val="0"/>
              </a:spcAft>
            </a:pPr>
            <a:r>
              <a:rPr sz="1800">
                <a:solidFill>
                  <a:srgbClr val="1E7A4C"/>
                </a:solidFill>
                <a:latin typeface="Public Sans Bold"/>
                <a:ea typeface="Public Sans Bold"/>
                <a:cs typeface="Public Sans Bold"/>
              </a:rPr>
              <a:t>~4.5 lakh</a:t>
            </a:r>
          </a:p>
        </p:txBody>
      </p:sp>
      <p:sp>
        <p:nvSpPr>
          <p:cNvPr id="15" name="TextBox 14"/>
          <p:cNvSpPr txBox="1"/>
          <p:nvPr/>
        </p:nvSpPr>
        <p:spPr>
          <a:xfrm>
            <a:off x="5440680" y="2862072"/>
            <a:ext cx="1828800" cy="512064"/>
          </a:xfrm>
          <a:prstGeom prst="rect">
            <a:avLst/>
          </a:prstGeom>
          <a:noFill/>
        </p:spPr>
        <p:txBody>
          <a:bodyPr wrap="square" lIns="0" tIns="0" rIns="0" bIns="0" anchor="ctr"/>
          <a:lstStyle/>
          <a:p>
            <a:pPr algn="r">
              <a:lnSpc>
                <a:spcPct val="110000"/>
              </a:lnSpc>
              <a:spcAft>
                <a:spcPts val="0"/>
              </a:spcAft>
            </a:pPr>
            <a:r>
              <a:rPr sz="1800">
                <a:solidFill>
                  <a:srgbClr val="1E7A4C"/>
                </a:solidFill>
                <a:latin typeface="Public Sans Bold"/>
                <a:ea typeface="Public Sans Bold"/>
                <a:cs typeface="Public Sans Bold"/>
              </a:rPr>
              <a:t>~200 crore</a:t>
            </a:r>
          </a:p>
        </p:txBody>
      </p:sp>
      <p:cxnSp>
        <p:nvCxnSpPr>
          <p:cNvPr id="16" name="Connector 15"/>
          <p:cNvCxnSpPr/>
          <p:nvPr/>
        </p:nvCxnSpPr>
        <p:spPr>
          <a:xfrm>
            <a:off x="685800" y="3374136"/>
            <a:ext cx="6766560" cy="0"/>
          </a:xfrm>
          <a:prstGeom prst="line">
            <a:avLst/>
          </a:prstGeom>
          <a:ln w="9525">
            <a:solidFill>
              <a:srgbClr val="E1E4E8"/>
            </a:solidFill>
          </a:ln>
        </p:spPr>
      </p:cxnSp>
      <p:sp>
        <p:nvSpPr>
          <p:cNvPr id="17" name="TextBox 16"/>
          <p:cNvSpPr txBox="1"/>
          <p:nvPr/>
        </p:nvSpPr>
        <p:spPr>
          <a:xfrm>
            <a:off x="685800" y="3374136"/>
            <a:ext cx="2743200" cy="512064"/>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Regular"/>
                <a:ea typeface="Public Sans Regular"/>
                <a:cs typeface="Public Sans Regular"/>
              </a:rPr>
              <a:t>CO2e avoided</a:t>
            </a:r>
          </a:p>
        </p:txBody>
      </p:sp>
      <p:sp>
        <p:nvSpPr>
          <p:cNvPr id="18" name="TextBox 17"/>
          <p:cNvSpPr txBox="1"/>
          <p:nvPr/>
        </p:nvSpPr>
        <p:spPr>
          <a:xfrm>
            <a:off x="3429000" y="3374136"/>
            <a:ext cx="1828800" cy="512064"/>
          </a:xfrm>
          <a:prstGeom prst="rect">
            <a:avLst/>
          </a:prstGeom>
          <a:noFill/>
        </p:spPr>
        <p:txBody>
          <a:bodyPr wrap="square" lIns="0" tIns="0" rIns="0" bIns="0" anchor="ctr"/>
          <a:lstStyle/>
          <a:p>
            <a:pPr algn="r">
              <a:lnSpc>
                <a:spcPct val="110000"/>
              </a:lnSpc>
              <a:spcAft>
                <a:spcPts val="0"/>
              </a:spcAft>
            </a:pPr>
            <a:r>
              <a:rPr sz="1800">
                <a:solidFill>
                  <a:srgbClr val="1E7A4C"/>
                </a:solidFill>
                <a:latin typeface="Public Sans Bold"/>
                <a:ea typeface="Public Sans Bold"/>
                <a:cs typeface="Public Sans Bold"/>
              </a:rPr>
              <a:t>≥5.7 t</a:t>
            </a:r>
          </a:p>
        </p:txBody>
      </p:sp>
      <p:sp>
        <p:nvSpPr>
          <p:cNvPr id="19" name="TextBox 18"/>
          <p:cNvSpPr txBox="1"/>
          <p:nvPr/>
        </p:nvSpPr>
        <p:spPr>
          <a:xfrm>
            <a:off x="5440680" y="3374136"/>
            <a:ext cx="1828800" cy="512064"/>
          </a:xfrm>
          <a:prstGeom prst="rect">
            <a:avLst/>
          </a:prstGeom>
          <a:noFill/>
        </p:spPr>
        <p:txBody>
          <a:bodyPr wrap="square" lIns="0" tIns="0" rIns="0" bIns="0" anchor="ctr"/>
          <a:lstStyle/>
          <a:p>
            <a:pPr algn="r">
              <a:lnSpc>
                <a:spcPct val="110000"/>
              </a:lnSpc>
              <a:spcAft>
                <a:spcPts val="0"/>
              </a:spcAft>
            </a:pPr>
            <a:r>
              <a:rPr sz="1800">
                <a:solidFill>
                  <a:srgbClr val="1E7A4C"/>
                </a:solidFill>
                <a:latin typeface="Public Sans Bold"/>
                <a:ea typeface="Public Sans Bold"/>
                <a:cs typeface="Public Sans Bold"/>
              </a:rPr>
              <a:t>≥25,400 t</a:t>
            </a:r>
          </a:p>
        </p:txBody>
      </p:sp>
      <p:cxnSp>
        <p:nvCxnSpPr>
          <p:cNvPr id="20" name="Connector 19"/>
          <p:cNvCxnSpPr/>
          <p:nvPr/>
        </p:nvCxnSpPr>
        <p:spPr>
          <a:xfrm>
            <a:off x="685800" y="3886200"/>
            <a:ext cx="6766560" cy="0"/>
          </a:xfrm>
          <a:prstGeom prst="line">
            <a:avLst/>
          </a:prstGeom>
          <a:ln w="9525">
            <a:solidFill>
              <a:srgbClr val="E1E4E8"/>
            </a:solidFill>
          </a:ln>
        </p:spPr>
      </p:cxnSp>
      <p:sp>
        <p:nvSpPr>
          <p:cNvPr id="21" name="TextBox 20"/>
          <p:cNvSpPr txBox="1"/>
          <p:nvPr/>
        </p:nvSpPr>
        <p:spPr>
          <a:xfrm>
            <a:off x="685800" y="3886200"/>
            <a:ext cx="2743200" cy="512064"/>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Regular"/>
                <a:ea typeface="Public Sans Regular"/>
                <a:cs typeface="Public Sans Regular"/>
              </a:rPr>
              <a:t>Trees not cut</a:t>
            </a:r>
          </a:p>
        </p:txBody>
      </p:sp>
      <p:sp>
        <p:nvSpPr>
          <p:cNvPr id="22" name="TextBox 21"/>
          <p:cNvSpPr txBox="1"/>
          <p:nvPr/>
        </p:nvSpPr>
        <p:spPr>
          <a:xfrm>
            <a:off x="3429000" y="3886200"/>
            <a:ext cx="1828800" cy="512064"/>
          </a:xfrm>
          <a:prstGeom prst="rect">
            <a:avLst/>
          </a:prstGeom>
          <a:noFill/>
        </p:spPr>
        <p:txBody>
          <a:bodyPr wrap="square" lIns="0" tIns="0" rIns="0" bIns="0" anchor="ctr"/>
          <a:lstStyle/>
          <a:p>
            <a:pPr algn="r">
              <a:lnSpc>
                <a:spcPct val="110000"/>
              </a:lnSpc>
              <a:spcAft>
                <a:spcPts val="0"/>
              </a:spcAft>
            </a:pPr>
            <a:r>
              <a:rPr sz="1800">
                <a:solidFill>
                  <a:srgbClr val="1E7A4C"/>
                </a:solidFill>
                <a:latin typeface="Public Sans Bold"/>
                <a:ea typeface="Public Sans Bold"/>
                <a:cs typeface="Public Sans Bold"/>
              </a:rPr>
              <a:t>~54</a:t>
            </a:r>
          </a:p>
        </p:txBody>
      </p:sp>
      <p:sp>
        <p:nvSpPr>
          <p:cNvPr id="23" name="TextBox 22"/>
          <p:cNvSpPr txBox="1"/>
          <p:nvPr/>
        </p:nvSpPr>
        <p:spPr>
          <a:xfrm>
            <a:off x="5440680" y="3886200"/>
            <a:ext cx="1828800" cy="512064"/>
          </a:xfrm>
          <a:prstGeom prst="rect">
            <a:avLst/>
          </a:prstGeom>
          <a:noFill/>
        </p:spPr>
        <p:txBody>
          <a:bodyPr wrap="square" lIns="0" tIns="0" rIns="0" bIns="0" anchor="ctr"/>
          <a:lstStyle/>
          <a:p>
            <a:pPr algn="r">
              <a:lnSpc>
                <a:spcPct val="110000"/>
              </a:lnSpc>
              <a:spcAft>
                <a:spcPts val="0"/>
              </a:spcAft>
            </a:pPr>
            <a:r>
              <a:rPr sz="1800">
                <a:solidFill>
                  <a:srgbClr val="1E7A4C"/>
                </a:solidFill>
                <a:latin typeface="Public Sans Bold"/>
                <a:ea typeface="Public Sans Bold"/>
                <a:cs typeface="Public Sans Bold"/>
              </a:rPr>
              <a:t>~2.4 lakh</a:t>
            </a:r>
          </a:p>
        </p:txBody>
      </p:sp>
      <p:cxnSp>
        <p:nvCxnSpPr>
          <p:cNvPr id="24" name="Connector 23"/>
          <p:cNvCxnSpPr/>
          <p:nvPr/>
        </p:nvCxnSpPr>
        <p:spPr>
          <a:xfrm>
            <a:off x="685800" y="4398264"/>
            <a:ext cx="6766560" cy="0"/>
          </a:xfrm>
          <a:prstGeom prst="line">
            <a:avLst/>
          </a:prstGeom>
          <a:ln w="9525">
            <a:solidFill>
              <a:srgbClr val="E1E4E8"/>
            </a:solidFill>
          </a:ln>
        </p:spPr>
      </p:cxnSp>
      <p:sp>
        <p:nvSpPr>
          <p:cNvPr id="25" name="TextBox 24"/>
          <p:cNvSpPr txBox="1"/>
          <p:nvPr/>
        </p:nvSpPr>
        <p:spPr>
          <a:xfrm>
            <a:off x="685800" y="4398264"/>
            <a:ext cx="2743200" cy="512064"/>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Regular"/>
                <a:ea typeface="Public Sans Regular"/>
                <a:cs typeface="Public Sans Regular"/>
              </a:rPr>
              <a:t>Student-hours returned</a:t>
            </a:r>
          </a:p>
        </p:txBody>
      </p:sp>
      <p:sp>
        <p:nvSpPr>
          <p:cNvPr id="26" name="TextBox 25"/>
          <p:cNvSpPr txBox="1"/>
          <p:nvPr/>
        </p:nvSpPr>
        <p:spPr>
          <a:xfrm>
            <a:off x="3429000" y="4398264"/>
            <a:ext cx="1828800" cy="512064"/>
          </a:xfrm>
          <a:prstGeom prst="rect">
            <a:avLst/>
          </a:prstGeom>
          <a:noFill/>
        </p:spPr>
        <p:txBody>
          <a:bodyPr wrap="square" lIns="0" tIns="0" rIns="0" bIns="0" anchor="ctr"/>
          <a:lstStyle/>
          <a:p>
            <a:pPr algn="r">
              <a:lnSpc>
                <a:spcPct val="110000"/>
              </a:lnSpc>
              <a:spcAft>
                <a:spcPts val="0"/>
              </a:spcAft>
            </a:pPr>
            <a:r>
              <a:rPr sz="1800">
                <a:solidFill>
                  <a:srgbClr val="101418"/>
                </a:solidFill>
                <a:latin typeface="Public Sans Bold"/>
                <a:ea typeface="Public Sans Bold"/>
                <a:cs typeface="Public Sans Bold"/>
              </a:rPr>
              <a:t>~1.1 lakh</a:t>
            </a:r>
          </a:p>
        </p:txBody>
      </p:sp>
      <p:sp>
        <p:nvSpPr>
          <p:cNvPr id="27" name="TextBox 26"/>
          <p:cNvSpPr txBox="1"/>
          <p:nvPr/>
        </p:nvSpPr>
        <p:spPr>
          <a:xfrm>
            <a:off x="5440680" y="4398264"/>
            <a:ext cx="1828800" cy="512064"/>
          </a:xfrm>
          <a:prstGeom prst="rect">
            <a:avLst/>
          </a:prstGeom>
          <a:noFill/>
        </p:spPr>
        <p:txBody>
          <a:bodyPr wrap="square" lIns="0" tIns="0" rIns="0" bIns="0" anchor="ctr"/>
          <a:lstStyle/>
          <a:p>
            <a:pPr algn="r">
              <a:lnSpc>
                <a:spcPct val="110000"/>
              </a:lnSpc>
              <a:spcAft>
                <a:spcPts val="0"/>
              </a:spcAft>
            </a:pPr>
            <a:r>
              <a:rPr sz="1100">
                <a:solidFill>
                  <a:srgbClr val="6B7480"/>
                </a:solidFill>
                <a:latin typeface="Public Sans Regular"/>
                <a:ea typeface="Public Sans Regular"/>
                <a:cs typeface="Public Sans Regular"/>
              </a:rPr>
              <a:t>not estimated</a:t>
            </a:r>
          </a:p>
        </p:txBody>
      </p:sp>
      <p:cxnSp>
        <p:nvCxnSpPr>
          <p:cNvPr id="28" name="Connector 27"/>
          <p:cNvCxnSpPr/>
          <p:nvPr/>
        </p:nvCxnSpPr>
        <p:spPr>
          <a:xfrm>
            <a:off x="685800" y="4910328"/>
            <a:ext cx="6766560" cy="0"/>
          </a:xfrm>
          <a:prstGeom prst="line">
            <a:avLst/>
          </a:prstGeom>
          <a:ln w="9525">
            <a:solidFill>
              <a:srgbClr val="E1E4E8"/>
            </a:solidFill>
          </a:ln>
        </p:spPr>
      </p:cxnSp>
      <p:sp>
        <p:nvSpPr>
          <p:cNvPr id="29" name="TextBox 28"/>
          <p:cNvSpPr txBox="1"/>
          <p:nvPr/>
        </p:nvSpPr>
        <p:spPr>
          <a:xfrm>
            <a:off x="685800" y="4910328"/>
            <a:ext cx="2743200" cy="512064"/>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Regular"/>
                <a:ea typeface="Public Sans Regular"/>
                <a:cs typeface="Public Sans Regular"/>
              </a:rPr>
              <a:t>Faculty-hours returned</a:t>
            </a:r>
          </a:p>
        </p:txBody>
      </p:sp>
      <p:sp>
        <p:nvSpPr>
          <p:cNvPr id="30" name="TextBox 29"/>
          <p:cNvSpPr txBox="1"/>
          <p:nvPr/>
        </p:nvSpPr>
        <p:spPr>
          <a:xfrm>
            <a:off x="3429000" y="4910328"/>
            <a:ext cx="1828800" cy="512064"/>
          </a:xfrm>
          <a:prstGeom prst="rect">
            <a:avLst/>
          </a:prstGeom>
          <a:noFill/>
        </p:spPr>
        <p:txBody>
          <a:bodyPr wrap="square" lIns="0" tIns="0" rIns="0" bIns="0" anchor="ctr"/>
          <a:lstStyle/>
          <a:p>
            <a:pPr algn="r">
              <a:lnSpc>
                <a:spcPct val="110000"/>
              </a:lnSpc>
              <a:spcAft>
                <a:spcPts val="0"/>
              </a:spcAft>
            </a:pPr>
            <a:r>
              <a:rPr sz="1800">
                <a:solidFill>
                  <a:srgbClr val="101418"/>
                </a:solidFill>
                <a:latin typeface="Public Sans Bold"/>
                <a:ea typeface="Public Sans Bold"/>
                <a:cs typeface="Public Sans Bold"/>
              </a:rPr>
              <a:t>~8,000</a:t>
            </a:r>
          </a:p>
        </p:txBody>
      </p:sp>
      <p:sp>
        <p:nvSpPr>
          <p:cNvPr id="31" name="TextBox 30"/>
          <p:cNvSpPr txBox="1"/>
          <p:nvPr/>
        </p:nvSpPr>
        <p:spPr>
          <a:xfrm>
            <a:off x="5440680" y="4910328"/>
            <a:ext cx="1828800" cy="512064"/>
          </a:xfrm>
          <a:prstGeom prst="rect">
            <a:avLst/>
          </a:prstGeom>
          <a:noFill/>
        </p:spPr>
        <p:txBody>
          <a:bodyPr wrap="square" lIns="0" tIns="0" rIns="0" bIns="0" anchor="ctr"/>
          <a:lstStyle/>
          <a:p>
            <a:pPr algn="r">
              <a:lnSpc>
                <a:spcPct val="110000"/>
              </a:lnSpc>
              <a:spcAft>
                <a:spcPts val="0"/>
              </a:spcAft>
            </a:pPr>
            <a:r>
              <a:rPr sz="1100">
                <a:solidFill>
                  <a:srgbClr val="6B7480"/>
                </a:solidFill>
                <a:latin typeface="Public Sans Regular"/>
                <a:ea typeface="Public Sans Regular"/>
                <a:cs typeface="Public Sans Regular"/>
              </a:rPr>
              <a:t>not estimated</a:t>
            </a:r>
          </a:p>
        </p:txBody>
      </p:sp>
      <p:cxnSp>
        <p:nvCxnSpPr>
          <p:cNvPr id="32" name="Connector 31"/>
          <p:cNvCxnSpPr/>
          <p:nvPr/>
        </p:nvCxnSpPr>
        <p:spPr>
          <a:xfrm>
            <a:off x="685800" y="5422392"/>
            <a:ext cx="6766560" cy="0"/>
          </a:xfrm>
          <a:prstGeom prst="line">
            <a:avLst/>
          </a:prstGeom>
          <a:ln w="9525">
            <a:solidFill>
              <a:srgbClr val="E1E4E8"/>
            </a:solidFill>
          </a:ln>
        </p:spPr>
      </p:cxnSp>
      <p:cxnSp>
        <p:nvCxnSpPr>
          <p:cNvPr id="33" name="Connector 32"/>
          <p:cNvCxnSpPr/>
          <p:nvPr/>
        </p:nvCxnSpPr>
        <p:spPr>
          <a:xfrm>
            <a:off x="7680960" y="1783080"/>
            <a:ext cx="0" cy="3639312"/>
          </a:xfrm>
          <a:prstGeom prst="line">
            <a:avLst/>
          </a:prstGeom>
          <a:ln w="9525">
            <a:solidFill>
              <a:srgbClr val="E1E4E8"/>
            </a:solidFill>
          </a:ln>
        </p:spPr>
      </p:cxnSp>
      <p:sp>
        <p:nvSpPr>
          <p:cNvPr id="34" name="TextBox 33"/>
          <p:cNvSpPr txBox="1"/>
          <p:nvPr/>
        </p:nvSpPr>
        <p:spPr>
          <a:xfrm>
            <a:off x="7955280" y="2029968"/>
            <a:ext cx="3550615"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UN Sustainable Development Goals</a:t>
            </a:r>
          </a:p>
        </p:txBody>
      </p:sp>
      <p:sp>
        <p:nvSpPr>
          <p:cNvPr id="35" name="TextBox 34"/>
          <p:cNvSpPr txBox="1"/>
          <p:nvPr/>
        </p:nvSpPr>
        <p:spPr>
          <a:xfrm>
            <a:off x="7955280" y="2441448"/>
            <a:ext cx="3550615" cy="256032"/>
          </a:xfrm>
          <a:prstGeom prst="rect">
            <a:avLst/>
          </a:prstGeom>
          <a:noFill/>
        </p:spPr>
        <p:txBody>
          <a:bodyPr wrap="square" lIns="0" tIns="0" rIns="0" bIns="0" anchor="t"/>
          <a:lstStyle/>
          <a:p>
            <a:pPr algn="l">
              <a:lnSpc>
                <a:spcPct val="110000"/>
              </a:lnSpc>
              <a:spcAft>
                <a:spcPts val="0"/>
              </a:spcAft>
            </a:pPr>
            <a:r>
              <a:rPr sz="1400">
                <a:solidFill>
                  <a:srgbClr val="1D4F91"/>
                </a:solidFill>
                <a:latin typeface="Public Sans SemiBold"/>
                <a:ea typeface="Public Sans SemiBold"/>
                <a:cs typeface="Public Sans SemiBold"/>
              </a:rPr>
              <a:t>SDG 4  </a:t>
            </a:r>
            <a:r>
              <a:rPr sz="1400">
                <a:solidFill>
                  <a:srgbClr val="101418"/>
                </a:solidFill>
                <a:latin typeface="Public Sans SemiBold"/>
                <a:ea typeface="Public Sans SemiBold"/>
                <a:cs typeface="Public Sans SemiBold"/>
              </a:rPr>
              <a:t>Quality Education</a:t>
            </a:r>
          </a:p>
        </p:txBody>
      </p:sp>
      <p:sp>
        <p:nvSpPr>
          <p:cNvPr id="36" name="TextBox 35"/>
          <p:cNvSpPr txBox="1"/>
          <p:nvPr/>
        </p:nvSpPr>
        <p:spPr>
          <a:xfrm>
            <a:off x="7955280" y="2670048"/>
            <a:ext cx="3550615" cy="22860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class time, not queue time</a:t>
            </a:r>
          </a:p>
        </p:txBody>
      </p:sp>
      <p:sp>
        <p:nvSpPr>
          <p:cNvPr id="37" name="TextBox 36"/>
          <p:cNvSpPr txBox="1"/>
          <p:nvPr/>
        </p:nvSpPr>
        <p:spPr>
          <a:xfrm>
            <a:off x="7955280" y="2953512"/>
            <a:ext cx="3550615" cy="256032"/>
          </a:xfrm>
          <a:prstGeom prst="rect">
            <a:avLst/>
          </a:prstGeom>
          <a:noFill/>
        </p:spPr>
        <p:txBody>
          <a:bodyPr wrap="square" lIns="0" tIns="0" rIns="0" bIns="0" anchor="t"/>
          <a:lstStyle/>
          <a:p>
            <a:pPr algn="l">
              <a:lnSpc>
                <a:spcPct val="110000"/>
              </a:lnSpc>
              <a:spcAft>
                <a:spcPts val="0"/>
              </a:spcAft>
            </a:pPr>
            <a:r>
              <a:rPr sz="1400">
                <a:solidFill>
                  <a:srgbClr val="1D4F91"/>
                </a:solidFill>
                <a:latin typeface="Public Sans SemiBold"/>
                <a:ea typeface="Public Sans SemiBold"/>
                <a:cs typeface="Public Sans SemiBold"/>
              </a:rPr>
              <a:t>SDG 9  </a:t>
            </a:r>
            <a:r>
              <a:rPr sz="1400">
                <a:solidFill>
                  <a:srgbClr val="101418"/>
                </a:solidFill>
                <a:latin typeface="Public Sans SemiBold"/>
                <a:ea typeface="Public Sans SemiBold"/>
                <a:cs typeface="Public Sans SemiBold"/>
              </a:rPr>
              <a:t>Industry and Infrastructure</a:t>
            </a:r>
          </a:p>
        </p:txBody>
      </p:sp>
      <p:sp>
        <p:nvSpPr>
          <p:cNvPr id="38" name="TextBox 37"/>
          <p:cNvSpPr txBox="1"/>
          <p:nvPr/>
        </p:nvSpPr>
        <p:spPr>
          <a:xfrm>
            <a:off x="7955280" y="3182112"/>
            <a:ext cx="3550615" cy="22860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shared digital rails</a:t>
            </a:r>
          </a:p>
        </p:txBody>
      </p:sp>
      <p:sp>
        <p:nvSpPr>
          <p:cNvPr id="39" name="TextBox 38"/>
          <p:cNvSpPr txBox="1"/>
          <p:nvPr/>
        </p:nvSpPr>
        <p:spPr>
          <a:xfrm>
            <a:off x="7955280" y="3465576"/>
            <a:ext cx="3550615" cy="256032"/>
          </a:xfrm>
          <a:prstGeom prst="rect">
            <a:avLst/>
          </a:prstGeom>
          <a:noFill/>
        </p:spPr>
        <p:txBody>
          <a:bodyPr wrap="square" lIns="0" tIns="0" rIns="0" bIns="0" anchor="t"/>
          <a:lstStyle/>
          <a:p>
            <a:pPr algn="l">
              <a:lnSpc>
                <a:spcPct val="110000"/>
              </a:lnSpc>
              <a:spcAft>
                <a:spcPts val="0"/>
              </a:spcAft>
            </a:pPr>
            <a:r>
              <a:rPr sz="1400">
                <a:solidFill>
                  <a:srgbClr val="1D4F91"/>
                </a:solidFill>
                <a:latin typeface="Public Sans SemiBold"/>
                <a:ea typeface="Public Sans SemiBold"/>
                <a:cs typeface="Public Sans SemiBold"/>
              </a:rPr>
              <a:t>SDG 12  </a:t>
            </a:r>
            <a:r>
              <a:rPr sz="1400">
                <a:solidFill>
                  <a:srgbClr val="101418"/>
                </a:solidFill>
                <a:latin typeface="Public Sans SemiBold"/>
                <a:ea typeface="Public Sans SemiBold"/>
                <a:cs typeface="Public Sans SemiBold"/>
              </a:rPr>
              <a:t>Responsible Consumption</a:t>
            </a:r>
          </a:p>
        </p:txBody>
      </p:sp>
      <p:sp>
        <p:nvSpPr>
          <p:cNvPr id="40" name="TextBox 39"/>
          <p:cNvSpPr txBox="1"/>
          <p:nvPr/>
        </p:nvSpPr>
        <p:spPr>
          <a:xfrm>
            <a:off x="7955280" y="3694176"/>
            <a:ext cx="3550615" cy="22860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single-use paper removed</a:t>
            </a:r>
          </a:p>
        </p:txBody>
      </p:sp>
      <p:sp>
        <p:nvSpPr>
          <p:cNvPr id="41" name="TextBox 40"/>
          <p:cNvSpPr txBox="1"/>
          <p:nvPr/>
        </p:nvSpPr>
        <p:spPr>
          <a:xfrm>
            <a:off x="7955280" y="3977640"/>
            <a:ext cx="3550615" cy="256032"/>
          </a:xfrm>
          <a:prstGeom prst="rect">
            <a:avLst/>
          </a:prstGeom>
          <a:noFill/>
        </p:spPr>
        <p:txBody>
          <a:bodyPr wrap="square" lIns="0" tIns="0" rIns="0" bIns="0" anchor="t"/>
          <a:lstStyle/>
          <a:p>
            <a:pPr algn="l">
              <a:lnSpc>
                <a:spcPct val="110000"/>
              </a:lnSpc>
              <a:spcAft>
                <a:spcPts val="0"/>
              </a:spcAft>
            </a:pPr>
            <a:r>
              <a:rPr sz="1400">
                <a:solidFill>
                  <a:srgbClr val="1D4F91"/>
                </a:solidFill>
                <a:latin typeface="Public Sans SemiBold"/>
                <a:ea typeface="Public Sans SemiBold"/>
                <a:cs typeface="Public Sans SemiBold"/>
              </a:rPr>
              <a:t>SDG 13  </a:t>
            </a:r>
            <a:r>
              <a:rPr sz="1400">
                <a:solidFill>
                  <a:srgbClr val="101418"/>
                </a:solidFill>
                <a:latin typeface="Public Sans SemiBold"/>
                <a:ea typeface="Public Sans SemiBold"/>
                <a:cs typeface="Public Sans SemiBold"/>
              </a:rPr>
              <a:t>Climate Action</a:t>
            </a:r>
          </a:p>
        </p:txBody>
      </p:sp>
      <p:sp>
        <p:nvSpPr>
          <p:cNvPr id="42" name="TextBox 41"/>
          <p:cNvSpPr txBox="1"/>
          <p:nvPr/>
        </p:nvSpPr>
        <p:spPr>
          <a:xfrm>
            <a:off x="7955280" y="4206240"/>
            <a:ext cx="3550615" cy="22860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live CO2-saved counter</a:t>
            </a:r>
          </a:p>
        </p:txBody>
      </p:sp>
      <p:sp>
        <p:nvSpPr>
          <p:cNvPr id="43" name="TextBox 42"/>
          <p:cNvSpPr txBox="1"/>
          <p:nvPr/>
        </p:nvSpPr>
        <p:spPr>
          <a:xfrm>
            <a:off x="7955280" y="4489704"/>
            <a:ext cx="3550615" cy="256032"/>
          </a:xfrm>
          <a:prstGeom prst="rect">
            <a:avLst/>
          </a:prstGeom>
          <a:noFill/>
        </p:spPr>
        <p:txBody>
          <a:bodyPr wrap="square" lIns="0" tIns="0" rIns="0" bIns="0" anchor="t"/>
          <a:lstStyle/>
          <a:p>
            <a:pPr algn="l">
              <a:lnSpc>
                <a:spcPct val="110000"/>
              </a:lnSpc>
              <a:spcAft>
                <a:spcPts val="0"/>
              </a:spcAft>
            </a:pPr>
            <a:r>
              <a:rPr sz="1400">
                <a:solidFill>
                  <a:srgbClr val="1D4F91"/>
                </a:solidFill>
                <a:latin typeface="Public Sans SemiBold"/>
                <a:ea typeface="Public Sans SemiBold"/>
                <a:cs typeface="Public Sans SemiBold"/>
              </a:rPr>
              <a:t>SDG 15  </a:t>
            </a:r>
            <a:r>
              <a:rPr sz="1400">
                <a:solidFill>
                  <a:srgbClr val="101418"/>
                </a:solidFill>
                <a:latin typeface="Public Sans SemiBold"/>
                <a:ea typeface="Public Sans SemiBold"/>
                <a:cs typeface="Public Sans SemiBold"/>
              </a:rPr>
              <a:t>Life on Land</a:t>
            </a:r>
          </a:p>
        </p:txBody>
      </p:sp>
      <p:sp>
        <p:nvSpPr>
          <p:cNvPr id="44" name="TextBox 43"/>
          <p:cNvSpPr txBox="1"/>
          <p:nvPr/>
        </p:nvSpPr>
        <p:spPr>
          <a:xfrm>
            <a:off x="7955280" y="4718304"/>
            <a:ext cx="3550615" cy="22860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trees not cut</a:t>
            </a:r>
          </a:p>
        </p:txBody>
      </p:sp>
      <p:sp>
        <p:nvSpPr>
          <p:cNvPr id="45" name="TextBox 44"/>
          <p:cNvSpPr txBox="1"/>
          <p:nvPr/>
        </p:nvSpPr>
        <p:spPr>
          <a:xfrm>
            <a:off x="7955280" y="5001768"/>
            <a:ext cx="3550615" cy="256032"/>
          </a:xfrm>
          <a:prstGeom prst="rect">
            <a:avLst/>
          </a:prstGeom>
          <a:noFill/>
        </p:spPr>
        <p:txBody>
          <a:bodyPr wrap="square" lIns="0" tIns="0" rIns="0" bIns="0" anchor="t"/>
          <a:lstStyle/>
          <a:p>
            <a:pPr algn="l">
              <a:lnSpc>
                <a:spcPct val="110000"/>
              </a:lnSpc>
              <a:spcAft>
                <a:spcPts val="0"/>
              </a:spcAft>
            </a:pPr>
            <a:r>
              <a:rPr sz="1400">
                <a:solidFill>
                  <a:srgbClr val="1D4F91"/>
                </a:solidFill>
                <a:latin typeface="Public Sans SemiBold"/>
                <a:ea typeface="Public Sans SemiBold"/>
                <a:cs typeface="Public Sans SemiBold"/>
              </a:rPr>
              <a:t>SDG 16  </a:t>
            </a:r>
            <a:r>
              <a:rPr sz="1400">
                <a:solidFill>
                  <a:srgbClr val="101418"/>
                </a:solidFill>
                <a:latin typeface="Public Sans SemiBold"/>
                <a:ea typeface="Public Sans SemiBold"/>
                <a:cs typeface="Public Sans SemiBold"/>
              </a:rPr>
              <a:t>Strong Institutions</a:t>
            </a:r>
          </a:p>
        </p:txBody>
      </p:sp>
      <p:sp>
        <p:nvSpPr>
          <p:cNvPr id="46" name="TextBox 45"/>
          <p:cNvSpPr txBox="1"/>
          <p:nvPr/>
        </p:nvSpPr>
        <p:spPr>
          <a:xfrm>
            <a:off x="7955280" y="5230368"/>
            <a:ext cx="3550615" cy="22860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every decision traceable</a:t>
            </a:r>
          </a:p>
        </p:txBody>
      </p:sp>
      <p:sp>
        <p:nvSpPr>
          <p:cNvPr id="47" name="ftr"/>
          <p:cNvSpPr txBox="1"/>
          <p:nvPr/>
        </p:nvSpPr>
        <p:spPr>
          <a:xfrm>
            <a:off x="685800" y="6400800"/>
            <a:ext cx="9722815" cy="274320"/>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SemiBold"/>
                <a:ea typeface="Public Sans SemiBold"/>
                <a:cs typeface="Public Sans SemiBold"/>
              </a:rPr>
              <a:t>Research references: </a:t>
            </a:r>
            <a:r>
              <a:rPr sz="900">
                <a:solidFill>
                  <a:srgbClr val="6B7480"/>
                </a:solidFill>
                <a:latin typeface="Public Sans Regular"/>
                <a:ea typeface="Public Sans Regular"/>
                <a:cs typeface="Public Sans Regular"/>
              </a:rPr>
              <a:t>Assumptions: 15 forms × 3 sheets per student; 45 min chasing per form; 2 signers, 2 min paper vs 20 s digital. Per sheet: 12.7 g CO2e, 1/8,333 tree (Environmental Paper Network calculator v3.2, via PaperCut).</a:t>
            </a:r>
          </a:p>
        </p:txBody>
      </p:sp>
      <p:sp>
        <p:nvSpPr>
          <p:cNvPr id="48" name="ftr"/>
          <p:cNvSpPr txBox="1"/>
          <p:nvPr/>
        </p:nvSpPr>
        <p:spPr>
          <a:xfrm>
            <a:off x="10591495" y="6400800"/>
            <a:ext cx="914400" cy="274320"/>
          </a:xfrm>
          <a:prstGeom prst="rect">
            <a:avLst/>
          </a:prstGeom>
          <a:noFill/>
        </p:spPr>
        <p:txBody>
          <a:bodyPr wrap="square" lIns="0" tIns="0" rIns="0" bIns="0" anchor="t"/>
          <a:lstStyle/>
          <a:p>
            <a:pPr algn="r">
              <a:lnSpc>
                <a:spcPct val="110000"/>
              </a:lnSpc>
              <a:spcAft>
                <a:spcPts val="0"/>
              </a:spcAft>
            </a:pPr>
            <a:r>
              <a:rPr sz="900">
                <a:solidFill>
                  <a:srgbClr val="6B7480"/>
                </a:solidFill>
                <a:latin typeface="Public Sans Regular"/>
                <a:ea typeface="Public Sans Regular"/>
                <a:cs typeface="Public Sans Regular"/>
              </a:rPr>
              <a:t>9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dr"/>
          <p:cNvSpPr txBox="1"/>
          <p:nvPr/>
        </p:nvSpPr>
        <p:spPr>
          <a:xfrm>
            <a:off x="685800" y="502920"/>
            <a:ext cx="10820095" cy="457200"/>
          </a:xfrm>
          <a:prstGeom prst="rect">
            <a:avLst/>
          </a:prstGeom>
          <a:noFill/>
        </p:spPr>
        <p:txBody>
          <a:bodyPr wrap="square" lIns="0" tIns="0" rIns="0" bIns="0" anchor="t"/>
          <a:lstStyle/>
          <a:p>
            <a:pPr algn="l">
              <a:lnSpc>
                <a:spcPct val="100000"/>
              </a:lnSpc>
              <a:spcAft>
                <a:spcPts val="0"/>
              </a:spcAft>
            </a:pPr>
            <a:r>
              <a:rPr sz="2800">
                <a:solidFill>
                  <a:srgbClr val="101418"/>
                </a:solidFill>
                <a:latin typeface="Public Sans Bold"/>
                <a:ea typeface="Public Sans Bold"/>
                <a:cs typeface="Public Sans Bold"/>
              </a:rPr>
              <a:t>Roadmap and Future Scope</a:t>
            </a:r>
          </a:p>
        </p:txBody>
      </p:sp>
      <p:sp>
        <p:nvSpPr>
          <p:cNvPr id="3" name="hdr"/>
          <p:cNvSpPr txBox="1"/>
          <p:nvPr/>
        </p:nvSpPr>
        <p:spPr>
          <a:xfrm>
            <a:off x="685800" y="987552"/>
            <a:ext cx="10820095" cy="320040"/>
          </a:xfrm>
          <a:prstGeom prst="rect">
            <a:avLst/>
          </a:prstGeom>
          <a:noFill/>
        </p:spPr>
        <p:txBody>
          <a:bodyPr wrap="square" lIns="0" tIns="0" rIns="0" bIns="0" anchor="t"/>
          <a:lstStyle/>
          <a:p>
            <a:pPr algn="l">
              <a:lnSpc>
                <a:spcPct val="110000"/>
              </a:lnSpc>
              <a:spcAft>
                <a:spcPts val="0"/>
              </a:spcAft>
            </a:pPr>
            <a:r>
              <a:rPr sz="1800">
                <a:solidFill>
                  <a:srgbClr val="5A6370"/>
                </a:solidFill>
                <a:latin typeface="Public Sans Regular"/>
                <a:ea typeface="Public Sans Regular"/>
                <a:cs typeface="Public Sans Regular"/>
              </a:rPr>
              <a:t>From one department to every institution that runs on signatures.</a:t>
            </a:r>
          </a:p>
        </p:txBody>
      </p:sp>
      <p:cxnSp>
        <p:nvCxnSpPr>
          <p:cNvPr id="4" name="Connector 3"/>
          <p:cNvCxnSpPr/>
          <p:nvPr/>
        </p:nvCxnSpPr>
        <p:spPr>
          <a:xfrm>
            <a:off x="822960" y="2194560"/>
            <a:ext cx="8305495" cy="0"/>
          </a:xfrm>
          <a:prstGeom prst="line">
            <a:avLst/>
          </a:prstGeom>
          <a:ln w="19050">
            <a:solidFill>
              <a:srgbClr val="E1E4E8"/>
            </a:solidFill>
          </a:ln>
        </p:spPr>
      </p:cxnSp>
      <p:sp>
        <p:nvSpPr>
          <p:cNvPr id="5" name="Oval 4"/>
          <p:cNvSpPr/>
          <p:nvPr/>
        </p:nvSpPr>
        <p:spPr>
          <a:xfrm>
            <a:off x="704088" y="2075688"/>
            <a:ext cx="237744" cy="237744"/>
          </a:xfrm>
          <a:prstGeom prst="ellipse">
            <a:avLst/>
          </a:prstGeom>
          <a:solidFill>
            <a:srgbClr val="1D4F91"/>
          </a:solidFill>
          <a:ln w="19050">
            <a:solidFill>
              <a:srgbClr val="1D4F91"/>
            </a:solidFill>
          </a:ln>
          <a:effectLst/>
        </p:spPr>
        <p:txBody>
          <a:bodyPr rtlCol="0" anchor="ctr"/>
          <a:lstStyle/>
          <a:p>
            <a:endParaRPr/>
          </a:p>
        </p:txBody>
      </p:sp>
      <p:sp>
        <p:nvSpPr>
          <p:cNvPr id="6" name="TextBox 5"/>
          <p:cNvSpPr txBox="1"/>
          <p:nvPr/>
        </p:nvSpPr>
        <p:spPr>
          <a:xfrm>
            <a:off x="704088" y="2423160"/>
            <a:ext cx="219456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MVP prototype</a:t>
            </a:r>
          </a:p>
        </p:txBody>
      </p:sp>
      <p:sp>
        <p:nvSpPr>
          <p:cNvPr id="7" name="TextBox 6"/>
          <p:cNvSpPr txBox="1"/>
          <p:nvPr/>
        </p:nvSpPr>
        <p:spPr>
          <a:xfrm>
            <a:off x="704088" y="2679192"/>
            <a:ext cx="2194560" cy="27432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Submit, route, sign, seal, verify</a:t>
            </a:r>
          </a:p>
        </p:txBody>
      </p:sp>
      <p:cxnSp>
        <p:nvCxnSpPr>
          <p:cNvPr id="8" name="Connector 7"/>
          <p:cNvCxnSpPr/>
          <p:nvPr/>
        </p:nvCxnSpPr>
        <p:spPr>
          <a:xfrm>
            <a:off x="2207209" y="2084832"/>
            <a:ext cx="0" cy="219456"/>
          </a:xfrm>
          <a:prstGeom prst="line">
            <a:avLst/>
          </a:prstGeom>
          <a:ln w="19050">
            <a:solidFill>
              <a:srgbClr val="101418"/>
            </a:solidFill>
          </a:ln>
        </p:spPr>
      </p:cxnSp>
      <p:sp>
        <p:nvSpPr>
          <p:cNvPr id="9" name="TextBox 8"/>
          <p:cNvSpPr txBox="1"/>
          <p:nvPr/>
        </p:nvSpPr>
        <p:spPr>
          <a:xfrm>
            <a:off x="1292809" y="1783080"/>
            <a:ext cx="1828800" cy="228600"/>
          </a:xfrm>
          <a:prstGeom prst="rect">
            <a:avLst/>
          </a:prstGeom>
          <a:noFill/>
        </p:spPr>
        <p:txBody>
          <a:bodyPr wrap="square" lIns="0" tIns="0" rIns="0" bIns="0" anchor="t"/>
          <a:lstStyle/>
          <a:p>
            <a:pPr algn="ctr">
              <a:lnSpc>
                <a:spcPct val="110000"/>
              </a:lnSpc>
              <a:spcAft>
                <a:spcPts val="0"/>
              </a:spcAft>
            </a:pPr>
            <a:r>
              <a:rPr sz="1100">
                <a:solidFill>
                  <a:srgbClr val="101418"/>
                </a:solidFill>
                <a:latin typeface="Public Sans Regular"/>
                <a:ea typeface="Public Sans Regular"/>
                <a:cs typeface="Public Sans Regular"/>
              </a:rPr>
              <a:t>Gate: Admin approves</a:t>
            </a:r>
          </a:p>
        </p:txBody>
      </p:sp>
      <p:sp>
        <p:nvSpPr>
          <p:cNvPr id="10" name="Oval 9"/>
          <p:cNvSpPr/>
          <p:nvPr/>
        </p:nvSpPr>
        <p:spPr>
          <a:xfrm>
            <a:off x="3472586" y="2075688"/>
            <a:ext cx="237744" cy="237744"/>
          </a:xfrm>
          <a:prstGeom prst="ellipse">
            <a:avLst/>
          </a:prstGeom>
          <a:solidFill>
            <a:srgbClr val="FFFFFF"/>
          </a:solidFill>
          <a:ln w="19050">
            <a:solidFill>
              <a:srgbClr val="1D4F91"/>
            </a:solidFill>
          </a:ln>
          <a:effectLst/>
        </p:spPr>
        <p:txBody>
          <a:bodyPr rtlCol="0" anchor="ctr"/>
          <a:lstStyle/>
          <a:p>
            <a:endParaRPr/>
          </a:p>
        </p:txBody>
      </p:sp>
      <p:sp>
        <p:nvSpPr>
          <p:cNvPr id="11" name="TextBox 10"/>
          <p:cNvSpPr txBox="1"/>
          <p:nvPr/>
        </p:nvSpPr>
        <p:spPr>
          <a:xfrm>
            <a:off x="3472586" y="2423160"/>
            <a:ext cx="219456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Department pilot</a:t>
            </a:r>
          </a:p>
        </p:txBody>
      </p:sp>
      <p:sp>
        <p:nvSpPr>
          <p:cNvPr id="12" name="TextBox 11"/>
          <p:cNvSpPr txBox="1"/>
          <p:nvPr/>
        </p:nvSpPr>
        <p:spPr>
          <a:xfrm>
            <a:off x="3472586" y="2679192"/>
            <a:ext cx="2194560" cy="27432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One department, one semester</a:t>
            </a:r>
          </a:p>
        </p:txBody>
      </p:sp>
      <p:cxnSp>
        <p:nvCxnSpPr>
          <p:cNvPr id="13" name="Connector 12"/>
          <p:cNvCxnSpPr/>
          <p:nvPr/>
        </p:nvCxnSpPr>
        <p:spPr>
          <a:xfrm>
            <a:off x="4975707" y="2084832"/>
            <a:ext cx="0" cy="219456"/>
          </a:xfrm>
          <a:prstGeom prst="line">
            <a:avLst/>
          </a:prstGeom>
          <a:ln w="19050">
            <a:solidFill>
              <a:srgbClr val="101418"/>
            </a:solidFill>
          </a:ln>
        </p:spPr>
      </p:cxnSp>
      <p:sp>
        <p:nvSpPr>
          <p:cNvPr id="14" name="TextBox 13"/>
          <p:cNvSpPr txBox="1"/>
          <p:nvPr/>
        </p:nvSpPr>
        <p:spPr>
          <a:xfrm>
            <a:off x="4061307" y="1783080"/>
            <a:ext cx="1828800" cy="228600"/>
          </a:xfrm>
          <a:prstGeom prst="rect">
            <a:avLst/>
          </a:prstGeom>
          <a:noFill/>
        </p:spPr>
        <p:txBody>
          <a:bodyPr wrap="square" lIns="0" tIns="0" rIns="0" bIns="0" anchor="t"/>
          <a:lstStyle/>
          <a:p>
            <a:pPr algn="ctr">
              <a:lnSpc>
                <a:spcPct val="110000"/>
              </a:lnSpc>
              <a:spcAft>
                <a:spcPts val="0"/>
              </a:spcAft>
            </a:pPr>
            <a:r>
              <a:rPr sz="1100">
                <a:solidFill>
                  <a:srgbClr val="101418"/>
                </a:solidFill>
                <a:latin typeface="Public Sans Regular"/>
                <a:ea typeface="Public Sans Regular"/>
                <a:cs typeface="Public Sans Regular"/>
              </a:rPr>
              <a:t>Gate: Turnaround halved</a:t>
            </a:r>
          </a:p>
        </p:txBody>
      </p:sp>
      <p:sp>
        <p:nvSpPr>
          <p:cNvPr id="15" name="Oval 14"/>
          <p:cNvSpPr/>
          <p:nvPr/>
        </p:nvSpPr>
        <p:spPr>
          <a:xfrm>
            <a:off x="6241084" y="2075688"/>
            <a:ext cx="237744" cy="237744"/>
          </a:xfrm>
          <a:prstGeom prst="ellipse">
            <a:avLst/>
          </a:prstGeom>
          <a:solidFill>
            <a:srgbClr val="FFFFFF"/>
          </a:solidFill>
          <a:ln w="19050">
            <a:solidFill>
              <a:srgbClr val="1D4F91"/>
            </a:solidFill>
          </a:ln>
          <a:effectLst/>
        </p:spPr>
        <p:txBody>
          <a:bodyPr rtlCol="0" anchor="ctr"/>
          <a:lstStyle/>
          <a:p>
            <a:endParaRPr/>
          </a:p>
        </p:txBody>
      </p:sp>
      <p:sp>
        <p:nvSpPr>
          <p:cNvPr id="16" name="TextBox 15"/>
          <p:cNvSpPr txBox="1"/>
          <p:nvPr/>
        </p:nvSpPr>
        <p:spPr>
          <a:xfrm>
            <a:off x="6241084" y="2423160"/>
            <a:ext cx="219456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University rollout</a:t>
            </a:r>
          </a:p>
        </p:txBody>
      </p:sp>
      <p:sp>
        <p:nvSpPr>
          <p:cNvPr id="17" name="TextBox 16"/>
          <p:cNvSpPr txBox="1"/>
          <p:nvPr/>
        </p:nvSpPr>
        <p:spPr>
          <a:xfrm>
            <a:off x="6241084" y="2679192"/>
            <a:ext cx="2194560" cy="27432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Aadhaar eSign and DigiLocker</a:t>
            </a:r>
          </a:p>
        </p:txBody>
      </p:sp>
      <p:cxnSp>
        <p:nvCxnSpPr>
          <p:cNvPr id="18" name="Connector 17"/>
          <p:cNvCxnSpPr/>
          <p:nvPr/>
        </p:nvCxnSpPr>
        <p:spPr>
          <a:xfrm>
            <a:off x="7744206" y="2084832"/>
            <a:ext cx="0" cy="219456"/>
          </a:xfrm>
          <a:prstGeom prst="line">
            <a:avLst/>
          </a:prstGeom>
          <a:ln w="19050">
            <a:solidFill>
              <a:srgbClr val="101418"/>
            </a:solidFill>
          </a:ln>
        </p:spPr>
      </p:cxnSp>
      <p:sp>
        <p:nvSpPr>
          <p:cNvPr id="19" name="TextBox 18"/>
          <p:cNvSpPr txBox="1"/>
          <p:nvPr/>
        </p:nvSpPr>
        <p:spPr>
          <a:xfrm>
            <a:off x="6829806" y="1783080"/>
            <a:ext cx="1828800" cy="228600"/>
          </a:xfrm>
          <a:prstGeom prst="rect">
            <a:avLst/>
          </a:prstGeom>
          <a:noFill/>
        </p:spPr>
        <p:txBody>
          <a:bodyPr wrap="square" lIns="0" tIns="0" rIns="0" bIns="0" anchor="t"/>
          <a:lstStyle/>
          <a:p>
            <a:pPr algn="ctr">
              <a:lnSpc>
                <a:spcPct val="110000"/>
              </a:lnSpc>
              <a:spcAft>
                <a:spcPts val="0"/>
              </a:spcAft>
            </a:pPr>
            <a:r>
              <a:rPr sz="1100">
                <a:solidFill>
                  <a:srgbClr val="101418"/>
                </a:solidFill>
                <a:latin typeface="Public Sans Regular"/>
                <a:ea typeface="Public Sans Regular"/>
                <a:cs typeface="Public Sans Regular"/>
              </a:rPr>
              <a:t>Gate: 3 partner colleges</a:t>
            </a:r>
          </a:p>
        </p:txBody>
      </p:sp>
      <p:sp>
        <p:nvSpPr>
          <p:cNvPr id="20" name="Oval 19"/>
          <p:cNvSpPr/>
          <p:nvPr/>
        </p:nvSpPr>
        <p:spPr>
          <a:xfrm>
            <a:off x="9009583" y="2075688"/>
            <a:ext cx="237744" cy="237744"/>
          </a:xfrm>
          <a:prstGeom prst="ellipse">
            <a:avLst/>
          </a:prstGeom>
          <a:solidFill>
            <a:srgbClr val="FFFFFF"/>
          </a:solidFill>
          <a:ln w="19050">
            <a:solidFill>
              <a:srgbClr val="1D4F91"/>
            </a:solidFill>
          </a:ln>
          <a:effectLst/>
        </p:spPr>
        <p:txBody>
          <a:bodyPr rtlCol="0" anchor="ctr"/>
          <a:lstStyle/>
          <a:p>
            <a:endParaRPr/>
          </a:p>
        </p:txBody>
      </p:sp>
      <p:sp>
        <p:nvSpPr>
          <p:cNvPr id="21" name="TextBox 20"/>
          <p:cNvSpPr txBox="1"/>
          <p:nvPr/>
        </p:nvSpPr>
        <p:spPr>
          <a:xfrm>
            <a:off x="9009583" y="2423160"/>
            <a:ext cx="2194560" cy="274320"/>
          </a:xfrm>
          <a:prstGeom prst="rect">
            <a:avLst/>
          </a:prstGeom>
          <a:noFill/>
        </p:spPr>
        <p:txBody>
          <a:bodyPr wrap="square" lIns="0" tIns="0" rIns="0" bIns="0" anchor="t"/>
          <a:lstStyle/>
          <a:p>
            <a:pPr algn="l">
              <a:lnSpc>
                <a:spcPct val="110000"/>
              </a:lnSpc>
              <a:spcAft>
                <a:spcPts val="0"/>
              </a:spcAft>
            </a:pPr>
            <a:r>
              <a:rPr sz="1400">
                <a:solidFill>
                  <a:srgbClr val="101418"/>
                </a:solidFill>
                <a:latin typeface="Public Sans SemiBold"/>
                <a:ea typeface="Public Sans SemiBold"/>
                <a:cs typeface="Public Sans SemiBold"/>
              </a:rPr>
              <a:t>College network</a:t>
            </a:r>
          </a:p>
        </p:txBody>
      </p:sp>
      <p:sp>
        <p:nvSpPr>
          <p:cNvPr id="22" name="TextBox 21"/>
          <p:cNvSpPr txBox="1"/>
          <p:nvPr/>
        </p:nvSpPr>
        <p:spPr>
          <a:xfrm>
            <a:off x="9009583" y="2679192"/>
            <a:ext cx="2194560" cy="274320"/>
          </a:xfrm>
          <a:prstGeom prst="rect">
            <a:avLst/>
          </a:prstGeom>
          <a:noFill/>
        </p:spPr>
        <p:txBody>
          <a:bodyPr wrap="square" lIns="0" tIns="0" rIns="0" bIns="0" anchor="t"/>
          <a:lstStyle/>
          <a:p>
            <a:pPr algn="l">
              <a:lnSpc>
                <a:spcPct val="110000"/>
              </a:lnSpc>
              <a:spcAft>
                <a:spcPts val="0"/>
              </a:spcAft>
            </a:pPr>
            <a:r>
              <a:rPr sz="1100">
                <a:solidFill>
                  <a:srgbClr val="5A6370"/>
                </a:solidFill>
                <a:latin typeface="Public Sans Regular"/>
                <a:ea typeface="Public Sans Regular"/>
                <a:cs typeface="Public Sans Regular"/>
              </a:rPr>
              <a:t>Partner colleges as chain nodes</a:t>
            </a:r>
          </a:p>
        </p:txBody>
      </p:sp>
      <p:cxnSp>
        <p:nvCxnSpPr>
          <p:cNvPr id="23" name="Connector 22"/>
          <p:cNvCxnSpPr/>
          <p:nvPr/>
        </p:nvCxnSpPr>
        <p:spPr>
          <a:xfrm>
            <a:off x="685800" y="3291840"/>
            <a:ext cx="10820095" cy="0"/>
          </a:xfrm>
          <a:prstGeom prst="line">
            <a:avLst/>
          </a:prstGeom>
          <a:ln w="9525">
            <a:solidFill>
              <a:srgbClr val="E1E4E8"/>
            </a:solidFill>
          </a:ln>
        </p:spPr>
      </p:cxnSp>
      <p:sp>
        <p:nvSpPr>
          <p:cNvPr id="24" name="TextBox 23"/>
          <p:cNvSpPr txBox="1"/>
          <p:nvPr/>
        </p:nvSpPr>
        <p:spPr>
          <a:xfrm>
            <a:off x="685800" y="3429000"/>
            <a:ext cx="5943600" cy="256032"/>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SemiBold"/>
                <a:ea typeface="Public Sans SemiBold"/>
                <a:cs typeface="Public Sans SemiBold"/>
              </a:rPr>
              <a:t>Same engine beyond education: roles, a sign-off chain and proof</a:t>
            </a:r>
          </a:p>
        </p:txBody>
      </p:sp>
      <p:sp>
        <p:nvSpPr>
          <p:cNvPr id="25" name="TextBox 24"/>
          <p:cNvSpPr txBox="1"/>
          <p:nvPr/>
        </p:nvSpPr>
        <p:spPr>
          <a:xfrm>
            <a:off x="685800" y="3840480"/>
            <a:ext cx="2834640" cy="365760"/>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SemiBold"/>
                <a:ea typeface="Public Sans SemiBold"/>
                <a:cs typeface="Public Sans SemiBold"/>
              </a:rPr>
              <a:t>Government offices</a:t>
            </a:r>
          </a:p>
        </p:txBody>
      </p:sp>
      <p:cxnSp>
        <p:nvCxnSpPr>
          <p:cNvPr id="26" name="Connector 25"/>
          <p:cNvCxnSpPr/>
          <p:nvPr/>
        </p:nvCxnSpPr>
        <p:spPr>
          <a:xfrm>
            <a:off x="685800" y="4251960"/>
            <a:ext cx="2743200" cy="0"/>
          </a:xfrm>
          <a:prstGeom prst="line">
            <a:avLst/>
          </a:prstGeom>
          <a:ln w="9525">
            <a:solidFill>
              <a:srgbClr val="E1E4E8"/>
            </a:solidFill>
          </a:ln>
        </p:spPr>
      </p:cxnSp>
      <p:sp>
        <p:nvSpPr>
          <p:cNvPr id="27" name="TextBox 26"/>
          <p:cNvSpPr txBox="1"/>
          <p:nvPr/>
        </p:nvSpPr>
        <p:spPr>
          <a:xfrm>
            <a:off x="3703320" y="3840480"/>
            <a:ext cx="2834640" cy="365760"/>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SemiBold"/>
                <a:ea typeface="Public Sans SemiBold"/>
                <a:cs typeface="Public Sans SemiBold"/>
              </a:rPr>
              <a:t>Hospitals</a:t>
            </a:r>
          </a:p>
        </p:txBody>
      </p:sp>
      <p:cxnSp>
        <p:nvCxnSpPr>
          <p:cNvPr id="28" name="Connector 27"/>
          <p:cNvCxnSpPr/>
          <p:nvPr/>
        </p:nvCxnSpPr>
        <p:spPr>
          <a:xfrm>
            <a:off x="3703320" y="4251960"/>
            <a:ext cx="2743200" cy="0"/>
          </a:xfrm>
          <a:prstGeom prst="line">
            <a:avLst/>
          </a:prstGeom>
          <a:ln w="9525">
            <a:solidFill>
              <a:srgbClr val="E1E4E8"/>
            </a:solidFill>
          </a:ln>
        </p:spPr>
      </p:cxnSp>
      <p:sp>
        <p:nvSpPr>
          <p:cNvPr id="29" name="TextBox 28"/>
          <p:cNvSpPr txBox="1"/>
          <p:nvPr/>
        </p:nvSpPr>
        <p:spPr>
          <a:xfrm>
            <a:off x="685800" y="4297680"/>
            <a:ext cx="2834640" cy="365760"/>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SemiBold"/>
                <a:ea typeface="Public Sans SemiBold"/>
                <a:cs typeface="Public Sans SemiBold"/>
              </a:rPr>
              <a:t>Banks and NBFCs</a:t>
            </a:r>
          </a:p>
        </p:txBody>
      </p:sp>
      <p:cxnSp>
        <p:nvCxnSpPr>
          <p:cNvPr id="30" name="Connector 29"/>
          <p:cNvCxnSpPr/>
          <p:nvPr/>
        </p:nvCxnSpPr>
        <p:spPr>
          <a:xfrm>
            <a:off x="685800" y="4709160"/>
            <a:ext cx="2743200" cy="0"/>
          </a:xfrm>
          <a:prstGeom prst="line">
            <a:avLst/>
          </a:prstGeom>
          <a:ln w="9525">
            <a:solidFill>
              <a:srgbClr val="E1E4E8"/>
            </a:solidFill>
          </a:ln>
        </p:spPr>
      </p:cxnSp>
      <p:sp>
        <p:nvSpPr>
          <p:cNvPr id="31" name="TextBox 30"/>
          <p:cNvSpPr txBox="1"/>
          <p:nvPr/>
        </p:nvSpPr>
        <p:spPr>
          <a:xfrm>
            <a:off x="3703320" y="4297680"/>
            <a:ext cx="2834640" cy="365760"/>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SemiBold"/>
                <a:ea typeface="Public Sans SemiBold"/>
                <a:cs typeface="Public Sans SemiBold"/>
              </a:rPr>
              <a:t>Corporates</a:t>
            </a:r>
          </a:p>
        </p:txBody>
      </p:sp>
      <p:cxnSp>
        <p:nvCxnSpPr>
          <p:cNvPr id="32" name="Connector 31"/>
          <p:cNvCxnSpPr/>
          <p:nvPr/>
        </p:nvCxnSpPr>
        <p:spPr>
          <a:xfrm>
            <a:off x="3703320" y="4709160"/>
            <a:ext cx="2743200" cy="0"/>
          </a:xfrm>
          <a:prstGeom prst="line">
            <a:avLst/>
          </a:prstGeom>
          <a:ln w="9525">
            <a:solidFill>
              <a:srgbClr val="E1E4E8"/>
            </a:solidFill>
          </a:ln>
        </p:spPr>
      </p:cxnSp>
      <p:sp>
        <p:nvSpPr>
          <p:cNvPr id="33" name="TextBox 32"/>
          <p:cNvSpPr txBox="1"/>
          <p:nvPr/>
        </p:nvSpPr>
        <p:spPr>
          <a:xfrm>
            <a:off x="685800" y="4754880"/>
            <a:ext cx="2834640" cy="365760"/>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SemiBold"/>
                <a:ea typeface="Public Sans SemiBold"/>
                <a:cs typeface="Public Sans SemiBold"/>
              </a:rPr>
              <a:t>Municipal and land</a:t>
            </a:r>
          </a:p>
        </p:txBody>
      </p:sp>
      <p:cxnSp>
        <p:nvCxnSpPr>
          <p:cNvPr id="34" name="Connector 33"/>
          <p:cNvCxnSpPr/>
          <p:nvPr/>
        </p:nvCxnSpPr>
        <p:spPr>
          <a:xfrm>
            <a:off x="685800" y="5166360"/>
            <a:ext cx="2743200" cy="0"/>
          </a:xfrm>
          <a:prstGeom prst="line">
            <a:avLst/>
          </a:prstGeom>
          <a:ln w="9525">
            <a:solidFill>
              <a:srgbClr val="E1E4E8"/>
            </a:solidFill>
          </a:ln>
        </p:spPr>
      </p:cxnSp>
      <p:sp>
        <p:nvSpPr>
          <p:cNvPr id="35" name="TextBox 34"/>
          <p:cNvSpPr txBox="1"/>
          <p:nvPr/>
        </p:nvSpPr>
        <p:spPr>
          <a:xfrm>
            <a:off x="3703320" y="4754880"/>
            <a:ext cx="2834640" cy="365760"/>
          </a:xfrm>
          <a:prstGeom prst="rect">
            <a:avLst/>
          </a:prstGeom>
          <a:noFill/>
        </p:spPr>
        <p:txBody>
          <a:bodyPr wrap="square" lIns="0" tIns="0" rIns="0" bIns="0" anchor="ctr"/>
          <a:lstStyle/>
          <a:p>
            <a:pPr algn="l">
              <a:lnSpc>
                <a:spcPct val="110000"/>
              </a:lnSpc>
              <a:spcAft>
                <a:spcPts val="0"/>
              </a:spcAft>
            </a:pPr>
            <a:r>
              <a:rPr sz="1400">
                <a:solidFill>
                  <a:srgbClr val="101418"/>
                </a:solidFill>
                <a:latin typeface="Public Sans SemiBold"/>
                <a:ea typeface="Public Sans SemiBold"/>
                <a:cs typeface="Public Sans SemiBold"/>
              </a:rPr>
              <a:t>Schools and boards</a:t>
            </a:r>
          </a:p>
        </p:txBody>
      </p:sp>
      <p:cxnSp>
        <p:nvCxnSpPr>
          <p:cNvPr id="36" name="Connector 35"/>
          <p:cNvCxnSpPr/>
          <p:nvPr/>
        </p:nvCxnSpPr>
        <p:spPr>
          <a:xfrm>
            <a:off x="3703320" y="5166360"/>
            <a:ext cx="2743200" cy="0"/>
          </a:xfrm>
          <a:prstGeom prst="line">
            <a:avLst/>
          </a:prstGeom>
          <a:ln w="9525">
            <a:solidFill>
              <a:srgbClr val="E1E4E8"/>
            </a:solidFill>
          </a:ln>
        </p:spPr>
      </p:cxnSp>
      <p:cxnSp>
        <p:nvCxnSpPr>
          <p:cNvPr id="37" name="Connector 36"/>
          <p:cNvCxnSpPr/>
          <p:nvPr/>
        </p:nvCxnSpPr>
        <p:spPr>
          <a:xfrm>
            <a:off x="7040880" y="3474719"/>
            <a:ext cx="0" cy="2286001"/>
          </a:xfrm>
          <a:prstGeom prst="line">
            <a:avLst/>
          </a:prstGeom>
          <a:ln w="9525">
            <a:solidFill>
              <a:srgbClr val="E1E4E8"/>
            </a:solidFill>
          </a:ln>
        </p:spPr>
      </p:cxnSp>
      <p:sp>
        <p:nvSpPr>
          <p:cNvPr id="38" name="TextBox 37"/>
          <p:cNvSpPr txBox="1"/>
          <p:nvPr/>
        </p:nvSpPr>
        <p:spPr>
          <a:xfrm>
            <a:off x="7315200" y="3429000"/>
            <a:ext cx="4206240" cy="365760"/>
          </a:xfrm>
          <a:prstGeom prst="rect">
            <a:avLst/>
          </a:prstGeom>
          <a:noFill/>
        </p:spPr>
        <p:txBody>
          <a:bodyPr wrap="square" lIns="0" tIns="0" rIns="0" bIns="0" anchor="t"/>
          <a:lstStyle/>
          <a:p>
            <a:pPr algn="l">
              <a:lnSpc>
                <a:spcPct val="110000"/>
              </a:lnSpc>
              <a:spcAft>
                <a:spcPts val="0"/>
              </a:spcAft>
            </a:pPr>
            <a:r>
              <a:rPr sz="1800">
                <a:solidFill>
                  <a:srgbClr val="1D4F91"/>
                </a:solidFill>
                <a:latin typeface="Public Sans Bold"/>
                <a:ea typeface="Public Sans Bold"/>
                <a:cs typeface="Public Sans Bold"/>
              </a:rPr>
              <a:t>₹50</a:t>
            </a:r>
          </a:p>
        </p:txBody>
      </p:sp>
      <p:sp>
        <p:nvSpPr>
          <p:cNvPr id="39" name="TextBox 38"/>
          <p:cNvSpPr txBox="1"/>
          <p:nvPr/>
        </p:nvSpPr>
        <p:spPr>
          <a:xfrm>
            <a:off x="7315200" y="3776471"/>
            <a:ext cx="4206240" cy="36576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per student a year: about what a campus spends printing these forms (est.)</a:t>
            </a:r>
          </a:p>
        </p:txBody>
      </p:sp>
      <p:sp>
        <p:nvSpPr>
          <p:cNvPr id="40" name="TextBox 39"/>
          <p:cNvSpPr txBox="1"/>
          <p:nvPr/>
        </p:nvSpPr>
        <p:spPr>
          <a:xfrm>
            <a:off x="7315200" y="4297680"/>
            <a:ext cx="4206240" cy="365760"/>
          </a:xfrm>
          <a:prstGeom prst="rect">
            <a:avLst/>
          </a:prstGeom>
          <a:noFill/>
        </p:spPr>
        <p:txBody>
          <a:bodyPr wrap="square" lIns="0" tIns="0" rIns="0" bIns="0" anchor="t"/>
          <a:lstStyle/>
          <a:p>
            <a:pPr algn="l">
              <a:lnSpc>
                <a:spcPct val="110000"/>
              </a:lnSpc>
              <a:spcAft>
                <a:spcPts val="0"/>
              </a:spcAft>
            </a:pPr>
            <a:r>
              <a:rPr sz="1800">
                <a:solidFill>
                  <a:srgbClr val="1D4F91"/>
                </a:solidFill>
                <a:latin typeface="Public Sans Bold"/>
                <a:ea typeface="Public Sans Bold"/>
                <a:cs typeface="Public Sans Bold"/>
              </a:rPr>
              <a:t>NAAC 6.2.3</a:t>
            </a:r>
          </a:p>
        </p:txBody>
      </p:sp>
      <p:sp>
        <p:nvSpPr>
          <p:cNvPr id="41" name="TextBox 40"/>
          <p:cNvSpPr txBox="1"/>
          <p:nvPr/>
        </p:nvSpPr>
        <p:spPr>
          <a:xfrm>
            <a:off x="7315200" y="4645152"/>
            <a:ext cx="4206240" cy="36576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accreditation already counts e-governance in administration</a:t>
            </a:r>
          </a:p>
        </p:txBody>
      </p:sp>
      <p:sp>
        <p:nvSpPr>
          <p:cNvPr id="42" name="TextBox 41"/>
          <p:cNvSpPr txBox="1"/>
          <p:nvPr/>
        </p:nvSpPr>
        <p:spPr>
          <a:xfrm>
            <a:off x="7315200" y="5166359"/>
            <a:ext cx="4206240" cy="365760"/>
          </a:xfrm>
          <a:prstGeom prst="rect">
            <a:avLst/>
          </a:prstGeom>
          <a:noFill/>
        </p:spPr>
        <p:txBody>
          <a:bodyPr wrap="square" lIns="0" tIns="0" rIns="0" bIns="0" anchor="t"/>
          <a:lstStyle/>
          <a:p>
            <a:pPr algn="l">
              <a:lnSpc>
                <a:spcPct val="110000"/>
              </a:lnSpc>
              <a:spcAft>
                <a:spcPts val="0"/>
              </a:spcAft>
            </a:pPr>
            <a:r>
              <a:rPr sz="1800">
                <a:solidFill>
                  <a:srgbClr val="1D4F91"/>
                </a:solidFill>
                <a:latin typeface="Public Sans Bold"/>
                <a:ea typeface="Public Sans Bold"/>
                <a:cs typeface="Public Sans Bold"/>
              </a:rPr>
              <a:t>19.21 lakh</a:t>
            </a:r>
          </a:p>
        </p:txBody>
      </p:sp>
      <p:sp>
        <p:nvSpPr>
          <p:cNvPr id="43" name="TextBox 42"/>
          <p:cNvSpPr txBox="1"/>
          <p:nvPr/>
        </p:nvSpPr>
        <p:spPr>
          <a:xfrm>
            <a:off x="7315200" y="5513831"/>
            <a:ext cx="4206240" cy="365760"/>
          </a:xfrm>
          <a:prstGeom prst="rect">
            <a:avLst/>
          </a:prstGeom>
          <a:noFill/>
        </p:spPr>
        <p:txBody>
          <a:bodyPr wrap="square" lIns="0" tIns="0" rIns="0" bIns="0" anchor="t"/>
          <a:lstStyle/>
          <a:p>
            <a:pPr algn="l">
              <a:lnSpc>
                <a:spcPct val="110000"/>
              </a:lnSpc>
              <a:spcAft>
                <a:spcPts val="0"/>
              </a:spcAft>
            </a:pPr>
            <a:r>
              <a:rPr sz="1200">
                <a:solidFill>
                  <a:srgbClr val="5A6370"/>
                </a:solidFill>
                <a:latin typeface="Public Sans Regular"/>
                <a:ea typeface="Public Sans Regular"/>
                <a:cs typeface="Public Sans Regular"/>
              </a:rPr>
              <a:t>government files weeded out in one month (Special Campaign 5.0)</a:t>
            </a:r>
          </a:p>
        </p:txBody>
      </p:sp>
      <p:sp>
        <p:nvSpPr>
          <p:cNvPr id="44" name="ftr"/>
          <p:cNvSpPr txBox="1"/>
          <p:nvPr/>
        </p:nvSpPr>
        <p:spPr>
          <a:xfrm>
            <a:off x="685800" y="6400800"/>
            <a:ext cx="9722815" cy="274320"/>
          </a:xfrm>
          <a:prstGeom prst="rect">
            <a:avLst/>
          </a:prstGeom>
          <a:noFill/>
        </p:spPr>
        <p:txBody>
          <a:bodyPr wrap="square" lIns="0" tIns="0" rIns="0" bIns="0" anchor="t"/>
          <a:lstStyle/>
          <a:p>
            <a:pPr algn="l">
              <a:lnSpc>
                <a:spcPct val="110000"/>
              </a:lnSpc>
              <a:spcAft>
                <a:spcPts val="0"/>
              </a:spcAft>
            </a:pPr>
            <a:r>
              <a:rPr sz="900">
                <a:solidFill>
                  <a:srgbClr val="5A6370"/>
                </a:solidFill>
                <a:latin typeface="Public Sans SemiBold"/>
                <a:ea typeface="Public Sans SemiBold"/>
                <a:cs typeface="Public Sans SemiBold"/>
              </a:rPr>
              <a:t>Research references: </a:t>
            </a:r>
            <a:r>
              <a:rPr sz="900">
                <a:solidFill>
                  <a:srgbClr val="6B7480"/>
                </a:solidFill>
                <a:latin typeface="Public Sans Regular"/>
                <a:ea typeface="Public Sans Regular"/>
                <a:cs typeface="Public Sans Regular"/>
              </a:rPr>
              <a:t>Est.: 4.5 lakh sheets at ₹1-2 a page = ₹4.5-9 lakh vs ₹5 lakh at ₹50 × 10,000 students. NAAC metric 6.2.3. Special Campaign 5.0: PIB, Oct 2025.</a:t>
            </a:r>
          </a:p>
        </p:txBody>
      </p:sp>
      <p:sp>
        <p:nvSpPr>
          <p:cNvPr id="45" name="ftr"/>
          <p:cNvSpPr txBox="1"/>
          <p:nvPr/>
        </p:nvSpPr>
        <p:spPr>
          <a:xfrm>
            <a:off x="10591495" y="6400800"/>
            <a:ext cx="914400" cy="274320"/>
          </a:xfrm>
          <a:prstGeom prst="rect">
            <a:avLst/>
          </a:prstGeom>
          <a:noFill/>
        </p:spPr>
        <p:txBody>
          <a:bodyPr wrap="square" lIns="0" tIns="0" rIns="0" bIns="0" anchor="t"/>
          <a:lstStyle/>
          <a:p>
            <a:pPr algn="r">
              <a:lnSpc>
                <a:spcPct val="110000"/>
              </a:lnSpc>
              <a:spcAft>
                <a:spcPts val="0"/>
              </a:spcAft>
            </a:pPr>
            <a:r>
              <a:rPr sz="900">
                <a:solidFill>
                  <a:srgbClr val="6B7480"/>
                </a:solidFill>
                <a:latin typeface="Public Sans Regular"/>
                <a:ea typeface="Public Sans Regular"/>
                <a:cs typeface="Public Sans Regular"/>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2558</Words>
  <Application>Microsoft Office PowerPoint</Application>
  <PresentationFormat>Widescreen</PresentationFormat>
  <Paragraphs>323</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Public Sans SemiBold</vt:lpstr>
      <vt:lpstr>Public Sans Regular</vt:lpstr>
      <vt:lpstr>Public Sans Bold</vt:lpstr>
      <vt:lpstr>Calibri</vt:lpstr>
      <vt:lpstr>IBM Plex Mono Regular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Siddhesh Chaudhari</cp:lastModifiedBy>
  <cp:revision>2</cp:revision>
  <dcterms:created xsi:type="dcterms:W3CDTF">2013-01-27T09:14:16Z</dcterms:created>
  <dcterms:modified xsi:type="dcterms:W3CDTF">2026-10-20T11:34:59Z</dcterms:modified>
  <cp:category/>
</cp:coreProperties>
</file>